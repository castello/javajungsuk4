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728" r:id="rId2"/>
    <p:sldId id="730" r:id="rId3"/>
    <p:sldId id="731" r:id="rId4"/>
    <p:sldId id="732" r:id="rId5"/>
    <p:sldId id="733" r:id="rId6"/>
    <p:sldId id="735" r:id="rId7"/>
    <p:sldId id="736" r:id="rId8"/>
    <p:sldId id="737" r:id="rId9"/>
    <p:sldId id="738" r:id="rId10"/>
    <p:sldId id="739" r:id="rId11"/>
    <p:sldId id="740" r:id="rId12"/>
    <p:sldId id="746" r:id="rId13"/>
    <p:sldId id="741" r:id="rId14"/>
    <p:sldId id="742" r:id="rId15"/>
    <p:sldId id="743" r:id="rId16"/>
    <p:sldId id="753" r:id="rId17"/>
    <p:sldId id="754" r:id="rId18"/>
    <p:sldId id="755" r:id="rId19"/>
    <p:sldId id="756" r:id="rId20"/>
    <p:sldId id="757" r:id="rId21"/>
    <p:sldId id="758" r:id="rId22"/>
    <p:sldId id="747" r:id="rId23"/>
    <p:sldId id="748" r:id="rId24"/>
    <p:sldId id="759" r:id="rId25"/>
    <p:sldId id="760" r:id="rId26"/>
    <p:sldId id="761" r:id="rId27"/>
    <p:sldId id="762" r:id="rId28"/>
    <p:sldId id="763" r:id="rId29"/>
    <p:sldId id="764" r:id="rId30"/>
    <p:sldId id="765" r:id="rId31"/>
    <p:sldId id="766" r:id="rId32"/>
    <p:sldId id="767" r:id="rId33"/>
    <p:sldId id="749" r:id="rId34"/>
    <p:sldId id="750" r:id="rId35"/>
    <p:sldId id="768" r:id="rId36"/>
    <p:sldId id="769" r:id="rId37"/>
    <p:sldId id="770" r:id="rId38"/>
    <p:sldId id="771" r:id="rId39"/>
    <p:sldId id="772" r:id="rId40"/>
    <p:sldId id="777" r:id="rId41"/>
    <p:sldId id="778" r:id="rId42"/>
    <p:sldId id="779" r:id="rId43"/>
    <p:sldId id="773" r:id="rId44"/>
    <p:sldId id="774" r:id="rId45"/>
    <p:sldId id="775" r:id="rId46"/>
    <p:sldId id="780" r:id="rId47"/>
    <p:sldId id="781" r:id="rId4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C70A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47"/>
    <p:restoredTop sz="94967"/>
  </p:normalViewPr>
  <p:slideViewPr>
    <p:cSldViewPr snapToGrid="0">
      <p:cViewPr>
        <p:scale>
          <a:sx n="73" d="100"/>
          <a:sy n="73" d="100"/>
        </p:scale>
        <p:origin x="184" y="1816"/>
      </p:cViewPr>
      <p:guideLst/>
    </p:cSldViewPr>
  </p:slideViewPr>
  <p:outlineViewPr>
    <p:cViewPr>
      <p:scale>
        <a:sx n="85" d="100"/>
        <a:sy n="8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04494-2906-6C41-B680-7B9C9D655A0F}" type="datetimeFigureOut">
              <a:rPr lang="en-KR" smtClean="0"/>
              <a:t>1/3/26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D4200-F41A-AB42-BA11-5F5CB7E75B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302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0809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5805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0663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32295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8712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29277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6750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35418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2512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69888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6469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06444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13979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3628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90334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4341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698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76460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19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13642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92119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5382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282774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13008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2238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886673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943493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187142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63827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00392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10457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06853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389197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208210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61777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179287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356282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90854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60100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39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91270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200570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250130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004007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659880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66453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649279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61899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D4200-F41A-AB42-BA11-5F5CB7E75B86}" type="slidenum">
              <a:rPr lang="en-KR" smtClean="0"/>
              <a:t>47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2096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22CCED-5265-722D-A681-F636C30EDEF9}"/>
              </a:ext>
            </a:extLst>
          </p:cNvPr>
          <p:cNvCxnSpPr/>
          <p:nvPr userDrawn="1"/>
        </p:nvCxnSpPr>
        <p:spPr>
          <a:xfrm>
            <a:off x="244549" y="563526"/>
            <a:ext cx="106504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140282-1517-6333-5830-FC7D8AD2DCCC}"/>
              </a:ext>
            </a:extLst>
          </p:cNvPr>
          <p:cNvSpPr txBox="1"/>
          <p:nvPr userDrawn="1"/>
        </p:nvSpPr>
        <p:spPr>
          <a:xfrm>
            <a:off x="935989" y="231242"/>
            <a:ext cx="174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 </a:t>
            </a:r>
            <a:r>
              <a:rPr lang="ko-KR" altLang="en-US" b="0" i="0" dirty="0">
                <a:solidFill>
                  <a:schemeClr val="bg1">
                    <a:lumMod val="50000"/>
                  </a:schemeClr>
                </a:solidFill>
                <a:latin typeface=""/>
                <a:ea typeface="Dotum" panose="020B0600000101010101" pitchFamily="34" charset="-127"/>
                <a:cs typeface="Arima Madurai" pitchFamily="2" charset="77"/>
              </a:rPr>
              <a:t>정석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rgbClr val="C70A07"/>
                </a:solidFill>
                <a:latin typeface="+mj-ea"/>
                <a:ea typeface="+mj-ea"/>
              </a:rPr>
              <a:t>4</a:t>
            </a:r>
            <a:r>
              <a:rPr lang="ko-KR" altLang="en-US" dirty="0">
                <a:solidFill>
                  <a:srgbClr val="C70A07"/>
                </a:solidFill>
                <a:latin typeface="+mj-ea"/>
                <a:ea typeface="+mj-ea"/>
              </a:rPr>
              <a:t>판</a:t>
            </a:r>
            <a:endParaRPr lang="en-KR" dirty="0">
              <a:solidFill>
                <a:srgbClr val="C70A07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C0DBC-9E58-F161-CAA9-83C03FAC7173}"/>
              </a:ext>
            </a:extLst>
          </p:cNvPr>
          <p:cNvSpPr txBox="1"/>
          <p:nvPr userDrawn="1"/>
        </p:nvSpPr>
        <p:spPr>
          <a:xfrm>
            <a:off x="2033582" y="223564"/>
            <a:ext cx="118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JDK 21</a:t>
            </a:r>
            <a:endParaRPr lang="en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E4DAE-CD36-EC0F-0B70-8C24D1404FD5}"/>
              </a:ext>
            </a:extLst>
          </p:cNvPr>
          <p:cNvSpPr txBox="1"/>
          <p:nvPr userDrawn="1"/>
        </p:nvSpPr>
        <p:spPr>
          <a:xfrm>
            <a:off x="367744" y="164489"/>
            <a:ext cx="825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</a:rPr>
              <a:t>Java</a:t>
            </a:r>
            <a:endParaRPr lang="en-K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3DA473-A76A-E9B2-75C6-46C8949840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2472" y="162205"/>
            <a:ext cx="793538" cy="122566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FDC0B1B-1EC5-D593-E41E-4AFA36CA3985}"/>
              </a:ext>
            </a:extLst>
          </p:cNvPr>
          <p:cNvSpPr/>
          <p:nvPr userDrawn="1"/>
        </p:nvSpPr>
        <p:spPr>
          <a:xfrm>
            <a:off x="248985" y="258052"/>
            <a:ext cx="65164" cy="30547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highlight>
                <a:srgbClr val="FF00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88F0FA-C210-1E19-6208-831B7422A8DF}"/>
              </a:ext>
            </a:extLst>
          </p:cNvPr>
          <p:cNvSpPr txBox="1"/>
          <p:nvPr userDrawn="1"/>
        </p:nvSpPr>
        <p:spPr>
          <a:xfrm>
            <a:off x="892045" y="282666"/>
            <a:ext cx="381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의</a:t>
            </a:r>
            <a:endParaRPr lang="en-KR" sz="1400" dirty="0">
              <a:solidFill>
                <a:srgbClr val="C70A07"/>
              </a:solidFill>
              <a:latin typeface="+mj-ea"/>
              <a:ea typeface="+mj-ea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16383C-ECF3-EEBB-BF9C-6B8779EDDD73}"/>
              </a:ext>
            </a:extLst>
          </p:cNvPr>
          <p:cNvCxnSpPr/>
          <p:nvPr userDrawn="1"/>
        </p:nvCxnSpPr>
        <p:spPr>
          <a:xfrm>
            <a:off x="1128843" y="6523331"/>
            <a:ext cx="112373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159AAF9-7345-73EC-1DAE-73EEEA3A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7895" y="6310366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68F7B-8F27-5FB4-532B-4A1DE5F6DB4E}"/>
              </a:ext>
            </a:extLst>
          </p:cNvPr>
          <p:cNvSpPr txBox="1"/>
          <p:nvPr userDrawn="1"/>
        </p:nvSpPr>
        <p:spPr>
          <a:xfrm>
            <a:off x="188070" y="647796"/>
            <a:ext cx="484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</a:t>
            </a:r>
            <a:r>
              <a:rPr lang="en-US" altLang="ko-KR" b="1" dirty="0"/>
              <a:t>14</a:t>
            </a:r>
            <a:r>
              <a:rPr lang="en-US" b="1" dirty="0"/>
              <a:t>_ </a:t>
            </a:r>
            <a:r>
              <a:rPr lang="ko-KR" altLang="en-US" b="1" dirty="0"/>
              <a:t>람다와 스트림</a:t>
            </a:r>
            <a:endParaRPr lang="en-US" altLang="ko-KR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62E17F-DD7B-B597-982F-C09F1051A094}"/>
              </a:ext>
            </a:extLst>
          </p:cNvPr>
          <p:cNvSpPr/>
          <p:nvPr userDrawn="1"/>
        </p:nvSpPr>
        <p:spPr>
          <a:xfrm rot="5400000">
            <a:off x="10545044" y="267488"/>
            <a:ext cx="45719" cy="635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highlight>
                <a:srgbClr val="FF0000"/>
              </a:highligh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E626B5-51E3-A20B-0D65-6176DA587589}"/>
              </a:ext>
            </a:extLst>
          </p:cNvPr>
          <p:cNvSpPr/>
          <p:nvPr userDrawn="1"/>
        </p:nvSpPr>
        <p:spPr>
          <a:xfrm rot="5400000">
            <a:off x="10651403" y="4986552"/>
            <a:ext cx="45719" cy="30354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highlight>
                <a:srgbClr val="FF00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1BD78D-BAD5-00A7-FA92-47604A296988}"/>
              </a:ext>
            </a:extLst>
          </p:cNvPr>
          <p:cNvSpPr txBox="1"/>
          <p:nvPr userDrawn="1"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115407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80FA-2D96-8342-49CF-B1A18496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76BE-FBAF-0A83-A42A-6751BC7F1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7C3B7-368B-180D-CBD0-FC79D913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ADD4C-4C57-6544-B1A1-5DC453852C74}" type="datetime1">
              <a:rPr lang="en-US" smtClean="0"/>
              <a:t>1/3/26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65913-ABFD-2B5C-01CD-DF2A4B58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76B29-4FE6-7A4A-EB9D-DD893EFB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606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534D-DB59-405D-CEA6-FFEC5208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885F-D159-9406-8B7A-00CEC67E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CC6C-9127-F2BB-3E7A-5DA2C96B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9F0-9D3D-4142-8329-EC539740EB43}" type="datetime1">
              <a:rPr lang="en-US" smtClean="0"/>
              <a:t>1/3/26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AB0C8-2FD0-9F9A-04EB-147E7F94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DEC8D-37B8-5BE8-C7A2-04E5FC80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2366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1245-3ABF-EA53-24C4-E4563E4B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24AAF-91D3-31BA-678F-C78952134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DEBE3-5D4C-0D08-0B69-48D5B5F61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1BE27-5539-0AB4-AF4D-210E8747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C7DE0-954F-044B-8A91-814FB805DC53}" type="datetime1">
              <a:rPr lang="en-US" smtClean="0"/>
              <a:t>1/3/26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2217B-A3B0-481A-C58F-F125AB9B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E8FB7-B068-F911-A5FE-6AB0422F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7759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80B5-6BE9-4210-802D-BEEEB524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E466C-4591-77D1-6006-64B96F275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FF48D-9535-4680-D53B-EF924654F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D0EC2-31D5-248A-6721-033B7B565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A6DEA-DF7D-C43A-1AE1-2E5FAAB1C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51089-0ADE-EA9D-5692-F8FF0A1B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56009-DBED-514E-8FBF-F1365F35E094}" type="datetime1">
              <a:rPr lang="en-US" smtClean="0"/>
              <a:t>1/3/26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2ED8B-E9B1-40BB-3C72-F85B7C8A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623C6-3997-959A-FEE0-07C05D7A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918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CF53-C69C-B6BE-C644-81792A50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C63A0-7BB3-9D97-DB3E-8DFD8167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6AA34-212C-2140-BE1B-628A25176F47}" type="datetime1">
              <a:rPr lang="en-US" smtClean="0"/>
              <a:t>1/3/26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8663E-17F6-0B7F-BB0E-6796C859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B01B6-108E-9163-3E81-FEC5CDA7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6860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54562-621D-229F-DB6F-4646C8BC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108F-52BD-D148-9012-45980D8AF0AC}" type="datetime1">
              <a:rPr lang="en-US" smtClean="0"/>
              <a:t>1/3/26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2CAAC-9D31-3F4D-4AA6-941AD6D2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8B4C5-8818-D772-0DDD-BE80A7FF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7110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8FD4-AD0A-E140-C1EC-C1A807A5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CBAFF-EF3F-B5A7-5153-16120496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9153E-DE4F-7EC9-B951-E0E94221B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483AE-8A78-81F6-2453-B867BC30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A52AD-7FCB-8F4D-9265-BECBE2CDEE82}" type="datetime1">
              <a:rPr lang="en-US" smtClean="0"/>
              <a:t>1/3/26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6D4F2-B650-F58A-04AD-101818C5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C158E-6874-955C-58F0-DA89ED16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9464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680-50D0-5630-C25C-F4D30036F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1976F-14B3-009D-86C9-4706BE53B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4A338-8589-0EE0-DF11-14D72D60E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0F637-BEDB-54F2-B143-6FFF0932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2D42E-CCCB-B440-A59A-50C2F693F526}" type="datetime1">
              <a:rPr lang="en-US" smtClean="0"/>
              <a:t>1/3/26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387C0-2BFB-81C9-E4D0-90FDC9E2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D6CBD-0218-E477-FD4E-368ED50E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7671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8750-A96B-4979-F2E2-2B9EF221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2E7B8-DEAD-9A76-ED47-573BADB14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1C2D-D79D-EF16-C98F-BEAE15D5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1A86-509A-ED4B-9C15-F061B7FD9121}" type="datetime1">
              <a:rPr lang="en-US" smtClean="0"/>
              <a:t>1/3/26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90856-297B-3AB9-727D-ABAEB15D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D603-83D6-54FE-72A2-2DC5B249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066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BDA45-02DB-BE37-9DE8-2AB60A8EC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281C3-6ED7-8246-5E06-97E93406B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2999-3433-EC88-C2C7-2686BDBA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7A3E-CD8D-8C45-BBA0-063435AB1133}" type="datetime1">
              <a:rPr lang="en-US" smtClean="0"/>
              <a:t>1/3/26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617FD-F7DA-B383-7F7F-6F80F8E6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CDAC-B093-AE08-87D1-0C97FAE9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1882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6EE24-BF10-6341-0C37-A3FAA862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B44CA-E13F-FAA6-1353-E9B0E8A2F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BDCB-A7F6-DDD5-8685-75AD76A45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9F974-D50D-DE44-95F2-945A4B9B276B}" type="datetime1">
              <a:rPr lang="en-US" smtClean="0"/>
              <a:t>1/3/26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B941C-45B5-CC30-6038-4386EC5FE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978A-D7EE-6ABC-1554-1E19B8305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EB2DD-9AA8-E647-97CE-C0333DAA199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541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/>
              <a:t>람다식</a:t>
            </a:r>
            <a:r>
              <a:rPr lang="en-US" altLang="ko-KR" sz="3200" b="1" dirty="0"/>
              <a:t>(Lambda Expression)</a:t>
            </a:r>
            <a:r>
              <a:rPr lang="ko-KR" altLang="en-US" sz="3200" b="1" dirty="0"/>
              <a:t>이란</a:t>
            </a:r>
            <a:r>
              <a:rPr lang="en-US" altLang="ko-KR" sz="3200" b="1" dirty="0"/>
              <a:t>?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582B1-04E6-90BF-C4C2-5858DE1D4C30}"/>
              </a:ext>
            </a:extLst>
          </p:cNvPr>
          <p:cNvSpPr txBox="1"/>
          <p:nvPr/>
        </p:nvSpPr>
        <p:spPr>
          <a:xfrm>
            <a:off x="738211" y="1875464"/>
            <a:ext cx="1036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/>
            <a:r>
              <a:rPr lang="ko-KR" altLang="en-US" sz="2400" b="1" dirty="0"/>
              <a:t>함수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메서드</a:t>
            </a:r>
            <a:r>
              <a:rPr lang="en-US" altLang="ko-KR" sz="2400" b="1" dirty="0"/>
              <a:t>)</a:t>
            </a:r>
            <a:r>
              <a:rPr lang="ko-KR" altLang="en-US" sz="2400" b="1" dirty="0" err="1"/>
              <a:t>를</a:t>
            </a:r>
            <a:r>
              <a:rPr lang="ko-KR" altLang="en-US" sz="2400" b="1" dirty="0"/>
              <a:t> 간단한 </a:t>
            </a:r>
            <a:r>
              <a:rPr lang="en-US" altLang="ko-KR" sz="2400" b="1" dirty="0"/>
              <a:t>‘</a:t>
            </a:r>
            <a:r>
              <a:rPr lang="ko-KR" altLang="en-US" sz="2400" b="1" dirty="0"/>
              <a:t>식</a:t>
            </a:r>
            <a:r>
              <a:rPr lang="en-US" altLang="ko-KR" sz="2400" b="1" dirty="0"/>
              <a:t>(Expression)’</a:t>
            </a:r>
            <a:r>
              <a:rPr lang="ko-KR" altLang="en-US" sz="2400" b="1" dirty="0" err="1"/>
              <a:t>으로</a:t>
            </a:r>
            <a:r>
              <a:rPr lang="ko-KR" altLang="en-US" sz="2400" b="1" dirty="0"/>
              <a:t> 표현하는 방법</a:t>
            </a:r>
            <a:endParaRPr lang="en-US" altLang="ko-KR" sz="2400" b="1" dirty="0"/>
          </a:p>
        </p:txBody>
      </p:sp>
      <p:grpSp>
        <p:nvGrpSpPr>
          <p:cNvPr id="31" name="그룹 46">
            <a:extLst>
              <a:ext uri="{FF2B5EF4-FFF2-40B4-BE49-F238E27FC236}">
                <a16:creationId xmlns:a16="http://schemas.microsoft.com/office/drawing/2014/main" id="{845E73B0-0A8C-1309-2583-F6490E2B47F4}"/>
              </a:ext>
            </a:extLst>
          </p:cNvPr>
          <p:cNvGrpSpPr/>
          <p:nvPr/>
        </p:nvGrpSpPr>
        <p:grpSpPr>
          <a:xfrm>
            <a:off x="1025660" y="2437264"/>
            <a:ext cx="3432222" cy="1241442"/>
            <a:chOff x="559454" y="3355974"/>
            <a:chExt cx="3797352" cy="1460520"/>
          </a:xfrm>
        </p:grpSpPr>
        <p:sp>
          <p:nvSpPr>
            <p:cNvPr id="32" name="모서리가 둥근 직사각형 30">
              <a:extLst>
                <a:ext uri="{FF2B5EF4-FFF2-40B4-BE49-F238E27FC236}">
                  <a16:creationId xmlns:a16="http://schemas.microsoft.com/office/drawing/2014/main" id="{E3176E2E-40BC-4D11-65B9-DE03F42BBFA2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3" name="직사각형 27">
              <a:extLst>
                <a:ext uri="{FF2B5EF4-FFF2-40B4-BE49-F238E27FC236}">
                  <a16:creationId xmlns:a16="http://schemas.microsoft.com/office/drawing/2014/main" id="{5876829E-596F-4CF8-E8EA-D5FAE397F4C2}"/>
                </a:ext>
              </a:extLst>
            </p:cNvPr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34" name="그룹 57">
            <a:extLst>
              <a:ext uri="{FF2B5EF4-FFF2-40B4-BE49-F238E27FC236}">
                <a16:creationId xmlns:a16="http://schemas.microsoft.com/office/drawing/2014/main" id="{2C7F354E-92CD-2C7D-59F0-ECAEE64930D4}"/>
              </a:ext>
            </a:extLst>
          </p:cNvPr>
          <p:cNvGrpSpPr/>
          <p:nvPr/>
        </p:nvGrpSpPr>
        <p:grpSpPr>
          <a:xfrm>
            <a:off x="4348343" y="2583315"/>
            <a:ext cx="4345047" cy="912825"/>
            <a:chOff x="4206870" y="2479662"/>
            <a:chExt cx="4345047" cy="912825"/>
          </a:xfrm>
        </p:grpSpPr>
        <p:sp>
          <p:nvSpPr>
            <p:cNvPr id="35" name="모서리가 둥근 직사각형 33">
              <a:extLst>
                <a:ext uri="{FF2B5EF4-FFF2-40B4-BE49-F238E27FC236}">
                  <a16:creationId xmlns:a16="http://schemas.microsoft.com/office/drawing/2014/main" id="{2978708E-EB65-2F8C-EFDB-1074572BA000}"/>
                </a:ext>
              </a:extLst>
            </p:cNvPr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6" name="직사각형 34">
              <a:extLst>
                <a:ext uri="{FF2B5EF4-FFF2-40B4-BE49-F238E27FC236}">
                  <a16:creationId xmlns:a16="http://schemas.microsoft.com/office/drawing/2014/main" id="{74146BB4-B3C6-6F8F-0BDF-67D7D459C984}"/>
                </a:ext>
              </a:extLst>
            </p:cNvPr>
            <p:cNvSpPr/>
            <p:nvPr/>
          </p:nvSpPr>
          <p:spPr>
            <a:xfrm>
              <a:off x="4937130" y="2771766"/>
              <a:ext cx="36147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(a, b) -&gt; a &gt; b ? a : b</a:t>
              </a:r>
            </a:p>
          </p:txBody>
        </p:sp>
        <p:sp>
          <p:nvSpPr>
            <p:cNvPr id="37" name="자유형 55">
              <a:extLst>
                <a:ext uri="{FF2B5EF4-FFF2-40B4-BE49-F238E27FC236}">
                  <a16:creationId xmlns:a16="http://schemas.microsoft.com/office/drawing/2014/main" id="{056566B0-1690-1064-7B74-CEE11A137F9C}"/>
                </a:ext>
              </a:extLst>
            </p:cNvPr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2A61948-08E5-AEE7-118C-0BC9DC98468B}"/>
              </a:ext>
            </a:extLst>
          </p:cNvPr>
          <p:cNvSpPr txBox="1"/>
          <p:nvPr/>
        </p:nvSpPr>
        <p:spPr>
          <a:xfrm>
            <a:off x="800964" y="4035962"/>
            <a:ext cx="1036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/>
            <a:r>
              <a:rPr lang="ko-KR" altLang="en-US" sz="2400" b="1" dirty="0"/>
              <a:t>익명 함수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이름이 없는 함수</a:t>
            </a:r>
            <a:r>
              <a:rPr lang="en-US" altLang="ko-KR" sz="2400" b="1" dirty="0"/>
              <a:t>, anonymous function)</a:t>
            </a:r>
          </a:p>
        </p:txBody>
      </p:sp>
      <p:grpSp>
        <p:nvGrpSpPr>
          <p:cNvPr id="101" name="그룹 61">
            <a:extLst>
              <a:ext uri="{FF2B5EF4-FFF2-40B4-BE49-F238E27FC236}">
                <a16:creationId xmlns:a16="http://schemas.microsoft.com/office/drawing/2014/main" id="{FCEBE7EF-211C-03BB-B26D-2677CBBF13BE}"/>
              </a:ext>
            </a:extLst>
          </p:cNvPr>
          <p:cNvGrpSpPr/>
          <p:nvPr/>
        </p:nvGrpSpPr>
        <p:grpSpPr>
          <a:xfrm>
            <a:off x="1079448" y="4569021"/>
            <a:ext cx="3432222" cy="1241442"/>
            <a:chOff x="559454" y="3355974"/>
            <a:chExt cx="3797352" cy="1460520"/>
          </a:xfrm>
        </p:grpSpPr>
        <p:sp>
          <p:nvSpPr>
            <p:cNvPr id="102" name="모서리가 둥근 직사각형 62">
              <a:extLst>
                <a:ext uri="{FF2B5EF4-FFF2-40B4-BE49-F238E27FC236}">
                  <a16:creationId xmlns:a16="http://schemas.microsoft.com/office/drawing/2014/main" id="{7E706F4D-032C-4881-C915-C19105B061AA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03" name="직사각형 63">
              <a:extLst>
                <a:ext uri="{FF2B5EF4-FFF2-40B4-BE49-F238E27FC236}">
                  <a16:creationId xmlns:a16="http://schemas.microsoft.com/office/drawing/2014/main" id="{448F6B23-C515-14C6-463C-BC9DC4E9FDDC}"/>
                </a:ext>
              </a:extLst>
            </p:cNvPr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104" name="그룹 56">
            <a:extLst>
              <a:ext uri="{FF2B5EF4-FFF2-40B4-BE49-F238E27FC236}">
                <a16:creationId xmlns:a16="http://schemas.microsoft.com/office/drawing/2014/main" id="{6CC72C5A-68D6-C4E4-2DAF-C93E1AA03203}"/>
              </a:ext>
            </a:extLst>
          </p:cNvPr>
          <p:cNvGrpSpPr/>
          <p:nvPr/>
        </p:nvGrpSpPr>
        <p:grpSpPr>
          <a:xfrm>
            <a:off x="4365618" y="4495995"/>
            <a:ext cx="4272021" cy="1314468"/>
            <a:chOff x="4170357" y="4451364"/>
            <a:chExt cx="4272021" cy="1460520"/>
          </a:xfrm>
        </p:grpSpPr>
        <p:sp>
          <p:nvSpPr>
            <p:cNvPr id="105" name="모서리가 둥근 직사각형 52">
              <a:extLst>
                <a:ext uri="{FF2B5EF4-FFF2-40B4-BE49-F238E27FC236}">
                  <a16:creationId xmlns:a16="http://schemas.microsoft.com/office/drawing/2014/main" id="{33591B8A-2366-AAD8-3384-9017101E54D3}"/>
                </a:ext>
              </a:extLst>
            </p:cNvPr>
            <p:cNvSpPr/>
            <p:nvPr/>
          </p:nvSpPr>
          <p:spPr bwMode="auto">
            <a:xfrm>
              <a:off x="4608513" y="445136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06" name="직사각형 53">
              <a:extLst>
                <a:ext uri="{FF2B5EF4-FFF2-40B4-BE49-F238E27FC236}">
                  <a16:creationId xmlns:a16="http://schemas.microsoft.com/office/drawing/2014/main" id="{E8645A0D-C159-CCFC-3498-AE0BA8665E02}"/>
                </a:ext>
              </a:extLst>
            </p:cNvPr>
            <p:cNvSpPr/>
            <p:nvPr/>
          </p:nvSpPr>
          <p:spPr>
            <a:xfrm>
              <a:off x="4827591" y="4597416"/>
              <a:ext cx="3614787" cy="11969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sng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sng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  <p:sp>
          <p:nvSpPr>
            <p:cNvPr id="107" name="자유형 54">
              <a:extLst>
                <a:ext uri="{FF2B5EF4-FFF2-40B4-BE49-F238E27FC236}">
                  <a16:creationId xmlns:a16="http://schemas.microsoft.com/office/drawing/2014/main" id="{EB97960A-1D00-C3CA-2360-294696DA8A34}"/>
                </a:ext>
              </a:extLst>
            </p:cNvPr>
            <p:cNvSpPr/>
            <p:nvPr/>
          </p:nvSpPr>
          <p:spPr bwMode="auto">
            <a:xfrm flipV="1">
              <a:off x="4170357" y="5035572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109" name="Text Box 20">
            <a:extLst>
              <a:ext uri="{FF2B5EF4-FFF2-40B4-BE49-F238E27FC236}">
                <a16:creationId xmlns:a16="http://schemas.microsoft.com/office/drawing/2014/main" id="{F37A1F25-C7B7-CC95-5CC2-1C2F87D0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827" y="604038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[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참고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]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함수는 클래스에 독립적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메서드는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클래스에 종속적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562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/>
              <a:t>람다식</a:t>
            </a:r>
            <a:r>
              <a:rPr lang="ko-KR" altLang="en-US" sz="3200" b="1" dirty="0"/>
              <a:t> 작성하기</a:t>
            </a:r>
            <a:endParaRPr lang="en-US" sz="3200" b="1" dirty="0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E71FB9D6-373C-5F5E-0285-5733A9CEA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068" y="1796759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fontAlgn="base" latinLnBrk="1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메서드의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이름과 반환타입을 제거하고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‘-&gt;’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블록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{}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앞에 추가한다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B4C25D4D-1C1E-0F51-552D-88FCEB777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298" y="3658922"/>
            <a:ext cx="9055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2.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반환값이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있는 경우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식이나 값만 적고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return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문 생략 가능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끝에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‘;’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안 붙임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4" name="그룹 61">
            <a:extLst>
              <a:ext uri="{FF2B5EF4-FFF2-40B4-BE49-F238E27FC236}">
                <a16:creationId xmlns:a16="http://schemas.microsoft.com/office/drawing/2014/main" id="{95B29E7E-EFFB-6EAA-7DCD-28E3958B05D2}"/>
              </a:ext>
            </a:extLst>
          </p:cNvPr>
          <p:cNvGrpSpPr/>
          <p:nvPr/>
        </p:nvGrpSpPr>
        <p:grpSpPr>
          <a:xfrm>
            <a:off x="1253110" y="2234915"/>
            <a:ext cx="3432222" cy="1241442"/>
            <a:chOff x="559454" y="3355974"/>
            <a:chExt cx="3797352" cy="1460520"/>
          </a:xfrm>
        </p:grpSpPr>
        <p:sp>
          <p:nvSpPr>
            <p:cNvPr id="25" name="모서리가 둥근 직사각형 62">
              <a:extLst>
                <a:ext uri="{FF2B5EF4-FFF2-40B4-BE49-F238E27FC236}">
                  <a16:creationId xmlns:a16="http://schemas.microsoft.com/office/drawing/2014/main" id="{4E3C7B9E-A213-F0B2-6684-F9C216A1D459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6" name="직사각형 63">
              <a:extLst>
                <a:ext uri="{FF2B5EF4-FFF2-40B4-BE49-F238E27FC236}">
                  <a16:creationId xmlns:a16="http://schemas.microsoft.com/office/drawing/2014/main" id="{CC487AAC-2641-AA82-23B3-38E8B7F2C6E4}"/>
                </a:ext>
              </a:extLst>
            </p:cNvPr>
            <p:cNvSpPr/>
            <p:nvPr/>
          </p:nvSpPr>
          <p:spPr>
            <a:xfrm>
              <a:off x="628596" y="3502026"/>
              <a:ext cx="361478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27" name="그룹 40">
            <a:extLst>
              <a:ext uri="{FF2B5EF4-FFF2-40B4-BE49-F238E27FC236}">
                <a16:creationId xmlns:a16="http://schemas.microsoft.com/office/drawing/2014/main" id="{5A890C30-59A4-421D-3841-892EF25322BC}"/>
              </a:ext>
            </a:extLst>
          </p:cNvPr>
          <p:cNvGrpSpPr/>
          <p:nvPr/>
        </p:nvGrpSpPr>
        <p:grpSpPr>
          <a:xfrm>
            <a:off x="4539280" y="2196725"/>
            <a:ext cx="4272021" cy="1314468"/>
            <a:chOff x="4060818" y="2041506"/>
            <a:chExt cx="4272021" cy="1314468"/>
          </a:xfrm>
        </p:grpSpPr>
        <p:sp>
          <p:nvSpPr>
            <p:cNvPr id="28" name="모서리가 둥근 직사각형 52">
              <a:extLst>
                <a:ext uri="{FF2B5EF4-FFF2-40B4-BE49-F238E27FC236}">
                  <a16:creationId xmlns:a16="http://schemas.microsoft.com/office/drawing/2014/main" id="{D22F5DD8-E892-9515-2684-4FDCDB228B46}"/>
                </a:ext>
              </a:extLst>
            </p:cNvPr>
            <p:cNvSpPr/>
            <p:nvPr/>
          </p:nvSpPr>
          <p:spPr bwMode="auto">
            <a:xfrm>
              <a:off x="4498974" y="2041506"/>
              <a:ext cx="3797352" cy="131446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53">
              <a:extLst>
                <a:ext uri="{FF2B5EF4-FFF2-40B4-BE49-F238E27FC236}">
                  <a16:creationId xmlns:a16="http://schemas.microsoft.com/office/drawing/2014/main" id="{A73C102F-1A58-D764-60AD-190F53D3F97A}"/>
                </a:ext>
              </a:extLst>
            </p:cNvPr>
            <p:cNvSpPr/>
            <p:nvPr/>
          </p:nvSpPr>
          <p:spPr>
            <a:xfrm>
              <a:off x="4718052" y="2172953"/>
              <a:ext cx="3614787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sng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sng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  <p:sp>
          <p:nvSpPr>
            <p:cNvPr id="30" name="자유형 54">
              <a:extLst>
                <a:ext uri="{FF2B5EF4-FFF2-40B4-BE49-F238E27FC236}">
                  <a16:creationId xmlns:a16="http://schemas.microsoft.com/office/drawing/2014/main" id="{2072B139-E733-611E-7F6C-E2057660E731}"/>
                </a:ext>
              </a:extLst>
            </p:cNvPr>
            <p:cNvSpPr/>
            <p:nvPr/>
          </p:nvSpPr>
          <p:spPr bwMode="auto">
            <a:xfrm flipV="1">
              <a:off x="4060818" y="2567293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8" name="그룹 46">
            <a:extLst>
              <a:ext uri="{FF2B5EF4-FFF2-40B4-BE49-F238E27FC236}">
                <a16:creationId xmlns:a16="http://schemas.microsoft.com/office/drawing/2014/main" id="{DA084020-AF88-4BFC-35E2-7871F3991E53}"/>
              </a:ext>
            </a:extLst>
          </p:cNvPr>
          <p:cNvGrpSpPr/>
          <p:nvPr/>
        </p:nvGrpSpPr>
        <p:grpSpPr>
          <a:xfrm>
            <a:off x="1253110" y="4060565"/>
            <a:ext cx="3432222" cy="1241442"/>
            <a:chOff x="559454" y="3355974"/>
            <a:chExt cx="3797352" cy="1460520"/>
          </a:xfrm>
        </p:grpSpPr>
        <p:sp>
          <p:nvSpPr>
            <p:cNvPr id="39" name="모서리가 둥근 직사각형 31">
              <a:extLst>
                <a:ext uri="{FF2B5EF4-FFF2-40B4-BE49-F238E27FC236}">
                  <a16:creationId xmlns:a16="http://schemas.microsoft.com/office/drawing/2014/main" id="{9D946006-64A5-9185-53C4-8D7087CA2ABE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0" name="직사각형 32">
              <a:extLst>
                <a:ext uri="{FF2B5EF4-FFF2-40B4-BE49-F238E27FC236}">
                  <a16:creationId xmlns:a16="http://schemas.microsoft.com/office/drawing/2014/main" id="{95536C82-85E2-20A1-6837-3B6F52381961}"/>
                </a:ext>
              </a:extLst>
            </p:cNvPr>
            <p:cNvSpPr/>
            <p:nvPr/>
          </p:nvSpPr>
          <p:spPr>
            <a:xfrm>
              <a:off x="628596" y="3502026"/>
              <a:ext cx="3614787" cy="1267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return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41" name="그룹 57">
            <a:extLst>
              <a:ext uri="{FF2B5EF4-FFF2-40B4-BE49-F238E27FC236}">
                <a16:creationId xmlns:a16="http://schemas.microsoft.com/office/drawing/2014/main" id="{B3F37084-4240-3C7A-6841-22A581BDB80F}"/>
              </a:ext>
            </a:extLst>
          </p:cNvPr>
          <p:cNvGrpSpPr/>
          <p:nvPr/>
        </p:nvGrpSpPr>
        <p:grpSpPr>
          <a:xfrm>
            <a:off x="4575793" y="4206616"/>
            <a:ext cx="4559216" cy="912825"/>
            <a:chOff x="4206870" y="2479662"/>
            <a:chExt cx="4272021" cy="912825"/>
          </a:xfrm>
        </p:grpSpPr>
        <p:sp>
          <p:nvSpPr>
            <p:cNvPr id="42" name="모서리가 둥근 직사각형 36">
              <a:extLst>
                <a:ext uri="{FF2B5EF4-FFF2-40B4-BE49-F238E27FC236}">
                  <a16:creationId xmlns:a16="http://schemas.microsoft.com/office/drawing/2014/main" id="{4B98C2BF-CB79-7756-5FF9-BCB7DECA87CA}"/>
                </a:ext>
              </a:extLst>
            </p:cNvPr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3" name="직사각형 37">
              <a:extLst>
                <a:ext uri="{FF2B5EF4-FFF2-40B4-BE49-F238E27FC236}">
                  <a16:creationId xmlns:a16="http://schemas.microsoft.com/office/drawing/2014/main" id="{55573AE3-F97C-5C40-7C72-37D2D6648530}"/>
                </a:ext>
              </a:extLst>
            </p:cNvPr>
            <p:cNvSpPr/>
            <p:nvPr/>
          </p:nvSpPr>
          <p:spPr>
            <a:xfrm>
              <a:off x="4856916" y="2771766"/>
              <a:ext cx="361478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</a:t>
              </a:r>
            </a:p>
          </p:txBody>
        </p:sp>
        <p:sp>
          <p:nvSpPr>
            <p:cNvPr id="44" name="자유형 38">
              <a:extLst>
                <a:ext uri="{FF2B5EF4-FFF2-40B4-BE49-F238E27FC236}">
                  <a16:creationId xmlns:a16="http://schemas.microsoft.com/office/drawing/2014/main" id="{E50FD45C-F836-09B4-37BA-89F5C8D2B38C}"/>
                </a:ext>
              </a:extLst>
            </p:cNvPr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54" name="Text Box 20">
            <a:extLst>
              <a:ext uri="{FF2B5EF4-FFF2-40B4-BE49-F238E27FC236}">
                <a16:creationId xmlns:a16="http://schemas.microsoft.com/office/drawing/2014/main" id="{D490574F-FFF2-183A-C22C-651F7F78A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391" y="5507019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3.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매개변수의 타입이 추론 가능하면 생략가능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대부분의 경우 생략가능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55" name="그룹 51">
            <a:extLst>
              <a:ext uri="{FF2B5EF4-FFF2-40B4-BE49-F238E27FC236}">
                <a16:creationId xmlns:a16="http://schemas.microsoft.com/office/drawing/2014/main" id="{4FE84E88-77FF-D888-015C-125C71C72CAA}"/>
              </a:ext>
            </a:extLst>
          </p:cNvPr>
          <p:cNvGrpSpPr/>
          <p:nvPr/>
        </p:nvGrpSpPr>
        <p:grpSpPr>
          <a:xfrm>
            <a:off x="1249901" y="5910342"/>
            <a:ext cx="4227790" cy="507875"/>
            <a:chOff x="761516" y="5765832"/>
            <a:chExt cx="4140840" cy="912825"/>
          </a:xfrm>
        </p:grpSpPr>
        <p:sp>
          <p:nvSpPr>
            <p:cNvPr id="56" name="모서리가 둥근 직사각형 48">
              <a:extLst>
                <a:ext uri="{FF2B5EF4-FFF2-40B4-BE49-F238E27FC236}">
                  <a16:creationId xmlns:a16="http://schemas.microsoft.com/office/drawing/2014/main" id="{F6CB6B2F-F557-DC89-EC03-6BC627292A9E}"/>
                </a:ext>
              </a:extLst>
            </p:cNvPr>
            <p:cNvSpPr/>
            <p:nvPr/>
          </p:nvSpPr>
          <p:spPr bwMode="auto">
            <a:xfrm>
              <a:off x="76151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7" name="직사각형 49">
              <a:extLst>
                <a:ext uri="{FF2B5EF4-FFF2-40B4-BE49-F238E27FC236}">
                  <a16:creationId xmlns:a16="http://schemas.microsoft.com/office/drawing/2014/main" id="{945F947F-EDFF-5ADF-77B6-71D098EB0494}"/>
                </a:ext>
              </a:extLst>
            </p:cNvPr>
            <p:cNvSpPr/>
            <p:nvPr/>
          </p:nvSpPr>
          <p:spPr>
            <a:xfrm>
              <a:off x="816135" y="5972786"/>
              <a:ext cx="4086221" cy="33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91B0EAD-0CD6-4421-23B7-24409752C640}"/>
              </a:ext>
            </a:extLst>
          </p:cNvPr>
          <p:cNvGrpSpPr/>
          <p:nvPr/>
        </p:nvGrpSpPr>
        <p:grpSpPr>
          <a:xfrm>
            <a:off x="5225141" y="5892923"/>
            <a:ext cx="4032067" cy="560127"/>
            <a:chOff x="5225141" y="5892923"/>
            <a:chExt cx="4032067" cy="560127"/>
          </a:xfrm>
        </p:grpSpPr>
        <p:sp>
          <p:nvSpPr>
            <p:cNvPr id="61" name="모서리가 둥근 직사각형 44">
              <a:extLst>
                <a:ext uri="{FF2B5EF4-FFF2-40B4-BE49-F238E27FC236}">
                  <a16:creationId xmlns:a16="http://schemas.microsoft.com/office/drawing/2014/main" id="{8DEC7D50-17CE-A0A8-5379-8CF1CBBA8721}"/>
                </a:ext>
              </a:extLst>
            </p:cNvPr>
            <p:cNvSpPr/>
            <p:nvPr/>
          </p:nvSpPr>
          <p:spPr bwMode="auto">
            <a:xfrm>
              <a:off x="5682394" y="5892923"/>
              <a:ext cx="3574814" cy="560127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62" name="직사각형 45">
              <a:extLst>
                <a:ext uri="{FF2B5EF4-FFF2-40B4-BE49-F238E27FC236}">
                  <a16:creationId xmlns:a16="http://schemas.microsoft.com/office/drawing/2014/main" id="{E5D0347F-CDED-4B4E-F67E-0C4892C9AA8E}"/>
                </a:ext>
              </a:extLst>
            </p:cNvPr>
            <p:cNvSpPr/>
            <p:nvPr/>
          </p:nvSpPr>
          <p:spPr>
            <a:xfrm>
              <a:off x="5835476" y="6021876"/>
              <a:ext cx="314649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(a, b)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</a:t>
              </a:r>
            </a:p>
          </p:txBody>
        </p:sp>
        <p:sp>
          <p:nvSpPr>
            <p:cNvPr id="60" name="자유형 46">
              <a:extLst>
                <a:ext uri="{FF2B5EF4-FFF2-40B4-BE49-F238E27FC236}">
                  <a16:creationId xmlns:a16="http://schemas.microsoft.com/office/drawing/2014/main" id="{F8833F51-4D6E-B7CA-AE8E-F04B3106972A}"/>
                </a:ext>
              </a:extLst>
            </p:cNvPr>
            <p:cNvSpPr/>
            <p:nvPr/>
          </p:nvSpPr>
          <p:spPr bwMode="auto">
            <a:xfrm flipV="1">
              <a:off x="5225141" y="6038660"/>
              <a:ext cx="779353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0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/>
              <a:t>람다식</a:t>
            </a:r>
            <a:r>
              <a:rPr lang="ko-KR" altLang="en-US" sz="3200" b="1" dirty="0"/>
              <a:t> 작성하기 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주의사항</a:t>
            </a:r>
            <a:endParaRPr lang="en-US" sz="3200" b="1" dirty="0"/>
          </a:p>
        </p:txBody>
      </p:sp>
      <p:sp>
        <p:nvSpPr>
          <p:cNvPr id="35" name="Text Box 20">
            <a:extLst>
              <a:ext uri="{FF2B5EF4-FFF2-40B4-BE49-F238E27FC236}">
                <a16:creationId xmlns:a16="http://schemas.microsoft.com/office/drawing/2014/main" id="{36397442-7474-F51D-E88E-91279514E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125" y="1873600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fontAlgn="base" latinLnBrk="1">
              <a:spcBef>
                <a:spcPct val="50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매개변수가 하나인 경우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괄호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()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생략가능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타입이 없을 때만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sp>
        <p:nvSpPr>
          <p:cNvPr id="36" name="Text Box 20">
            <a:extLst>
              <a:ext uri="{FF2B5EF4-FFF2-40B4-BE49-F238E27FC236}">
                <a16:creationId xmlns:a16="http://schemas.microsoft.com/office/drawing/2014/main" id="{097DC7CD-FDC5-D361-3903-A6C7FD99B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356" y="338680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2.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블록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안의 문장이 하나뿐 일 때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괄호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{}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생략가능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끝에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‘;’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안 붙임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7" name="그룹 61">
            <a:extLst>
              <a:ext uri="{FF2B5EF4-FFF2-40B4-BE49-F238E27FC236}">
                <a16:creationId xmlns:a16="http://schemas.microsoft.com/office/drawing/2014/main" id="{17EE1381-C1C8-B0DE-DF72-A185F6A4ECEA}"/>
              </a:ext>
            </a:extLst>
          </p:cNvPr>
          <p:cNvGrpSpPr/>
          <p:nvPr/>
        </p:nvGrpSpPr>
        <p:grpSpPr>
          <a:xfrm>
            <a:off x="1330460" y="2259502"/>
            <a:ext cx="3432222" cy="949338"/>
            <a:chOff x="559454" y="3355974"/>
            <a:chExt cx="3797352" cy="1460520"/>
          </a:xfrm>
        </p:grpSpPr>
        <p:sp>
          <p:nvSpPr>
            <p:cNvPr id="45" name="모서리가 둥근 직사각형 62">
              <a:extLst>
                <a:ext uri="{FF2B5EF4-FFF2-40B4-BE49-F238E27FC236}">
                  <a16:creationId xmlns:a16="http://schemas.microsoft.com/office/drawing/2014/main" id="{6F8C31EA-8C19-32A3-4EA9-9FB0384E1D93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6" name="직사각형 63">
              <a:extLst>
                <a:ext uri="{FF2B5EF4-FFF2-40B4-BE49-F238E27FC236}">
                  <a16:creationId xmlns:a16="http://schemas.microsoft.com/office/drawing/2014/main" id="{3593F041-E56A-FE59-AF1C-5CF5327AA3E7}"/>
                </a:ext>
              </a:extLst>
            </p:cNvPr>
            <p:cNvSpPr/>
            <p:nvPr/>
          </p:nvSpPr>
          <p:spPr>
            <a:xfrm>
              <a:off x="628596" y="3502026"/>
              <a:ext cx="3203044" cy="1089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a * a</a:t>
              </a:r>
            </a:p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 a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pt-B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 a * a</a:t>
              </a:r>
            </a:p>
          </p:txBody>
        </p:sp>
      </p:grpSp>
      <p:grpSp>
        <p:nvGrpSpPr>
          <p:cNvPr id="47" name="그룹 30">
            <a:extLst>
              <a:ext uri="{FF2B5EF4-FFF2-40B4-BE49-F238E27FC236}">
                <a16:creationId xmlns:a16="http://schemas.microsoft.com/office/drawing/2014/main" id="{11F489D7-E919-A1E7-70E3-EE2437C0D562}"/>
              </a:ext>
            </a:extLst>
          </p:cNvPr>
          <p:cNvGrpSpPr/>
          <p:nvPr/>
        </p:nvGrpSpPr>
        <p:grpSpPr>
          <a:xfrm>
            <a:off x="4616630" y="2259503"/>
            <a:ext cx="4272021" cy="949338"/>
            <a:chOff x="4060818" y="2114533"/>
            <a:chExt cx="4272021" cy="949338"/>
          </a:xfrm>
        </p:grpSpPr>
        <p:grpSp>
          <p:nvGrpSpPr>
            <p:cNvPr id="48" name="그룹 35">
              <a:extLst>
                <a:ext uri="{FF2B5EF4-FFF2-40B4-BE49-F238E27FC236}">
                  <a16:creationId xmlns:a16="http://schemas.microsoft.com/office/drawing/2014/main" id="{8DB32234-97FC-59CE-E45E-8C5C36A26217}"/>
                </a:ext>
              </a:extLst>
            </p:cNvPr>
            <p:cNvGrpSpPr/>
            <p:nvPr/>
          </p:nvGrpSpPr>
          <p:grpSpPr>
            <a:xfrm>
              <a:off x="4498974" y="2114533"/>
              <a:ext cx="3833865" cy="949338"/>
              <a:chOff x="4498974" y="2041506"/>
              <a:chExt cx="3833865" cy="1314468"/>
            </a:xfrm>
          </p:grpSpPr>
          <p:sp>
            <p:nvSpPr>
              <p:cNvPr id="50" name="모서리가 둥근 직사각형 52">
                <a:extLst>
                  <a:ext uri="{FF2B5EF4-FFF2-40B4-BE49-F238E27FC236}">
                    <a16:creationId xmlns:a16="http://schemas.microsoft.com/office/drawing/2014/main" id="{9AA28D9D-078C-4B80-69A7-B9398F9989F3}"/>
                  </a:ext>
                </a:extLst>
              </p:cNvPr>
              <p:cNvSpPr/>
              <p:nvPr/>
            </p:nvSpPr>
            <p:spPr bwMode="auto">
              <a:xfrm>
                <a:off x="4498974" y="2041506"/>
                <a:ext cx="3797352" cy="1314468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51" name="직사각형 53">
                <a:extLst>
                  <a:ext uri="{FF2B5EF4-FFF2-40B4-BE49-F238E27FC236}">
                    <a16:creationId xmlns:a16="http://schemas.microsoft.com/office/drawing/2014/main" id="{97BE0908-BDAD-4F5A-D8E3-0EEBC15ADA5D}"/>
                  </a:ext>
                </a:extLst>
              </p:cNvPr>
              <p:cNvSpPr/>
              <p:nvPr/>
            </p:nvSpPr>
            <p:spPr>
              <a:xfrm>
                <a:off x="4718052" y="2172953"/>
                <a:ext cx="3614787" cy="980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pt-B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a -&gt; a * a  // OK</a:t>
                </a:r>
              </a:p>
              <a:p>
                <a:pPr marL="0" marR="0" lvl="0" indent="0" algn="ctr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pt-B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pt-B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a -&gt; a * a  // </a:t>
                </a:r>
                <a:r>
                  <a:rPr kumimoji="1" lang="ko-K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에러</a:t>
                </a:r>
                <a:endPara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49" name="자유형 54">
              <a:extLst>
                <a:ext uri="{FF2B5EF4-FFF2-40B4-BE49-F238E27FC236}">
                  <a16:creationId xmlns:a16="http://schemas.microsoft.com/office/drawing/2014/main" id="{4D3A8FED-1F76-4242-66A7-3691B15C3E23}"/>
                </a:ext>
              </a:extLst>
            </p:cNvPr>
            <p:cNvSpPr/>
            <p:nvPr/>
          </p:nvSpPr>
          <p:spPr bwMode="auto">
            <a:xfrm flipV="1">
              <a:off x="4060818" y="2443149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DDF59E88-0F08-02D0-3E37-83DC363C4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921" y="5274249"/>
            <a:ext cx="7083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단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하나뿐인 문장이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return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문이면 괄호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{}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생략불가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53" name="그룹 51">
            <a:extLst>
              <a:ext uri="{FF2B5EF4-FFF2-40B4-BE49-F238E27FC236}">
                <a16:creationId xmlns:a16="http://schemas.microsoft.com/office/drawing/2014/main" id="{61BE76AB-D5E0-2BC9-498F-AD1CF4F71179}"/>
              </a:ext>
            </a:extLst>
          </p:cNvPr>
          <p:cNvGrpSpPr/>
          <p:nvPr/>
        </p:nvGrpSpPr>
        <p:grpSpPr>
          <a:xfrm>
            <a:off x="1325859" y="5680094"/>
            <a:ext cx="7599305" cy="1186757"/>
            <a:chOff x="770046" y="5765832"/>
            <a:chExt cx="4090821" cy="1186757"/>
          </a:xfrm>
        </p:grpSpPr>
        <p:sp>
          <p:nvSpPr>
            <p:cNvPr id="58" name="모서리가 둥근 직사각형 48">
              <a:extLst>
                <a:ext uri="{FF2B5EF4-FFF2-40B4-BE49-F238E27FC236}">
                  <a16:creationId xmlns:a16="http://schemas.microsoft.com/office/drawing/2014/main" id="{ECACA0AC-149B-CF32-626F-3127CD2E9576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9" name="직사각형 49">
              <a:extLst>
                <a:ext uri="{FF2B5EF4-FFF2-40B4-BE49-F238E27FC236}">
                  <a16:creationId xmlns:a16="http://schemas.microsoft.com/office/drawing/2014/main" id="{7D26A2BF-1A8F-7FC3-B85E-8C71AA6953A0}"/>
                </a:ext>
              </a:extLst>
            </p:cNvPr>
            <p:cNvSpPr/>
            <p:nvPr/>
          </p:nvSpPr>
          <p:spPr>
            <a:xfrm>
              <a:off x="774646" y="5875371"/>
              <a:ext cx="408622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-&gt;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return a &gt; b ? a : b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// OK</a:t>
              </a:r>
            </a:p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-&gt;   return a &gt; b ? a : b      // 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에러</a:t>
              </a: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64" name="그룹 61">
            <a:extLst>
              <a:ext uri="{FF2B5EF4-FFF2-40B4-BE49-F238E27FC236}">
                <a16:creationId xmlns:a16="http://schemas.microsoft.com/office/drawing/2014/main" id="{76192810-353C-731D-AD8E-B77E6CEDD37A}"/>
              </a:ext>
            </a:extLst>
          </p:cNvPr>
          <p:cNvGrpSpPr/>
          <p:nvPr/>
        </p:nvGrpSpPr>
        <p:grpSpPr>
          <a:xfrm>
            <a:off x="1330460" y="3817931"/>
            <a:ext cx="3432222" cy="1241442"/>
            <a:chOff x="559454" y="3355974"/>
            <a:chExt cx="3797352" cy="1460520"/>
          </a:xfrm>
        </p:grpSpPr>
        <p:sp>
          <p:nvSpPr>
            <p:cNvPr id="65" name="모서리가 둥근 직사각형 41">
              <a:extLst>
                <a:ext uri="{FF2B5EF4-FFF2-40B4-BE49-F238E27FC236}">
                  <a16:creationId xmlns:a16="http://schemas.microsoft.com/office/drawing/2014/main" id="{6209EA82-FB0A-CB9A-7CFD-97478BC3FCC1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66" name="직사각형 42">
              <a:extLst>
                <a:ext uri="{FF2B5EF4-FFF2-40B4-BE49-F238E27FC236}">
                  <a16:creationId xmlns:a16="http://schemas.microsoft.com/office/drawing/2014/main" id="{E77CBF6A-F98D-E898-33BE-9040949901DD}"/>
                </a:ext>
              </a:extLst>
            </p:cNvPr>
            <p:cNvSpPr/>
            <p:nvPr/>
          </p:nvSpPr>
          <p:spPr>
            <a:xfrm>
              <a:off x="628596" y="3502026"/>
              <a:ext cx="3614787" cy="1267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grpSp>
        <p:nvGrpSpPr>
          <p:cNvPr id="67" name="그룹 57">
            <a:extLst>
              <a:ext uri="{FF2B5EF4-FFF2-40B4-BE49-F238E27FC236}">
                <a16:creationId xmlns:a16="http://schemas.microsoft.com/office/drawing/2014/main" id="{33C639AB-25FE-955F-AE4F-29221688EE1F}"/>
              </a:ext>
            </a:extLst>
          </p:cNvPr>
          <p:cNvGrpSpPr/>
          <p:nvPr/>
        </p:nvGrpSpPr>
        <p:grpSpPr>
          <a:xfrm>
            <a:off x="4653143" y="3963983"/>
            <a:ext cx="4819716" cy="912825"/>
            <a:chOff x="4206870" y="2479662"/>
            <a:chExt cx="4345046" cy="912825"/>
          </a:xfrm>
        </p:grpSpPr>
        <p:sp>
          <p:nvSpPr>
            <p:cNvPr id="68" name="모서리가 둥근 직사각형 56">
              <a:extLst>
                <a:ext uri="{FF2B5EF4-FFF2-40B4-BE49-F238E27FC236}">
                  <a16:creationId xmlns:a16="http://schemas.microsoft.com/office/drawing/2014/main" id="{B7ABDBE8-B7F4-BC4B-CF48-99C634ABEB05}"/>
                </a:ext>
              </a:extLst>
            </p:cNvPr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69" name="직사각형 57">
              <a:extLst>
                <a:ext uri="{FF2B5EF4-FFF2-40B4-BE49-F238E27FC236}">
                  <a16:creationId xmlns:a16="http://schemas.microsoft.com/office/drawing/2014/main" id="{C594CCFD-ADCF-FEC7-E8B5-E4D6F3B9F4C8}"/>
                </a:ext>
              </a:extLst>
            </p:cNvPr>
            <p:cNvSpPr/>
            <p:nvPr/>
          </p:nvSpPr>
          <p:spPr>
            <a:xfrm>
              <a:off x="4856916" y="2771766"/>
              <a:ext cx="369500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</p:txBody>
        </p:sp>
        <p:sp>
          <p:nvSpPr>
            <p:cNvPr id="70" name="자유형 58">
              <a:extLst>
                <a:ext uri="{FF2B5EF4-FFF2-40B4-BE49-F238E27FC236}">
                  <a16:creationId xmlns:a16="http://schemas.microsoft.com/office/drawing/2014/main" id="{630D6587-4DD2-DBF3-27D3-D20C13D9C5AA}"/>
                </a:ext>
              </a:extLst>
            </p:cNvPr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78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/>
              <a:t>람다식</a:t>
            </a:r>
            <a:r>
              <a:rPr lang="ko-KR" altLang="en-US" sz="3200" b="1" dirty="0"/>
              <a:t> 작성하기 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실습</a:t>
            </a:r>
            <a:endParaRPr lang="en-US" sz="3200" b="1" dirty="0"/>
          </a:p>
        </p:txBody>
      </p:sp>
      <p:graphicFrame>
        <p:nvGraphicFramePr>
          <p:cNvPr id="6" name="표 31">
            <a:extLst>
              <a:ext uri="{FF2B5EF4-FFF2-40B4-BE49-F238E27FC236}">
                <a16:creationId xmlns:a16="http://schemas.microsoft.com/office/drawing/2014/main" id="{CC106D0C-3F34-0F1C-96BF-F0DE9ACE4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70133"/>
              </p:ext>
            </p:extLst>
          </p:nvPr>
        </p:nvGraphicFramePr>
        <p:xfrm>
          <a:off x="1094106" y="1965863"/>
          <a:ext cx="8032860" cy="4165961"/>
        </p:xfrm>
        <a:graphic>
          <a:graphicData uri="http://schemas.openxmlformats.org/drawingml/2006/table">
            <a:tbl>
              <a:tblPr firstRow="1" bandRow="1"/>
              <a:tblGrid>
                <a:gridCol w="449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b="1" dirty="0" err="1"/>
                        <a:t>메서드</a:t>
                      </a:r>
                      <a:endParaRPr lang="ko-KR" altLang="en-US" b="1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254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b="1" dirty="0" err="1"/>
                        <a:t>람다식</a:t>
                      </a:r>
                      <a:endParaRPr lang="ko-KR" altLang="en-US" b="1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254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8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max(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a,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b) {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a &gt; b ? a : b;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254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1800" dirty="0"/>
                        <a:t>➀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254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8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printVar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(String name,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 {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System.out.println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(name+"="+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);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1800" dirty="0"/>
                        <a:t>➁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square(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x) {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x * x;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1800" dirty="0"/>
                        <a:t>➂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3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roll() {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return 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Math.random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()*6);</a:t>
                      </a: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}</a:t>
                      </a:r>
                    </a:p>
                  </a:txBody>
                  <a:tcPr anchor="ctr"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r>
                        <a:rPr lang="ko-KR" altLang="en-US" sz="1800" dirty="0"/>
                        <a:t>➃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BBE0E3"/>
                      </a:solidFill>
                    </a:lnL>
                    <a:lnR w="12700" cmpd="sng">
                      <a:solidFill>
                        <a:srgbClr val="BBE0E3"/>
                      </a:solidFill>
                    </a:lnR>
                    <a:lnT w="12700" cmpd="sng">
                      <a:solidFill>
                        <a:srgbClr val="BBE0E3"/>
                      </a:solidFill>
                    </a:lnT>
                    <a:lnB w="12700" cmpd="sng">
                      <a:solidFill>
                        <a:srgbClr val="BBE0E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518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5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함수형 인터페이스</a:t>
            </a:r>
            <a:r>
              <a:rPr lang="en-US" altLang="ko-KR" sz="3200" b="1" dirty="0"/>
              <a:t>(1/3)</a:t>
            </a:r>
            <a:endParaRPr lang="en-US" sz="3200" b="1" dirty="0"/>
          </a:p>
        </p:txBody>
      </p:sp>
      <p:grpSp>
        <p:nvGrpSpPr>
          <p:cNvPr id="24" name="그룹 56">
            <a:extLst>
              <a:ext uri="{FF2B5EF4-FFF2-40B4-BE49-F238E27FC236}">
                <a16:creationId xmlns:a16="http://schemas.microsoft.com/office/drawing/2014/main" id="{592AB5FC-06BD-401F-EC8D-80242807E3D7}"/>
              </a:ext>
            </a:extLst>
          </p:cNvPr>
          <p:cNvGrpSpPr/>
          <p:nvPr/>
        </p:nvGrpSpPr>
        <p:grpSpPr>
          <a:xfrm>
            <a:off x="1371681" y="2566693"/>
            <a:ext cx="3317774" cy="912825"/>
            <a:chOff x="4603911" y="5765832"/>
            <a:chExt cx="4099834" cy="912825"/>
          </a:xfrm>
        </p:grpSpPr>
        <p:sp>
          <p:nvSpPr>
            <p:cNvPr id="25" name="모서리가 둥근 직사각형 44">
              <a:extLst>
                <a:ext uri="{FF2B5EF4-FFF2-40B4-BE49-F238E27FC236}">
                  <a16:creationId xmlns:a16="http://schemas.microsoft.com/office/drawing/2014/main" id="{C6C170FC-5EF2-8E43-3A44-DD09DE84D74F}"/>
                </a:ext>
              </a:extLst>
            </p:cNvPr>
            <p:cNvSpPr/>
            <p:nvPr/>
          </p:nvSpPr>
          <p:spPr bwMode="auto">
            <a:xfrm>
              <a:off x="4603911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6" name="직사각형 45">
              <a:extLst>
                <a:ext uri="{FF2B5EF4-FFF2-40B4-BE49-F238E27FC236}">
                  <a16:creationId xmlns:a16="http://schemas.microsoft.com/office/drawing/2014/main" id="{196793AA-0A1A-0208-C23F-D48FA9811622}"/>
                </a:ext>
              </a:extLst>
            </p:cNvPr>
            <p:cNvSpPr/>
            <p:nvPr/>
          </p:nvSpPr>
          <p:spPr>
            <a:xfrm>
              <a:off x="4745505" y="6057936"/>
              <a:ext cx="395824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(a, b)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</a:t>
              </a:r>
            </a:p>
          </p:txBody>
        </p:sp>
      </p:grpSp>
      <p:sp>
        <p:nvSpPr>
          <p:cNvPr id="27" name="Text Box 20">
            <a:extLst>
              <a:ext uri="{FF2B5EF4-FFF2-40B4-BE49-F238E27FC236}">
                <a16:creationId xmlns:a16="http://schemas.microsoft.com/office/drawing/2014/main" id="{C8C5EAFD-A6F9-0757-3023-93C8A924A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125" y="19459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람다식은 익명 함수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?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사실은 익명 객체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!!!</a:t>
            </a:r>
          </a:p>
        </p:txBody>
      </p:sp>
      <p:grpSp>
        <p:nvGrpSpPr>
          <p:cNvPr id="28" name="그룹 41">
            <a:extLst>
              <a:ext uri="{FF2B5EF4-FFF2-40B4-BE49-F238E27FC236}">
                <a16:creationId xmlns:a16="http://schemas.microsoft.com/office/drawing/2014/main" id="{51C3F74B-2C64-2A7E-CDC7-884EFD3C77C9}"/>
              </a:ext>
            </a:extLst>
          </p:cNvPr>
          <p:cNvGrpSpPr/>
          <p:nvPr/>
        </p:nvGrpSpPr>
        <p:grpSpPr>
          <a:xfrm>
            <a:off x="4324324" y="2311102"/>
            <a:ext cx="4600840" cy="1424007"/>
            <a:chOff x="3768512" y="2041506"/>
            <a:chExt cx="4600840" cy="1424007"/>
          </a:xfrm>
        </p:grpSpPr>
        <p:grpSp>
          <p:nvGrpSpPr>
            <p:cNvPr id="29" name="그룹 51">
              <a:extLst>
                <a:ext uri="{FF2B5EF4-FFF2-40B4-BE49-F238E27FC236}">
                  <a16:creationId xmlns:a16="http://schemas.microsoft.com/office/drawing/2014/main" id="{8A0E8454-51DF-746F-FBB9-6A0113FD1B11}"/>
                </a:ext>
              </a:extLst>
            </p:cNvPr>
            <p:cNvGrpSpPr/>
            <p:nvPr/>
          </p:nvGrpSpPr>
          <p:grpSpPr>
            <a:xfrm>
              <a:off x="4462259" y="2041506"/>
              <a:ext cx="3907093" cy="1424007"/>
              <a:chOff x="770046" y="5765832"/>
              <a:chExt cx="4086221" cy="912825"/>
            </a:xfrm>
          </p:grpSpPr>
          <p:sp>
            <p:nvSpPr>
              <p:cNvPr id="31" name="모서리가 둥근 직사각형 48">
                <a:extLst>
                  <a:ext uri="{FF2B5EF4-FFF2-40B4-BE49-F238E27FC236}">
                    <a16:creationId xmlns:a16="http://schemas.microsoft.com/office/drawing/2014/main" id="{AD03D614-432F-8008-7958-BEF035EDA03E}"/>
                  </a:ext>
                </a:extLst>
              </p:cNvPr>
              <p:cNvSpPr/>
              <p:nvPr/>
            </p:nvSpPr>
            <p:spPr bwMode="auto">
              <a:xfrm>
                <a:off x="770046" y="5765832"/>
                <a:ext cx="4052636" cy="912825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32" name="직사각형 49">
                <a:extLst>
                  <a:ext uri="{FF2B5EF4-FFF2-40B4-BE49-F238E27FC236}">
                    <a16:creationId xmlns:a16="http://schemas.microsoft.com/office/drawing/2014/main" id="{E42A7673-6074-A014-929F-AADFF8514276}"/>
                  </a:ext>
                </a:extLst>
              </p:cNvPr>
              <p:cNvSpPr/>
              <p:nvPr/>
            </p:nvSpPr>
            <p:spPr>
              <a:xfrm>
                <a:off x="770046" y="5812644"/>
                <a:ext cx="4086221" cy="848358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new Object() {</a:t>
                </a:r>
                <a:r>
                  <a:rPr kumimoji="1" lang="ko-K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</a:t>
                </a:r>
                <a:r>
                  <a:rPr kumimoji="1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//</a:t>
                </a:r>
                <a:r>
                  <a:rPr kumimoji="1" lang="ko-KR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익명 객체</a:t>
                </a:r>
                <a:endPara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max(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a,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b) {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return a &gt; b ? a : b;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}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}</a:t>
                </a:r>
              </a:p>
            </p:txBody>
          </p:sp>
        </p:grpSp>
        <p:sp>
          <p:nvSpPr>
            <p:cNvPr id="30" name="왼쪽/오른쪽 화살표 40">
              <a:extLst>
                <a:ext uri="{FF2B5EF4-FFF2-40B4-BE49-F238E27FC236}">
                  <a16:creationId xmlns:a16="http://schemas.microsoft.com/office/drawing/2014/main" id="{01B2454B-A5FA-46A0-ADFD-EDF43A4ED328}"/>
                </a:ext>
              </a:extLst>
            </p:cNvPr>
            <p:cNvSpPr/>
            <p:nvPr/>
          </p:nvSpPr>
          <p:spPr bwMode="auto">
            <a:xfrm>
              <a:off x="3768512" y="2589201"/>
              <a:ext cx="1022364" cy="365130"/>
            </a:xfrm>
            <a:prstGeom prst="leftRightArrow">
              <a:avLst/>
            </a:pr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33" name="Text Box 20">
            <a:extLst>
              <a:ext uri="{FF2B5EF4-FFF2-40B4-BE49-F238E27FC236}">
                <a16:creationId xmlns:a16="http://schemas.microsoft.com/office/drawing/2014/main" id="{190E387A-EB21-D4A8-3FED-58108B2A1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261" y="390728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람다식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익명 객체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을 다룰 참조변수가 필요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참조변수의 타입은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?</a:t>
            </a:r>
          </a:p>
        </p:txBody>
      </p:sp>
      <p:grpSp>
        <p:nvGrpSpPr>
          <p:cNvPr id="34" name="그룹 51">
            <a:extLst>
              <a:ext uri="{FF2B5EF4-FFF2-40B4-BE49-F238E27FC236}">
                <a16:creationId xmlns:a16="http://schemas.microsoft.com/office/drawing/2014/main" id="{F40F3627-81A5-0664-CB3A-D57A7D465058}"/>
              </a:ext>
            </a:extLst>
          </p:cNvPr>
          <p:cNvGrpSpPr/>
          <p:nvPr/>
        </p:nvGrpSpPr>
        <p:grpSpPr>
          <a:xfrm>
            <a:off x="1366973" y="4319318"/>
            <a:ext cx="7813782" cy="1533546"/>
            <a:chOff x="770046" y="5765832"/>
            <a:chExt cx="4052636" cy="912825"/>
          </a:xfrm>
        </p:grpSpPr>
        <p:sp>
          <p:nvSpPr>
            <p:cNvPr id="35" name="모서리가 둥근 직사각형 51">
              <a:extLst>
                <a:ext uri="{FF2B5EF4-FFF2-40B4-BE49-F238E27FC236}">
                  <a16:creationId xmlns:a16="http://schemas.microsoft.com/office/drawing/2014/main" id="{7512388E-3EC9-D01C-2256-D18870B06DD9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6" name="직사각형 55">
              <a:extLst>
                <a:ext uri="{FF2B5EF4-FFF2-40B4-BE49-F238E27FC236}">
                  <a16:creationId xmlns:a16="http://schemas.microsoft.com/office/drawing/2014/main" id="{68536FDB-268A-16E2-8536-6BD352803065}"/>
                </a:ext>
              </a:extLst>
            </p:cNvPr>
            <p:cNvSpPr/>
            <p:nvPr/>
          </p:nvSpPr>
          <p:spPr>
            <a:xfrm>
              <a:off x="770046" y="5939703"/>
              <a:ext cx="3973171" cy="56077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new Object()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return a &gt; b ? a : b;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</p:txBody>
        </p:sp>
      </p:grpSp>
      <p:grpSp>
        <p:nvGrpSpPr>
          <p:cNvPr id="37" name="그룹 51">
            <a:extLst>
              <a:ext uri="{FF2B5EF4-FFF2-40B4-BE49-F238E27FC236}">
                <a16:creationId xmlns:a16="http://schemas.microsoft.com/office/drawing/2014/main" id="{537692B6-A3E5-4E51-BF79-77318CF03336}"/>
              </a:ext>
            </a:extLst>
          </p:cNvPr>
          <p:cNvGrpSpPr/>
          <p:nvPr/>
        </p:nvGrpSpPr>
        <p:grpSpPr>
          <a:xfrm>
            <a:off x="3338675" y="5378195"/>
            <a:ext cx="6243723" cy="584207"/>
            <a:chOff x="770046" y="5765832"/>
            <a:chExt cx="4052636" cy="912825"/>
          </a:xfrm>
        </p:grpSpPr>
        <p:sp>
          <p:nvSpPr>
            <p:cNvPr id="38" name="모서리가 둥근 직사각형 57">
              <a:extLst>
                <a:ext uri="{FF2B5EF4-FFF2-40B4-BE49-F238E27FC236}">
                  <a16:creationId xmlns:a16="http://schemas.microsoft.com/office/drawing/2014/main" id="{AF8ECF4D-FBE4-BFA1-C2D7-90F2F5582796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9" name="직사각형 58">
              <a:extLst>
                <a:ext uri="{FF2B5EF4-FFF2-40B4-BE49-F238E27FC236}">
                  <a16:creationId xmlns:a16="http://schemas.microsoft.com/office/drawing/2014/main" id="{D960AFEC-FC6A-5D93-A853-4373EA9D1151}"/>
                </a:ext>
              </a:extLst>
            </p:cNvPr>
            <p:cNvSpPr/>
            <p:nvPr/>
          </p:nvSpPr>
          <p:spPr>
            <a:xfrm>
              <a:off x="770047" y="5978512"/>
              <a:ext cx="3973171" cy="52899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타입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(a, b)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&gt; b ? a : b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어떤 타입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?</a:t>
              </a: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40" name="그룹 51">
            <a:extLst>
              <a:ext uri="{FF2B5EF4-FFF2-40B4-BE49-F238E27FC236}">
                <a16:creationId xmlns:a16="http://schemas.microsoft.com/office/drawing/2014/main" id="{8B2EC5CB-5910-B3EB-1A74-C3A1FB111C24}"/>
              </a:ext>
            </a:extLst>
          </p:cNvPr>
          <p:cNvGrpSpPr/>
          <p:nvPr/>
        </p:nvGrpSpPr>
        <p:grpSpPr>
          <a:xfrm>
            <a:off x="1366973" y="6108454"/>
            <a:ext cx="7813782" cy="474669"/>
            <a:chOff x="770046" y="5765832"/>
            <a:chExt cx="4052636" cy="912825"/>
          </a:xfrm>
        </p:grpSpPr>
        <p:sp>
          <p:nvSpPr>
            <p:cNvPr id="41" name="모서리가 둥근 직사각형 28">
              <a:extLst>
                <a:ext uri="{FF2B5EF4-FFF2-40B4-BE49-F238E27FC236}">
                  <a16:creationId xmlns:a16="http://schemas.microsoft.com/office/drawing/2014/main" id="{10225A22-2B92-6788-F54D-9414CAF2006F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2" name="직사각형 29">
              <a:extLst>
                <a:ext uri="{FF2B5EF4-FFF2-40B4-BE49-F238E27FC236}">
                  <a16:creationId xmlns:a16="http://schemas.microsoft.com/office/drawing/2014/main" id="{EEB69566-C550-6540-C45B-C8FD0E8BEFF9}"/>
                </a:ext>
              </a:extLst>
            </p:cNvPr>
            <p:cNvSpPr/>
            <p:nvPr/>
          </p:nvSpPr>
          <p:spPr>
            <a:xfrm>
              <a:off x="770047" y="5906267"/>
              <a:ext cx="3973171" cy="65106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value = obj.max(3,5); // 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에러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Object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클래스에 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max()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가 없음</a:t>
              </a: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67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6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함수형 인터페이스</a:t>
            </a:r>
            <a:r>
              <a:rPr lang="en-US" altLang="ko-KR" sz="3200" b="1" dirty="0"/>
              <a:t>(2/3)</a:t>
            </a:r>
            <a:endParaRPr lang="en-US" sz="3200" b="1" dirty="0"/>
          </a:p>
        </p:txBody>
      </p:sp>
      <p:sp>
        <p:nvSpPr>
          <p:cNvPr id="27" name="Text Box 20">
            <a:extLst>
              <a:ext uri="{FF2B5EF4-FFF2-40B4-BE49-F238E27FC236}">
                <a16:creationId xmlns:a16="http://schemas.microsoft.com/office/drawing/2014/main" id="{C8C5EAFD-A6F9-0757-3023-93C8A924A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125" y="19459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ko-KR" altLang="en-US" b="1" dirty="0"/>
              <a:t>함수형 인터페이스 </a:t>
            </a:r>
            <a:r>
              <a:rPr lang="en-US" altLang="ko-KR" b="1" dirty="0"/>
              <a:t>- </a:t>
            </a:r>
            <a:r>
              <a:rPr lang="ko-KR" altLang="en-US" b="1" dirty="0"/>
              <a:t>단 하나의 추상 메서드만 선언된 인터페이스</a:t>
            </a:r>
            <a:endParaRPr lang="en-US" altLang="ko-KR" b="1" dirty="0"/>
          </a:p>
        </p:txBody>
      </p:sp>
      <p:grpSp>
        <p:nvGrpSpPr>
          <p:cNvPr id="44" name="그룹 51">
            <a:extLst>
              <a:ext uri="{FF2B5EF4-FFF2-40B4-BE49-F238E27FC236}">
                <a16:creationId xmlns:a16="http://schemas.microsoft.com/office/drawing/2014/main" id="{31252F90-5538-80B6-C7AD-D779533A34BE}"/>
              </a:ext>
            </a:extLst>
          </p:cNvPr>
          <p:cNvGrpSpPr/>
          <p:nvPr/>
        </p:nvGrpSpPr>
        <p:grpSpPr>
          <a:xfrm>
            <a:off x="1203646" y="2366901"/>
            <a:ext cx="5623002" cy="1186753"/>
            <a:chOff x="770046" y="5765832"/>
            <a:chExt cx="4052636" cy="1046394"/>
          </a:xfrm>
        </p:grpSpPr>
        <p:sp>
          <p:nvSpPr>
            <p:cNvPr id="45" name="모서리가 둥근 직사각형 31">
              <a:extLst>
                <a:ext uri="{FF2B5EF4-FFF2-40B4-BE49-F238E27FC236}">
                  <a16:creationId xmlns:a16="http://schemas.microsoft.com/office/drawing/2014/main" id="{357CA616-EF75-FDB9-BB26-56A050BC68BE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6" name="직사각형 32">
              <a:extLst>
                <a:ext uri="{FF2B5EF4-FFF2-40B4-BE49-F238E27FC236}">
                  <a16:creationId xmlns:a16="http://schemas.microsoft.com/office/drawing/2014/main" id="{DAA3F962-BDF7-5C12-C812-294867F03AB2}"/>
                </a:ext>
              </a:extLst>
            </p:cNvPr>
            <p:cNvSpPr/>
            <p:nvPr/>
          </p:nvSpPr>
          <p:spPr>
            <a:xfrm>
              <a:off x="811636" y="5862413"/>
              <a:ext cx="3973171" cy="94981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interface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abstract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a,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grpSp>
        <p:nvGrpSpPr>
          <p:cNvPr id="47" name="그룹 50">
            <a:extLst>
              <a:ext uri="{FF2B5EF4-FFF2-40B4-BE49-F238E27FC236}">
                <a16:creationId xmlns:a16="http://schemas.microsoft.com/office/drawing/2014/main" id="{9674CE7D-E383-0DF7-8E7A-2DB69020E877}"/>
              </a:ext>
            </a:extLst>
          </p:cNvPr>
          <p:cNvGrpSpPr/>
          <p:nvPr/>
        </p:nvGrpSpPr>
        <p:grpSpPr>
          <a:xfrm>
            <a:off x="2335549" y="3097161"/>
            <a:ext cx="6900956" cy="1424007"/>
            <a:chOff x="1979577" y="2917818"/>
            <a:chExt cx="6900956" cy="1606572"/>
          </a:xfrm>
        </p:grpSpPr>
        <p:grpSp>
          <p:nvGrpSpPr>
            <p:cNvPr id="48" name="그룹 51">
              <a:extLst>
                <a:ext uri="{FF2B5EF4-FFF2-40B4-BE49-F238E27FC236}">
                  <a16:creationId xmlns:a16="http://schemas.microsoft.com/office/drawing/2014/main" id="{5005A561-8C78-0091-25E5-A4C7F7C27E64}"/>
                </a:ext>
              </a:extLst>
            </p:cNvPr>
            <p:cNvGrpSpPr/>
            <p:nvPr/>
          </p:nvGrpSpPr>
          <p:grpSpPr>
            <a:xfrm>
              <a:off x="2527272" y="2917818"/>
              <a:ext cx="6353261" cy="1606572"/>
              <a:chOff x="770046" y="5765832"/>
              <a:chExt cx="4099759" cy="912825"/>
            </a:xfrm>
          </p:grpSpPr>
          <p:sp>
            <p:nvSpPr>
              <p:cNvPr id="50" name="모서리가 둥근 직사각형 38">
                <a:extLst>
                  <a:ext uri="{FF2B5EF4-FFF2-40B4-BE49-F238E27FC236}">
                    <a16:creationId xmlns:a16="http://schemas.microsoft.com/office/drawing/2014/main" id="{7B81F66C-9C92-88EE-582F-0D4EC04BEF15}"/>
                  </a:ext>
                </a:extLst>
              </p:cNvPr>
              <p:cNvSpPr/>
              <p:nvPr/>
            </p:nvSpPr>
            <p:spPr bwMode="auto">
              <a:xfrm>
                <a:off x="770046" y="5765832"/>
                <a:ext cx="4052636" cy="912825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51" name="직사각형 39">
                <a:extLst>
                  <a:ext uri="{FF2B5EF4-FFF2-40B4-BE49-F238E27FC236}">
                    <a16:creationId xmlns:a16="http://schemas.microsoft.com/office/drawing/2014/main" id="{F07DD926-7A10-272E-EBA4-78B021EB06BB}"/>
                  </a:ext>
                </a:extLst>
              </p:cNvPr>
              <p:cNvSpPr/>
              <p:nvPr/>
            </p:nvSpPr>
            <p:spPr>
              <a:xfrm>
                <a:off x="811636" y="5809674"/>
                <a:ext cx="4058169" cy="75195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MyFunction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f = new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MyFunction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 {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        public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max(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a,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b) {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             return a &gt; b ? a : b;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        }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    };</a:t>
                </a:r>
              </a:p>
            </p:txBody>
          </p:sp>
        </p:grpSp>
        <p:sp>
          <p:nvSpPr>
            <p:cNvPr id="49" name="굽은 화살표 47">
              <a:extLst>
                <a:ext uri="{FF2B5EF4-FFF2-40B4-BE49-F238E27FC236}">
                  <a16:creationId xmlns:a16="http://schemas.microsoft.com/office/drawing/2014/main" id="{38BD5DED-626B-77E9-2A3B-DD4765357AB0}"/>
                </a:ext>
              </a:extLst>
            </p:cNvPr>
            <p:cNvSpPr/>
            <p:nvPr/>
          </p:nvSpPr>
          <p:spPr bwMode="auto">
            <a:xfrm flipV="1">
              <a:off x="1979577" y="3136896"/>
              <a:ext cx="876312" cy="803286"/>
            </a:xfrm>
            <a:prstGeom prst="bentArrow">
              <a:avLst/>
            </a:pr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0A361FD-6EC1-5670-B079-A0F416C74C4A}"/>
              </a:ext>
            </a:extLst>
          </p:cNvPr>
          <p:cNvGrpSpPr/>
          <p:nvPr/>
        </p:nvGrpSpPr>
        <p:grpSpPr>
          <a:xfrm>
            <a:off x="1221576" y="4434792"/>
            <a:ext cx="7813782" cy="474670"/>
            <a:chOff x="770046" y="5484958"/>
            <a:chExt cx="4052636" cy="912824"/>
          </a:xfrm>
        </p:grpSpPr>
        <p:sp>
          <p:nvSpPr>
            <p:cNvPr id="53" name="모서리가 둥근 직사각형 53">
              <a:extLst>
                <a:ext uri="{FF2B5EF4-FFF2-40B4-BE49-F238E27FC236}">
                  <a16:creationId xmlns:a16="http://schemas.microsoft.com/office/drawing/2014/main" id="{C339CBC4-2691-05D7-7A5A-858C46C477A4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4" name="직사각형 54">
              <a:extLst>
                <a:ext uri="{FF2B5EF4-FFF2-40B4-BE49-F238E27FC236}">
                  <a16:creationId xmlns:a16="http://schemas.microsoft.com/office/drawing/2014/main" id="{30EDA814-85A4-873F-758B-A31DA9C4F474}"/>
                </a:ext>
              </a:extLst>
            </p:cNvPr>
            <p:cNvSpPr/>
            <p:nvPr/>
          </p:nvSpPr>
          <p:spPr>
            <a:xfrm>
              <a:off x="770047" y="5625394"/>
              <a:ext cx="3973171" cy="65106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value = f.max(3,5); // OK.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max()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가 있음</a:t>
              </a: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55" name="그룹 51">
            <a:extLst>
              <a:ext uri="{FF2B5EF4-FFF2-40B4-BE49-F238E27FC236}">
                <a16:creationId xmlns:a16="http://schemas.microsoft.com/office/drawing/2014/main" id="{115ABA15-A421-4F3B-1497-E5B2467DEF09}"/>
              </a:ext>
            </a:extLst>
          </p:cNvPr>
          <p:cNvGrpSpPr/>
          <p:nvPr/>
        </p:nvGrpSpPr>
        <p:grpSpPr>
          <a:xfrm>
            <a:off x="1275363" y="5623753"/>
            <a:ext cx="7813782" cy="839799"/>
            <a:chOff x="770046" y="5484958"/>
            <a:chExt cx="4052636" cy="912824"/>
          </a:xfrm>
        </p:grpSpPr>
        <p:sp>
          <p:nvSpPr>
            <p:cNvPr id="56" name="모서리가 둥근 직사각형 59">
              <a:extLst>
                <a:ext uri="{FF2B5EF4-FFF2-40B4-BE49-F238E27FC236}">
                  <a16:creationId xmlns:a16="http://schemas.microsoft.com/office/drawing/2014/main" id="{F678F1DB-594A-C73E-D07D-3F45C15C1E1C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7" name="직사각형 60">
              <a:extLst>
                <a:ext uri="{FF2B5EF4-FFF2-40B4-BE49-F238E27FC236}">
                  <a16:creationId xmlns:a16="http://schemas.microsoft.com/office/drawing/2014/main" id="{F51D40DC-B8DB-04F7-ADE6-2512772D60A6}"/>
                </a:ext>
              </a:extLst>
            </p:cNvPr>
            <p:cNvSpPr/>
            <p:nvPr/>
          </p:nvSpPr>
          <p:spPr>
            <a:xfrm>
              <a:off x="830573" y="5484958"/>
              <a:ext cx="3973171" cy="90325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 = (a, b) -&gt; a &gt; b ? a : b; </a:t>
              </a:r>
            </a:p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value = f.max(3,5); // 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실제로는 </a:t>
              </a:r>
              <a:r>
                <a:rPr kumimoji="1" lang="ko-KR" alt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람다식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익명 함수</a:t>
              </a: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 호출됨</a:t>
              </a:r>
              <a:endParaRPr kumimoji="1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58" name="Text Box 20">
            <a:extLst>
              <a:ext uri="{FF2B5EF4-FFF2-40B4-BE49-F238E27FC236}">
                <a16:creationId xmlns:a16="http://schemas.microsoft.com/office/drawing/2014/main" id="{FC37DDEB-7E0D-7903-2986-F7C202412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979" y="518074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함수형 인터페이스 타입의 참조변수로 람다식을 참조할 수 있음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111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7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함수형 인터페이스 </a:t>
            </a:r>
            <a:r>
              <a:rPr lang="en-US" altLang="ko-KR" sz="3200" b="1" dirty="0"/>
              <a:t>–</a:t>
            </a:r>
            <a:r>
              <a:rPr lang="ko-KR" altLang="en-US" sz="3200" b="1" dirty="0"/>
              <a:t> 예시</a:t>
            </a:r>
            <a:endParaRPr lang="en-US" sz="3200" b="1" dirty="0"/>
          </a:p>
        </p:txBody>
      </p:sp>
      <p:grpSp>
        <p:nvGrpSpPr>
          <p:cNvPr id="17" name="그룹 51">
            <a:extLst>
              <a:ext uri="{FF2B5EF4-FFF2-40B4-BE49-F238E27FC236}">
                <a16:creationId xmlns:a16="http://schemas.microsoft.com/office/drawing/2014/main" id="{1C573AD4-9D65-FB39-CCED-791BF033408E}"/>
              </a:ext>
            </a:extLst>
          </p:cNvPr>
          <p:cNvGrpSpPr/>
          <p:nvPr/>
        </p:nvGrpSpPr>
        <p:grpSpPr>
          <a:xfrm>
            <a:off x="1041627" y="2420699"/>
            <a:ext cx="7813782" cy="2622417"/>
            <a:chOff x="770046" y="5484956"/>
            <a:chExt cx="4052636" cy="964117"/>
          </a:xfrm>
        </p:grpSpPr>
        <p:sp>
          <p:nvSpPr>
            <p:cNvPr id="18" name="모서리가 둥근 직사각형 53">
              <a:extLst>
                <a:ext uri="{FF2B5EF4-FFF2-40B4-BE49-F238E27FC236}">
                  <a16:creationId xmlns:a16="http://schemas.microsoft.com/office/drawing/2014/main" id="{7FE5737C-E49E-1080-049A-2C033C488EC7}"/>
                </a:ext>
              </a:extLst>
            </p:cNvPr>
            <p:cNvSpPr/>
            <p:nvPr/>
          </p:nvSpPr>
          <p:spPr bwMode="auto">
            <a:xfrm>
              <a:off x="770046" y="5484956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9" name="직사각형 54">
              <a:extLst>
                <a:ext uri="{FF2B5EF4-FFF2-40B4-BE49-F238E27FC236}">
                  <a16:creationId xmlns:a16="http://schemas.microsoft.com/office/drawing/2014/main" id="{B0D18E8C-A37C-0534-F9FB-E46632DB4E94}"/>
                </a:ext>
              </a:extLst>
            </p:cNvPr>
            <p:cNvSpPr/>
            <p:nvPr/>
          </p:nvSpPr>
          <p:spPr>
            <a:xfrm>
              <a:off x="849511" y="5543854"/>
              <a:ext cx="3973171" cy="905219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List&lt;String&gt; list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Arrays.asList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("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abc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aaa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bbb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ddd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", 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aaa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Collections.sort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(list,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new Comparator&lt;String&gt;()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public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compare(String s1, String s2)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    return s2.compareTo(s1);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                       }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Microsoft Yi Baiti" pitchFamily="66" charset="0"/>
                <a:cs typeface="Courier New" pitchFamily="49" charset="0"/>
              </a:endParaRPr>
            </a:p>
          </p:txBody>
        </p:sp>
      </p:grp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33EF953F-957D-F01A-A48E-10FD6E729096}"/>
              </a:ext>
            </a:extLst>
          </p:cNvPr>
          <p:cNvGrpSpPr/>
          <p:nvPr/>
        </p:nvGrpSpPr>
        <p:grpSpPr>
          <a:xfrm>
            <a:off x="5897858" y="4282862"/>
            <a:ext cx="3249656" cy="1050690"/>
            <a:chOff x="770046" y="5765832"/>
            <a:chExt cx="4052636" cy="1050690"/>
          </a:xfrm>
        </p:grpSpPr>
        <p:sp>
          <p:nvSpPr>
            <p:cNvPr id="21" name="모서리가 둥근 직사각형 36">
              <a:extLst>
                <a:ext uri="{FF2B5EF4-FFF2-40B4-BE49-F238E27FC236}">
                  <a16:creationId xmlns:a16="http://schemas.microsoft.com/office/drawing/2014/main" id="{B6DCC318-220A-4FA1-EA7D-6071D51D0C93}"/>
                </a:ext>
              </a:extLst>
            </p:cNvPr>
            <p:cNvSpPr/>
            <p:nvPr/>
          </p:nvSpPr>
          <p:spPr bwMode="auto">
            <a:xfrm>
              <a:off x="770046" y="5765832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37">
              <a:extLst>
                <a:ext uri="{FF2B5EF4-FFF2-40B4-BE49-F238E27FC236}">
                  <a16:creationId xmlns:a16="http://schemas.microsoft.com/office/drawing/2014/main" id="{D68233A9-C8E9-8BF8-F056-6E92591DDF1E}"/>
                </a:ext>
              </a:extLst>
            </p:cNvPr>
            <p:cNvSpPr/>
            <p:nvPr/>
          </p:nvSpPr>
          <p:spPr>
            <a:xfrm>
              <a:off x="811637" y="5862415"/>
              <a:ext cx="3973172" cy="954107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interface Comparator&lt;T&gt;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compare(T o1, T o2);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grpSp>
        <p:nvGrpSpPr>
          <p:cNvPr id="23" name="그룹 42">
            <a:extLst>
              <a:ext uri="{FF2B5EF4-FFF2-40B4-BE49-F238E27FC236}">
                <a16:creationId xmlns:a16="http://schemas.microsoft.com/office/drawing/2014/main" id="{65F57B72-9603-6FFD-ADEF-D075433B21AB}"/>
              </a:ext>
            </a:extLst>
          </p:cNvPr>
          <p:cNvGrpSpPr/>
          <p:nvPr/>
        </p:nvGrpSpPr>
        <p:grpSpPr>
          <a:xfrm>
            <a:off x="1041627" y="4647992"/>
            <a:ext cx="7813782" cy="1789078"/>
            <a:chOff x="665109" y="4086234"/>
            <a:chExt cx="7813782" cy="1789078"/>
          </a:xfrm>
        </p:grpSpPr>
        <p:grpSp>
          <p:nvGrpSpPr>
            <p:cNvPr id="24" name="그룹 51">
              <a:extLst>
                <a:ext uri="{FF2B5EF4-FFF2-40B4-BE49-F238E27FC236}">
                  <a16:creationId xmlns:a16="http://schemas.microsoft.com/office/drawing/2014/main" id="{DF22425E-A987-7FC9-747F-577695BF728B}"/>
                </a:ext>
              </a:extLst>
            </p:cNvPr>
            <p:cNvGrpSpPr/>
            <p:nvPr/>
          </p:nvGrpSpPr>
          <p:grpSpPr>
            <a:xfrm>
              <a:off x="665109" y="4816494"/>
              <a:ext cx="7813782" cy="1058818"/>
              <a:chOff x="770046" y="5484956"/>
              <a:chExt cx="4052636" cy="1018095"/>
            </a:xfrm>
          </p:grpSpPr>
          <p:sp>
            <p:nvSpPr>
              <p:cNvPr id="26" name="모서리가 둥근 직사각형 28">
                <a:extLst>
                  <a:ext uri="{FF2B5EF4-FFF2-40B4-BE49-F238E27FC236}">
                    <a16:creationId xmlns:a16="http://schemas.microsoft.com/office/drawing/2014/main" id="{D051E2CB-FCEB-B74C-D61C-447F99E3C093}"/>
                  </a:ext>
                </a:extLst>
              </p:cNvPr>
              <p:cNvSpPr/>
              <p:nvPr/>
            </p:nvSpPr>
            <p:spPr bwMode="auto">
              <a:xfrm>
                <a:off x="770046" y="5484956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28" name="직사각형 29">
                <a:extLst>
                  <a:ext uri="{FF2B5EF4-FFF2-40B4-BE49-F238E27FC236}">
                    <a16:creationId xmlns:a16="http://schemas.microsoft.com/office/drawing/2014/main" id="{FEF69D26-F866-5830-F394-E1D1F17C7946}"/>
                  </a:ext>
                </a:extLst>
              </p:cNvPr>
              <p:cNvSpPr/>
              <p:nvPr/>
            </p:nvSpPr>
            <p:spPr>
              <a:xfrm>
                <a:off x="849511" y="5689217"/>
                <a:ext cx="3973171" cy="813834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List&lt;String&gt; list = 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Arrays.asList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("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abc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aaa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bbb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ddd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", "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aaa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");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Collections.sort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(list,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(s1,s2)-&gt; s2.compareTo(s1)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Microsoft Yi Baiti" pitchFamily="66" charset="0"/>
                    <a:cs typeface="Courier New" pitchFamily="49" charset="0"/>
                  </a:rPr>
                  <a:t>);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Microsoft Yi Baiti" pitchFamily="66" charset="0"/>
                  <a:cs typeface="Courier New" pitchFamily="49" charset="0"/>
                </a:endParaRPr>
              </a:p>
            </p:txBody>
          </p:sp>
        </p:grpSp>
        <p:sp>
          <p:nvSpPr>
            <p:cNvPr id="25" name="아래쪽 화살표 41">
              <a:extLst>
                <a:ext uri="{FF2B5EF4-FFF2-40B4-BE49-F238E27FC236}">
                  <a16:creationId xmlns:a16="http://schemas.microsoft.com/office/drawing/2014/main" id="{9D02E4C1-0E1C-A971-EF0A-6795788DF2CD}"/>
                </a:ext>
              </a:extLst>
            </p:cNvPr>
            <p:cNvSpPr/>
            <p:nvPr/>
          </p:nvSpPr>
          <p:spPr bwMode="auto">
            <a:xfrm>
              <a:off x="4352922" y="4086234"/>
              <a:ext cx="438156" cy="1022364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8E71310C-350E-29D7-CD82-B0C56D9CE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31" y="194597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익명 객체를 람다식으로 대체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32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8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23885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함수형 인터페이스</a:t>
            </a:r>
            <a:r>
              <a:rPr lang="en-US" altLang="ko-KR" sz="3200" b="1" dirty="0"/>
              <a:t>(3/3)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–</a:t>
            </a:r>
            <a:r>
              <a:rPr lang="ko-KR" altLang="en-US" sz="3200" b="1" dirty="0"/>
              <a:t> 매개변수와 반환타입</a:t>
            </a:r>
            <a:endParaRPr lang="en-US" sz="3200" b="1" dirty="0"/>
          </a:p>
        </p:txBody>
      </p:sp>
      <p:sp>
        <p:nvSpPr>
          <p:cNvPr id="29" name="Text Box 20">
            <a:extLst>
              <a:ext uri="{FF2B5EF4-FFF2-40B4-BE49-F238E27FC236}">
                <a16:creationId xmlns:a16="http://schemas.microsoft.com/office/drawing/2014/main" id="{3DD34C06-994B-0538-A122-A80377D6E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843" y="189223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함수형 인터페이스 타입의 매개변수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04D95F1F-0296-D054-1FAB-4B3F6C762310}"/>
              </a:ext>
            </a:extLst>
          </p:cNvPr>
          <p:cNvGrpSpPr/>
          <p:nvPr/>
        </p:nvGrpSpPr>
        <p:grpSpPr>
          <a:xfrm>
            <a:off x="1403345" y="2295185"/>
            <a:ext cx="7922153" cy="985851"/>
            <a:chOff x="752303" y="5695606"/>
            <a:chExt cx="4052636" cy="912823"/>
          </a:xfrm>
        </p:grpSpPr>
        <p:sp>
          <p:nvSpPr>
            <p:cNvPr id="31" name="모서리가 둥근 직사각형 28">
              <a:extLst>
                <a:ext uri="{FF2B5EF4-FFF2-40B4-BE49-F238E27FC236}">
                  <a16:creationId xmlns:a16="http://schemas.microsoft.com/office/drawing/2014/main" id="{01C15B57-39D1-6078-9284-2DF222C43756}"/>
                </a:ext>
              </a:extLst>
            </p:cNvPr>
            <p:cNvSpPr/>
            <p:nvPr/>
          </p:nvSpPr>
          <p:spPr bwMode="auto">
            <a:xfrm>
              <a:off x="752303" y="5695606"/>
              <a:ext cx="4052636" cy="912823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29">
              <a:extLst>
                <a:ext uri="{FF2B5EF4-FFF2-40B4-BE49-F238E27FC236}">
                  <a16:creationId xmlns:a16="http://schemas.microsoft.com/office/drawing/2014/main" id="{621BA791-A068-1767-816B-1151D422A61B}"/>
                </a:ext>
              </a:extLst>
            </p:cNvPr>
            <p:cNvSpPr/>
            <p:nvPr/>
          </p:nvSpPr>
          <p:spPr>
            <a:xfrm>
              <a:off x="807741" y="5763223"/>
              <a:ext cx="3961531" cy="769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void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aMethod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f) { </a:t>
              </a:r>
              <a:endPara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f.myMethod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정의된 메서드 호출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5E6414F3-D83E-DCD4-3263-E5109BFBF97B}"/>
              </a:ext>
            </a:extLst>
          </p:cNvPr>
          <p:cNvGrpSpPr/>
          <p:nvPr/>
        </p:nvGrpSpPr>
        <p:grpSpPr>
          <a:xfrm>
            <a:off x="8097020" y="1870377"/>
            <a:ext cx="2767113" cy="1058876"/>
            <a:chOff x="770046" y="5765833"/>
            <a:chExt cx="4052636" cy="912825"/>
          </a:xfrm>
        </p:grpSpPr>
        <p:sp>
          <p:nvSpPr>
            <p:cNvPr id="34" name="모서리가 둥근 직사각형 31">
              <a:extLst>
                <a:ext uri="{FF2B5EF4-FFF2-40B4-BE49-F238E27FC236}">
                  <a16:creationId xmlns:a16="http://schemas.microsoft.com/office/drawing/2014/main" id="{9D17D781-12F3-D9FB-05F1-5D0BA71CFB9A}"/>
                </a:ext>
              </a:extLst>
            </p:cNvPr>
            <p:cNvSpPr/>
            <p:nvPr/>
          </p:nvSpPr>
          <p:spPr bwMode="auto">
            <a:xfrm>
              <a:off x="770046" y="5765833"/>
              <a:ext cx="4052636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32">
              <a:extLst>
                <a:ext uri="{FF2B5EF4-FFF2-40B4-BE49-F238E27FC236}">
                  <a16:creationId xmlns:a16="http://schemas.microsoft.com/office/drawing/2014/main" id="{0DA1F071-1B23-1E38-39E9-98394EAD7FB0}"/>
                </a:ext>
              </a:extLst>
            </p:cNvPr>
            <p:cNvSpPr/>
            <p:nvPr/>
          </p:nvSpPr>
          <p:spPr>
            <a:xfrm>
              <a:off x="811636" y="5862412"/>
              <a:ext cx="3973171" cy="66257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@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FunctionalInterface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interface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void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myMethod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grpSp>
        <p:nvGrpSpPr>
          <p:cNvPr id="36" name="그룹 51">
            <a:extLst>
              <a:ext uri="{FF2B5EF4-FFF2-40B4-BE49-F238E27FC236}">
                <a16:creationId xmlns:a16="http://schemas.microsoft.com/office/drawing/2014/main" id="{5A381DB8-1A6A-4435-01AA-D44EE01F3F8B}"/>
              </a:ext>
            </a:extLst>
          </p:cNvPr>
          <p:cNvGrpSpPr/>
          <p:nvPr/>
        </p:nvGrpSpPr>
        <p:grpSpPr>
          <a:xfrm>
            <a:off x="1402179" y="3427088"/>
            <a:ext cx="7923320" cy="766771"/>
            <a:chOff x="751706" y="5695602"/>
            <a:chExt cx="4053233" cy="132423"/>
          </a:xfrm>
        </p:grpSpPr>
        <p:sp>
          <p:nvSpPr>
            <p:cNvPr id="37" name="모서리가 둥근 직사각형 33">
              <a:extLst>
                <a:ext uri="{FF2B5EF4-FFF2-40B4-BE49-F238E27FC236}">
                  <a16:creationId xmlns:a16="http://schemas.microsoft.com/office/drawing/2014/main" id="{3055E732-5D93-49A9-EFF8-526F9D1AAA4F}"/>
                </a:ext>
              </a:extLst>
            </p:cNvPr>
            <p:cNvSpPr/>
            <p:nvPr/>
          </p:nvSpPr>
          <p:spPr bwMode="auto">
            <a:xfrm>
              <a:off x="751706" y="5695602"/>
              <a:ext cx="4052636" cy="132423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8" name="직사각형 34">
              <a:extLst>
                <a:ext uri="{FF2B5EF4-FFF2-40B4-BE49-F238E27FC236}">
                  <a16:creationId xmlns:a16="http://schemas.microsoft.com/office/drawing/2014/main" id="{03A23508-2728-FA69-619E-A5EBD62CCB40}"/>
                </a:ext>
              </a:extLst>
            </p:cNvPr>
            <p:cNvSpPr/>
            <p:nvPr/>
          </p:nvSpPr>
          <p:spPr>
            <a:xfrm>
              <a:off x="843408" y="5708214"/>
              <a:ext cx="3961531" cy="11428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 = ()-&gt;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myMethod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aMethod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(f);</a:t>
              </a:r>
            </a:p>
          </p:txBody>
        </p:sp>
      </p:grpSp>
      <p:grpSp>
        <p:nvGrpSpPr>
          <p:cNvPr id="39" name="그룹 37">
            <a:extLst>
              <a:ext uri="{FF2B5EF4-FFF2-40B4-BE49-F238E27FC236}">
                <a16:creationId xmlns:a16="http://schemas.microsoft.com/office/drawing/2014/main" id="{1A93FA16-1A24-6178-39A7-D951980D9C56}"/>
              </a:ext>
            </a:extLst>
          </p:cNvPr>
          <p:cNvGrpSpPr/>
          <p:nvPr/>
        </p:nvGrpSpPr>
        <p:grpSpPr>
          <a:xfrm>
            <a:off x="1402178" y="4076985"/>
            <a:ext cx="7923321" cy="737598"/>
            <a:chOff x="774648" y="3969358"/>
            <a:chExt cx="7923321" cy="737598"/>
          </a:xfrm>
        </p:grpSpPr>
        <p:grpSp>
          <p:nvGrpSpPr>
            <p:cNvPr id="40" name="그룹 51">
              <a:extLst>
                <a:ext uri="{FF2B5EF4-FFF2-40B4-BE49-F238E27FC236}">
                  <a16:creationId xmlns:a16="http://schemas.microsoft.com/office/drawing/2014/main" id="{5302F3A6-5B58-64A8-CB66-E9CB8398D0D1}"/>
                </a:ext>
              </a:extLst>
            </p:cNvPr>
            <p:cNvGrpSpPr/>
            <p:nvPr/>
          </p:nvGrpSpPr>
          <p:grpSpPr>
            <a:xfrm>
              <a:off x="774648" y="4232286"/>
              <a:ext cx="7923321" cy="474670"/>
              <a:chOff x="770046" y="5484956"/>
              <a:chExt cx="4052636" cy="912824"/>
            </a:xfrm>
          </p:grpSpPr>
          <p:sp>
            <p:nvSpPr>
              <p:cNvPr id="42" name="모서리가 둥근 직사각형 53">
                <a:extLst>
                  <a:ext uri="{FF2B5EF4-FFF2-40B4-BE49-F238E27FC236}">
                    <a16:creationId xmlns:a16="http://schemas.microsoft.com/office/drawing/2014/main" id="{0AEDD7E5-DF74-26CF-5D06-6439CEFC7AE5}"/>
                  </a:ext>
                </a:extLst>
              </p:cNvPr>
              <p:cNvSpPr/>
              <p:nvPr/>
            </p:nvSpPr>
            <p:spPr bwMode="auto">
              <a:xfrm>
                <a:off x="770046" y="5484956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3" name="직사각형 54">
                <a:extLst>
                  <a:ext uri="{FF2B5EF4-FFF2-40B4-BE49-F238E27FC236}">
                    <a16:creationId xmlns:a16="http://schemas.microsoft.com/office/drawing/2014/main" id="{9DF56169-8548-D089-1A89-C06DB305135A}"/>
                  </a:ext>
                </a:extLst>
              </p:cNvPr>
              <p:cNvSpPr/>
              <p:nvPr/>
            </p:nvSpPr>
            <p:spPr>
              <a:xfrm>
                <a:off x="770047" y="5625392"/>
                <a:ext cx="3973171" cy="651063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aMethod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()-&gt;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System.out.println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("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myMethod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()")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);</a:t>
                </a:r>
              </a:p>
            </p:txBody>
          </p:sp>
        </p:grpSp>
        <p:sp>
          <p:nvSpPr>
            <p:cNvPr id="41" name="아래쪽 화살표 36">
              <a:extLst>
                <a:ext uri="{FF2B5EF4-FFF2-40B4-BE49-F238E27FC236}">
                  <a16:creationId xmlns:a16="http://schemas.microsoft.com/office/drawing/2014/main" id="{3F79FE9B-CA27-03A0-10F5-148F33E0372A}"/>
                </a:ext>
              </a:extLst>
            </p:cNvPr>
            <p:cNvSpPr/>
            <p:nvPr/>
          </p:nvSpPr>
          <p:spPr bwMode="auto">
            <a:xfrm>
              <a:off x="4462461" y="3969358"/>
              <a:ext cx="438156" cy="408980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4" name="Text Box 20">
            <a:extLst>
              <a:ext uri="{FF2B5EF4-FFF2-40B4-BE49-F238E27FC236}">
                <a16:creationId xmlns:a16="http://schemas.microsoft.com/office/drawing/2014/main" id="{A6CB0D43-96D1-7AE6-1552-BFC4D85DA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656" y="5051314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함수형 인터페이스 타입의 반환타입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45" name="그룹 51">
            <a:extLst>
              <a:ext uri="{FF2B5EF4-FFF2-40B4-BE49-F238E27FC236}">
                <a16:creationId xmlns:a16="http://schemas.microsoft.com/office/drawing/2014/main" id="{39048D2D-28CB-0EF9-0FB1-DB66ECEB0ACC}"/>
              </a:ext>
            </a:extLst>
          </p:cNvPr>
          <p:cNvGrpSpPr/>
          <p:nvPr/>
        </p:nvGrpSpPr>
        <p:grpSpPr>
          <a:xfrm>
            <a:off x="1402178" y="5473778"/>
            <a:ext cx="3687813" cy="1204929"/>
            <a:chOff x="752303" y="5695606"/>
            <a:chExt cx="4052636" cy="912823"/>
          </a:xfrm>
        </p:grpSpPr>
        <p:sp>
          <p:nvSpPr>
            <p:cNvPr id="46" name="모서리가 둥근 직사각형 42">
              <a:extLst>
                <a:ext uri="{FF2B5EF4-FFF2-40B4-BE49-F238E27FC236}">
                  <a16:creationId xmlns:a16="http://schemas.microsoft.com/office/drawing/2014/main" id="{CC225CF9-0027-F4F4-D0C8-F41BE0434A75}"/>
                </a:ext>
              </a:extLst>
            </p:cNvPr>
            <p:cNvSpPr/>
            <p:nvPr/>
          </p:nvSpPr>
          <p:spPr bwMode="auto">
            <a:xfrm>
              <a:off x="752303" y="5695606"/>
              <a:ext cx="4052636" cy="912823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7" name="직사각형 43">
              <a:extLst>
                <a:ext uri="{FF2B5EF4-FFF2-40B4-BE49-F238E27FC236}">
                  <a16:creationId xmlns:a16="http://schemas.microsoft.com/office/drawing/2014/main" id="{53FDF312-5484-225A-D4B6-FDDE8AC33EA5}"/>
                </a:ext>
              </a:extLst>
            </p:cNvPr>
            <p:cNvSpPr/>
            <p:nvPr/>
          </p:nvSpPr>
          <p:spPr>
            <a:xfrm>
              <a:off x="807741" y="5763226"/>
              <a:ext cx="3961531" cy="8160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myMethod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{ </a:t>
              </a:r>
              <a:endPara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MyFunction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 = ()-&gt;{};</a:t>
              </a:r>
              <a:endPara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return f;</a:t>
              </a:r>
              <a:endPara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grpSp>
        <p:nvGrpSpPr>
          <p:cNvPr id="48" name="그룹 49">
            <a:extLst>
              <a:ext uri="{FF2B5EF4-FFF2-40B4-BE49-F238E27FC236}">
                <a16:creationId xmlns:a16="http://schemas.microsoft.com/office/drawing/2014/main" id="{1D18A5FB-F571-C39B-C766-C349015D00F6}"/>
              </a:ext>
            </a:extLst>
          </p:cNvPr>
          <p:cNvGrpSpPr/>
          <p:nvPr/>
        </p:nvGrpSpPr>
        <p:grpSpPr>
          <a:xfrm>
            <a:off x="4943939" y="5473778"/>
            <a:ext cx="4162482" cy="1204929"/>
            <a:chOff x="4352922" y="5473728"/>
            <a:chExt cx="4162482" cy="1204929"/>
          </a:xfrm>
        </p:grpSpPr>
        <p:grpSp>
          <p:nvGrpSpPr>
            <p:cNvPr id="49" name="그룹 51">
              <a:extLst>
                <a:ext uri="{FF2B5EF4-FFF2-40B4-BE49-F238E27FC236}">
                  <a16:creationId xmlns:a16="http://schemas.microsoft.com/office/drawing/2014/main" id="{2A6C069A-5D63-35FE-8F2B-83D521812A13}"/>
                </a:ext>
              </a:extLst>
            </p:cNvPr>
            <p:cNvGrpSpPr/>
            <p:nvPr/>
          </p:nvGrpSpPr>
          <p:grpSpPr>
            <a:xfrm>
              <a:off x="4827591" y="5473728"/>
              <a:ext cx="3687813" cy="1204929"/>
              <a:chOff x="752303" y="5695606"/>
              <a:chExt cx="4052636" cy="912823"/>
            </a:xfrm>
          </p:grpSpPr>
          <p:sp>
            <p:nvSpPr>
              <p:cNvPr id="51" name="모서리가 둥근 직사각형 45">
                <a:extLst>
                  <a:ext uri="{FF2B5EF4-FFF2-40B4-BE49-F238E27FC236}">
                    <a16:creationId xmlns:a16="http://schemas.microsoft.com/office/drawing/2014/main" id="{3A21660C-BB6D-F9FE-E441-3EAF7F1E1D66}"/>
                  </a:ext>
                </a:extLst>
              </p:cNvPr>
              <p:cNvSpPr/>
              <p:nvPr/>
            </p:nvSpPr>
            <p:spPr bwMode="auto">
              <a:xfrm>
                <a:off x="752303" y="5695606"/>
                <a:ext cx="4052636" cy="912823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52" name="직사각형 46">
                <a:extLst>
                  <a:ext uri="{FF2B5EF4-FFF2-40B4-BE49-F238E27FC236}">
                    <a16:creationId xmlns:a16="http://schemas.microsoft.com/office/drawing/2014/main" id="{D54970BA-FD20-50A1-B3FB-11DE4A48F2CA}"/>
                  </a:ext>
                </a:extLst>
              </p:cNvPr>
              <p:cNvSpPr/>
              <p:nvPr/>
            </p:nvSpPr>
            <p:spPr>
              <a:xfrm>
                <a:off x="807741" y="5840581"/>
                <a:ext cx="3961531" cy="629542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MyFunction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</a:t>
                </a:r>
                <a:r>
                  <a:rPr kumimoji="1" lang="en-US" sz="16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myMethod</a:t>
                </a: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 { </a:t>
                </a:r>
                <a:endPara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return ()-&gt;{};</a:t>
                </a:r>
                <a:endPara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}</a:t>
                </a:r>
              </a:p>
            </p:txBody>
          </p:sp>
        </p:grpSp>
        <p:sp>
          <p:nvSpPr>
            <p:cNvPr id="50" name="자유형 48">
              <a:extLst>
                <a:ext uri="{FF2B5EF4-FFF2-40B4-BE49-F238E27FC236}">
                  <a16:creationId xmlns:a16="http://schemas.microsoft.com/office/drawing/2014/main" id="{B645F7F7-1D8A-147B-81B5-4F9D12C77780}"/>
                </a:ext>
              </a:extLst>
            </p:cNvPr>
            <p:cNvSpPr/>
            <p:nvPr/>
          </p:nvSpPr>
          <p:spPr bwMode="auto">
            <a:xfrm flipV="1">
              <a:off x="4352922" y="5948397"/>
              <a:ext cx="730260" cy="276999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67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9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(1/5)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자주 사용되는 다양한 함수형 인터페이스를 제공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</a:t>
            </a:r>
          </a:p>
        </p:txBody>
      </p:sp>
      <p:grpSp>
        <p:nvGrpSpPr>
          <p:cNvPr id="9" name="그룹 51">
            <a:extLst>
              <a:ext uri="{FF2B5EF4-FFF2-40B4-BE49-F238E27FC236}">
                <a16:creationId xmlns:a16="http://schemas.microsoft.com/office/drawing/2014/main" id="{4AFAEF64-E59D-A2FA-5795-89510E8249D1}"/>
              </a:ext>
            </a:extLst>
          </p:cNvPr>
          <p:cNvGrpSpPr/>
          <p:nvPr/>
        </p:nvGrpSpPr>
        <p:grpSpPr>
          <a:xfrm>
            <a:off x="1728039" y="5119256"/>
            <a:ext cx="6644198" cy="1331999"/>
            <a:chOff x="752303" y="5695603"/>
            <a:chExt cx="4052636" cy="1303150"/>
          </a:xfrm>
        </p:grpSpPr>
        <p:sp>
          <p:nvSpPr>
            <p:cNvPr id="11" name="모서리가 둥근 직사각형 30">
              <a:extLst>
                <a:ext uri="{FF2B5EF4-FFF2-40B4-BE49-F238E27FC236}">
                  <a16:creationId xmlns:a16="http://schemas.microsoft.com/office/drawing/2014/main" id="{D9396FC6-DFF4-3152-04F1-F53E292EDD7B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2" name="직사각형 33">
              <a:extLst>
                <a:ext uri="{FF2B5EF4-FFF2-40B4-BE49-F238E27FC236}">
                  <a16:creationId xmlns:a16="http://schemas.microsoft.com/office/drawing/2014/main" id="{C8F5F228-94A5-EEDB-77E5-3E64155F4966}"/>
                </a:ext>
              </a:extLst>
            </p:cNvPr>
            <p:cNvSpPr/>
            <p:nvPr/>
          </p:nvSpPr>
          <p:spPr>
            <a:xfrm>
              <a:off x="807741" y="5777257"/>
              <a:ext cx="3961531" cy="11442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Predicate&lt;String&gt;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isEmptyStr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s.length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()==0;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String s = "";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if(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isEmptyStr.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test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(s)) // if(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s.length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()==0)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("This is an empty String.");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B640941-EBB8-0434-1EAE-5FA2473DD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80" y="2000283"/>
            <a:ext cx="69215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10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 - Quiz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/>
              <a:t>Q. </a:t>
            </a:r>
            <a:r>
              <a:rPr lang="ko-KR" altLang="en-US" b="1" dirty="0"/>
              <a:t>아래의 빈 칸에 알맞은 함수형 인터페이스</a:t>
            </a:r>
            <a:r>
              <a:rPr lang="en-US" altLang="ko-KR" b="1" dirty="0"/>
              <a:t>(</a:t>
            </a:r>
            <a:r>
              <a:rPr lang="en-US" altLang="ko-KR" b="1" dirty="0" err="1"/>
              <a:t>java.util.function</a:t>
            </a:r>
            <a:r>
              <a:rPr lang="ko-KR" altLang="en-US" b="1" dirty="0"/>
              <a:t>패키지</a:t>
            </a:r>
            <a:r>
              <a:rPr lang="en-US" altLang="ko-KR" b="1" dirty="0"/>
              <a:t>)</a:t>
            </a:r>
            <a:r>
              <a:rPr lang="ko-KR" altLang="en-US" b="1" dirty="0" err="1"/>
              <a:t>를</a:t>
            </a:r>
            <a:r>
              <a:rPr lang="ko-KR" altLang="en-US" b="1" dirty="0"/>
              <a:t> </a:t>
            </a:r>
            <a:r>
              <a:rPr lang="ko-KR" altLang="en-US" b="1" dirty="0" err="1"/>
              <a:t>적으시오</a:t>
            </a:r>
            <a:r>
              <a:rPr lang="en-US" altLang="ko-KR" b="1" dirty="0"/>
              <a:t>.</a:t>
            </a:r>
          </a:p>
        </p:txBody>
      </p:sp>
      <p:grpSp>
        <p:nvGrpSpPr>
          <p:cNvPr id="7" name="그룹 51">
            <a:extLst>
              <a:ext uri="{FF2B5EF4-FFF2-40B4-BE49-F238E27FC236}">
                <a16:creationId xmlns:a16="http://schemas.microsoft.com/office/drawing/2014/main" id="{94A47922-1C09-AC06-D1F0-B78A00CA7C04}"/>
              </a:ext>
            </a:extLst>
          </p:cNvPr>
          <p:cNvGrpSpPr/>
          <p:nvPr/>
        </p:nvGrpSpPr>
        <p:grpSpPr>
          <a:xfrm>
            <a:off x="969255" y="2138964"/>
            <a:ext cx="8105886" cy="1639199"/>
            <a:chOff x="752303" y="5695603"/>
            <a:chExt cx="4052636" cy="1303150"/>
          </a:xfrm>
        </p:grpSpPr>
        <p:sp>
          <p:nvSpPr>
            <p:cNvPr id="14" name="모서리가 둥근 직사각형 30">
              <a:extLst>
                <a:ext uri="{FF2B5EF4-FFF2-40B4-BE49-F238E27FC236}">
                  <a16:creationId xmlns:a16="http://schemas.microsoft.com/office/drawing/2014/main" id="{3985904A-614F-4992-90DB-7F078F0EBC6A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5" name="직사각형 33">
              <a:extLst>
                <a:ext uri="{FF2B5EF4-FFF2-40B4-BE49-F238E27FC236}">
                  <a16:creationId xmlns:a16="http://schemas.microsoft.com/office/drawing/2014/main" id="{495E8088-8430-2969-187E-B1A74FDC1C4F}"/>
                </a:ext>
              </a:extLst>
            </p:cNvPr>
            <p:cNvSpPr/>
            <p:nvPr/>
          </p:nvSpPr>
          <p:spPr>
            <a:xfrm>
              <a:off x="807741" y="5763227"/>
              <a:ext cx="3961531" cy="110106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[ 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➀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    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]  f = ()-&gt; 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Math.random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()*100)+1;</a:t>
              </a:r>
            </a:p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[ 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➁ 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   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]  f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+", "); </a:t>
              </a:r>
            </a:p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[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➂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    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]  f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i%2==0; </a:t>
              </a:r>
            </a:p>
            <a:p>
              <a:pPr marL="0" marR="0" lvl="0" indent="0" defTabSz="914400" eaLnBrk="1" fontAlgn="base" latinLnBrk="1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[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➃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견명조" pitchFamily="18" charset="-127"/>
                </a:rPr>
                <a:t>     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]  f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/10*10; 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37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(2/5)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72027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ko-KR" altLang="en-US" b="1" dirty="0"/>
              <a:t>매개변수가 </a:t>
            </a:r>
            <a:r>
              <a:rPr lang="en-US" altLang="ko-KR" b="1" dirty="0"/>
              <a:t>2</a:t>
            </a:r>
            <a:r>
              <a:rPr lang="ko-KR" altLang="en-US" b="1" dirty="0"/>
              <a:t>개인 함수형 인터페이스</a:t>
            </a:r>
            <a:endParaRPr lang="en-US" altLang="ko-KR" b="1" dirty="0"/>
          </a:p>
        </p:txBody>
      </p: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3BB1287E-E275-5FD1-EC39-A03B28CC407C}"/>
              </a:ext>
            </a:extLst>
          </p:cNvPr>
          <p:cNvGrpSpPr/>
          <p:nvPr/>
        </p:nvGrpSpPr>
        <p:grpSpPr>
          <a:xfrm>
            <a:off x="1065304" y="4414849"/>
            <a:ext cx="6826763" cy="1460524"/>
            <a:chOff x="752303" y="5695603"/>
            <a:chExt cx="4052636" cy="1303150"/>
          </a:xfrm>
        </p:grpSpPr>
        <p:sp>
          <p:nvSpPr>
            <p:cNvPr id="36" name="모서리가 둥근 직사각형 30">
              <a:extLst>
                <a:ext uri="{FF2B5EF4-FFF2-40B4-BE49-F238E27FC236}">
                  <a16:creationId xmlns:a16="http://schemas.microsoft.com/office/drawing/2014/main" id="{4B3A22EC-638B-4A10-F2E5-1376566275C7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7" name="직사각형 33">
              <a:extLst>
                <a:ext uri="{FF2B5EF4-FFF2-40B4-BE49-F238E27FC236}">
                  <a16:creationId xmlns:a16="http://schemas.microsoft.com/office/drawing/2014/main" id="{EC44A0F0-077A-584B-E9C9-DCA60B3051AB}"/>
                </a:ext>
              </a:extLst>
            </p:cNvPr>
            <p:cNvSpPr/>
            <p:nvPr/>
          </p:nvSpPr>
          <p:spPr>
            <a:xfrm>
              <a:off x="807741" y="5763226"/>
              <a:ext cx="3961531" cy="117036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@FunctionalInterface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interface </a:t>
              </a: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Tri</a:t>
              </a: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</a:t>
              </a: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T,U,V</a:t>
              </a: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,R&gt;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R apply(T t, U u, V v);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}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08324966-16E1-9133-C535-7EE9D512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09" y="2101850"/>
            <a:ext cx="70739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(3/5)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72027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ko-KR" altLang="en-US" b="1" dirty="0"/>
              <a:t>매개변수의 타입과 반환타입이 일치하는 함수형 인터페이스</a:t>
            </a:r>
            <a:endParaRPr lang="en-US" altLang="ko-KR" b="1" dirty="0"/>
          </a:p>
        </p:txBody>
      </p:sp>
      <p:grpSp>
        <p:nvGrpSpPr>
          <p:cNvPr id="25" name="그룹 51">
            <a:extLst>
              <a:ext uri="{FF2B5EF4-FFF2-40B4-BE49-F238E27FC236}">
                <a16:creationId xmlns:a16="http://schemas.microsoft.com/office/drawing/2014/main" id="{02D7A347-D4D9-0722-A6CB-3C920143BD70}"/>
              </a:ext>
            </a:extLst>
          </p:cNvPr>
          <p:cNvGrpSpPr/>
          <p:nvPr/>
        </p:nvGrpSpPr>
        <p:grpSpPr>
          <a:xfrm>
            <a:off x="900806" y="3813367"/>
            <a:ext cx="7521678" cy="1424006"/>
            <a:chOff x="752303" y="5695603"/>
            <a:chExt cx="4052636" cy="1303150"/>
          </a:xfrm>
        </p:grpSpPr>
        <p:sp>
          <p:nvSpPr>
            <p:cNvPr id="26" name="모서리가 둥근 직사각형 17">
              <a:extLst>
                <a:ext uri="{FF2B5EF4-FFF2-40B4-BE49-F238E27FC236}">
                  <a16:creationId xmlns:a16="http://schemas.microsoft.com/office/drawing/2014/main" id="{757C0AB8-8E68-5C8D-18FE-CCFEEE7A8320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7" name="직사각형 18">
              <a:extLst>
                <a:ext uri="{FF2B5EF4-FFF2-40B4-BE49-F238E27FC236}">
                  <a16:creationId xmlns:a16="http://schemas.microsoft.com/office/drawing/2014/main" id="{49AF5C8F-E450-1F45-C272-E26FE25ABF87}"/>
                </a:ext>
              </a:extLst>
            </p:cNvPr>
            <p:cNvSpPr/>
            <p:nvPr/>
          </p:nvSpPr>
          <p:spPr>
            <a:xfrm>
              <a:off x="807741" y="5729015"/>
              <a:ext cx="3961531" cy="126745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@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FunctionalInterface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public interface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UnaryOperator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extends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Function&lt;T,T&gt;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static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&lt;T&gt;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UnaryOperator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identity()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return t -&gt; t;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}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28" name="그룹 51">
            <a:extLst>
              <a:ext uri="{FF2B5EF4-FFF2-40B4-BE49-F238E27FC236}">
                <a16:creationId xmlns:a16="http://schemas.microsoft.com/office/drawing/2014/main" id="{AE2D0BBD-D7F5-221C-90E7-A912D1C136F3}"/>
              </a:ext>
            </a:extLst>
          </p:cNvPr>
          <p:cNvGrpSpPr/>
          <p:nvPr/>
        </p:nvGrpSpPr>
        <p:grpSpPr>
          <a:xfrm>
            <a:off x="4783880" y="4653819"/>
            <a:ext cx="4308534" cy="1424006"/>
            <a:chOff x="752303" y="5695603"/>
            <a:chExt cx="4052636" cy="1303150"/>
          </a:xfrm>
        </p:grpSpPr>
        <p:sp>
          <p:nvSpPr>
            <p:cNvPr id="29" name="모서리가 둥근 직사각형 20">
              <a:extLst>
                <a:ext uri="{FF2B5EF4-FFF2-40B4-BE49-F238E27FC236}">
                  <a16:creationId xmlns:a16="http://schemas.microsoft.com/office/drawing/2014/main" id="{697DB74F-3D32-751A-8477-77B5488346FD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0" name="직사각형 21">
              <a:extLst>
                <a:ext uri="{FF2B5EF4-FFF2-40B4-BE49-F238E27FC236}">
                  <a16:creationId xmlns:a16="http://schemas.microsoft.com/office/drawing/2014/main" id="{F6CCE0E1-6528-5078-EE3A-D26B06A9A02B}"/>
                </a:ext>
              </a:extLst>
            </p:cNvPr>
            <p:cNvSpPr/>
            <p:nvPr/>
          </p:nvSpPr>
          <p:spPr>
            <a:xfrm>
              <a:off x="807741" y="5813421"/>
              <a:ext cx="3961531" cy="107029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@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FunctionalInterface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public interface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Function&lt;T,R&gt;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R apply(T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}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4405E86F-1876-F7DC-1D25-EE779F7C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30" y="2081679"/>
            <a:ext cx="70358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0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(4/5)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자주 사용되는 다양한 함수형 인터페이스를 제공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</a:t>
            </a:r>
          </a:p>
        </p:txBody>
      </p:sp>
      <p:grpSp>
        <p:nvGrpSpPr>
          <p:cNvPr id="7" name="그룹 51">
            <a:extLst>
              <a:ext uri="{FF2B5EF4-FFF2-40B4-BE49-F238E27FC236}">
                <a16:creationId xmlns:a16="http://schemas.microsoft.com/office/drawing/2014/main" id="{34AC57CB-F18F-1044-CA9E-5050AB8438C7}"/>
              </a:ext>
            </a:extLst>
          </p:cNvPr>
          <p:cNvGrpSpPr/>
          <p:nvPr/>
        </p:nvGrpSpPr>
        <p:grpSpPr>
          <a:xfrm>
            <a:off x="1438036" y="5106632"/>
            <a:ext cx="7521678" cy="1460524"/>
            <a:chOff x="752303" y="5695603"/>
            <a:chExt cx="4052636" cy="1303150"/>
          </a:xfrm>
        </p:grpSpPr>
        <p:sp>
          <p:nvSpPr>
            <p:cNvPr id="9" name="모서리가 둥근 직사각형 14">
              <a:extLst>
                <a:ext uri="{FF2B5EF4-FFF2-40B4-BE49-F238E27FC236}">
                  <a16:creationId xmlns:a16="http://schemas.microsoft.com/office/drawing/2014/main" id="{CC4EEFA9-7205-6D61-1688-1935484DD4EC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1" name="직사각형 15">
              <a:extLst>
                <a:ext uri="{FF2B5EF4-FFF2-40B4-BE49-F238E27FC236}">
                  <a16:creationId xmlns:a16="http://schemas.microsoft.com/office/drawing/2014/main" id="{7070F490-EB6D-050F-E821-A0DF26CF3A78}"/>
                </a:ext>
              </a:extLst>
            </p:cNvPr>
            <p:cNvSpPr/>
            <p:nvPr/>
          </p:nvSpPr>
          <p:spPr>
            <a:xfrm>
              <a:off x="807741" y="5763226"/>
              <a:ext cx="3961531" cy="111218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list.forEach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+",")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// list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모든 요소를 출력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list.removeIf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x-&gt; x%2==0 || x%3==0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     // 2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또는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3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배수를 제거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list.replaceAll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*10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       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모든 요소에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10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곱한다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// map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모든 요소를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{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k,v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형식으로 출력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map.forEach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k,v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)-&gt;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("{"+k+","+v+"},")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750AD9E-5EF9-E2FB-503C-0A89C89AE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7" y="2018927"/>
            <a:ext cx="70485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2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14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java.util.function</a:t>
            </a:r>
            <a:r>
              <a:rPr lang="ko-KR" altLang="en-US" sz="3200" b="1" dirty="0"/>
              <a:t>패키지</a:t>
            </a:r>
            <a:r>
              <a:rPr lang="en-US" altLang="ko-KR" sz="3200" b="1" dirty="0"/>
              <a:t>(5/5)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기본형을 사용하는 함수형 인터페이스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0A6D6-48AA-C058-091D-11C6C573A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59" y="2032374"/>
            <a:ext cx="7112000" cy="2578100"/>
          </a:xfrm>
          <a:prstGeom prst="rect">
            <a:avLst/>
          </a:prstGeom>
        </p:spPr>
      </p:pic>
      <p:grpSp>
        <p:nvGrpSpPr>
          <p:cNvPr id="15" name="그룹 51">
            <a:extLst>
              <a:ext uri="{FF2B5EF4-FFF2-40B4-BE49-F238E27FC236}">
                <a16:creationId xmlns:a16="http://schemas.microsoft.com/office/drawing/2014/main" id="{06747CD1-CBB9-A99A-7411-74B2B21F7FCB}"/>
              </a:ext>
            </a:extLst>
          </p:cNvPr>
          <p:cNvGrpSpPr/>
          <p:nvPr/>
        </p:nvGrpSpPr>
        <p:grpSpPr>
          <a:xfrm>
            <a:off x="1633951" y="4629159"/>
            <a:ext cx="7813782" cy="990621"/>
            <a:chOff x="752303" y="5695604"/>
            <a:chExt cx="4131328" cy="1309458"/>
          </a:xfrm>
        </p:grpSpPr>
        <p:sp>
          <p:nvSpPr>
            <p:cNvPr id="16" name="모서리가 둥근 직사각형 19">
              <a:extLst>
                <a:ext uri="{FF2B5EF4-FFF2-40B4-BE49-F238E27FC236}">
                  <a16:creationId xmlns:a16="http://schemas.microsoft.com/office/drawing/2014/main" id="{D0A52F4A-BFD8-3282-B89E-29D1018898AF}"/>
                </a:ext>
              </a:extLst>
            </p:cNvPr>
            <p:cNvSpPr/>
            <p:nvPr/>
          </p:nvSpPr>
          <p:spPr bwMode="auto">
            <a:xfrm>
              <a:off x="752303" y="5695604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7" name="직사각형 20">
              <a:extLst>
                <a:ext uri="{FF2B5EF4-FFF2-40B4-BE49-F238E27FC236}">
                  <a16:creationId xmlns:a16="http://schemas.microsoft.com/office/drawing/2014/main" id="{143B60FE-B059-703F-FC99-3BB6D303E21A}"/>
                </a:ext>
              </a:extLst>
            </p:cNvPr>
            <p:cNvSpPr/>
            <p:nvPr/>
          </p:nvSpPr>
          <p:spPr>
            <a:xfrm>
              <a:off x="807741" y="5743870"/>
              <a:ext cx="4075890" cy="126119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Supplier&lt;Integer&gt;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 = ()-&gt;(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Math.random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()*100)+1;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static &lt;T&gt; void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makeRandomList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Supplier&lt;T&gt;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s, List&lt;T&gt; list)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for(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=0;i&lt;10;i++)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list.add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())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List&lt;Integer&gt; list = new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ArrayList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&lt;&gt;();</a:t>
              </a:r>
            </a:p>
          </p:txBody>
        </p:sp>
      </p:grpSp>
      <p:grpSp>
        <p:nvGrpSpPr>
          <p:cNvPr id="18" name="그룹 27">
            <a:extLst>
              <a:ext uri="{FF2B5EF4-FFF2-40B4-BE49-F238E27FC236}">
                <a16:creationId xmlns:a16="http://schemas.microsoft.com/office/drawing/2014/main" id="{7C890C3C-4EEB-8616-99F9-A289A562EA54}"/>
              </a:ext>
            </a:extLst>
          </p:cNvPr>
          <p:cNvGrpSpPr/>
          <p:nvPr/>
        </p:nvGrpSpPr>
        <p:grpSpPr>
          <a:xfrm>
            <a:off x="1633951" y="5578497"/>
            <a:ext cx="7813782" cy="1136673"/>
            <a:chOff x="701622" y="5656293"/>
            <a:chExt cx="7813782" cy="1136673"/>
          </a:xfrm>
        </p:grpSpPr>
        <p:grpSp>
          <p:nvGrpSpPr>
            <p:cNvPr id="19" name="그룹 51">
              <a:extLst>
                <a:ext uri="{FF2B5EF4-FFF2-40B4-BE49-F238E27FC236}">
                  <a16:creationId xmlns:a16="http://schemas.microsoft.com/office/drawing/2014/main" id="{B76B13E0-4582-00FA-56E2-0D71B6322190}"/>
                </a:ext>
              </a:extLst>
            </p:cNvPr>
            <p:cNvGrpSpPr/>
            <p:nvPr/>
          </p:nvGrpSpPr>
          <p:grpSpPr>
            <a:xfrm>
              <a:off x="701622" y="5802349"/>
              <a:ext cx="7813782" cy="990617"/>
              <a:chOff x="752303" y="5695604"/>
              <a:chExt cx="4131328" cy="1309452"/>
            </a:xfrm>
          </p:grpSpPr>
          <p:sp>
            <p:nvSpPr>
              <p:cNvPr id="21" name="모서리가 둥근 직사각형 30">
                <a:extLst>
                  <a:ext uri="{FF2B5EF4-FFF2-40B4-BE49-F238E27FC236}">
                    <a16:creationId xmlns:a16="http://schemas.microsoft.com/office/drawing/2014/main" id="{5E63CEA0-9065-F12C-94F4-A0B8BB9DDE63}"/>
                  </a:ext>
                </a:extLst>
              </p:cNvPr>
              <p:cNvSpPr/>
              <p:nvPr/>
            </p:nvSpPr>
            <p:spPr bwMode="auto">
              <a:xfrm>
                <a:off x="752303" y="5695604"/>
                <a:ext cx="4052636" cy="1303150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22" name="직사각형 31">
                <a:extLst>
                  <a:ext uri="{FF2B5EF4-FFF2-40B4-BE49-F238E27FC236}">
                    <a16:creationId xmlns:a16="http://schemas.microsoft.com/office/drawing/2014/main" id="{8C3353B8-CC1F-3E51-7200-CBB7C63200A9}"/>
                  </a:ext>
                </a:extLst>
              </p:cNvPr>
              <p:cNvSpPr/>
              <p:nvPr/>
            </p:nvSpPr>
            <p:spPr>
              <a:xfrm>
                <a:off x="807741" y="5743865"/>
                <a:ext cx="4075890" cy="126119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IntSupplier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s = ()-&gt;(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Math.random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()*100)+1;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static void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makeRandomList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IntSupplier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s,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[]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arr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 {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for(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=0;i&lt;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arr.length;i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++)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arr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[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] =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s.getAsInt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;   // get()</a:t>
                </a:r>
                <a:r>
                  <a:rPr kumimoji="1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이 아니라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getAsInt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  <a:r>
                  <a:rPr kumimoji="1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임에 주의</a:t>
                </a:r>
                <a:endPara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20" name="아래쪽 화살표 29">
              <a:extLst>
                <a:ext uri="{FF2B5EF4-FFF2-40B4-BE49-F238E27FC236}">
                  <a16:creationId xmlns:a16="http://schemas.microsoft.com/office/drawing/2014/main" id="{E8F39CBB-6C9C-D6FB-68BA-8F7DC3E9A158}"/>
                </a:ext>
              </a:extLst>
            </p:cNvPr>
            <p:cNvSpPr/>
            <p:nvPr/>
          </p:nvSpPr>
          <p:spPr bwMode="auto">
            <a:xfrm>
              <a:off x="4425948" y="5656293"/>
              <a:ext cx="328617" cy="255591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pic>
        <p:nvPicPr>
          <p:cNvPr id="23" name="Picture 8">
            <a:extLst>
              <a:ext uri="{FF2B5EF4-FFF2-40B4-BE49-F238E27FC236}">
                <a16:creationId xmlns:a16="http://schemas.microsoft.com/office/drawing/2014/main" id="{939DB9B2-675F-5538-C7FE-4487E201A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5368" y="772458"/>
            <a:ext cx="3176631" cy="81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284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15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Function</a:t>
            </a:r>
            <a:r>
              <a:rPr lang="ko-KR" altLang="en-US" sz="3200" b="1" dirty="0"/>
              <a:t>의 합성</a:t>
            </a:r>
            <a:r>
              <a:rPr lang="en-US" altLang="ko-KR" sz="3200" b="1" dirty="0"/>
              <a:t>(1/2)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Function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타입의 두 람다식을 하나로 합성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andThen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6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7" name="그룹 51">
            <a:extLst>
              <a:ext uri="{FF2B5EF4-FFF2-40B4-BE49-F238E27FC236}">
                <a16:creationId xmlns:a16="http://schemas.microsoft.com/office/drawing/2014/main" id="{083F118A-4C72-483A-7917-AABAE1B62141}"/>
              </a:ext>
            </a:extLst>
          </p:cNvPr>
          <p:cNvGrpSpPr/>
          <p:nvPr/>
        </p:nvGrpSpPr>
        <p:grpSpPr>
          <a:xfrm>
            <a:off x="774648" y="2128821"/>
            <a:ext cx="7841398" cy="949336"/>
            <a:chOff x="752303" y="5695603"/>
            <a:chExt cx="4086053" cy="1303150"/>
          </a:xfrm>
        </p:grpSpPr>
        <p:sp>
          <p:nvSpPr>
            <p:cNvPr id="9" name="모서리가 둥근 직사각형 24">
              <a:extLst>
                <a:ext uri="{FF2B5EF4-FFF2-40B4-BE49-F238E27FC236}">
                  <a16:creationId xmlns:a16="http://schemas.microsoft.com/office/drawing/2014/main" id="{5A066265-1D69-231A-A077-C4A481D274D4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1" name="직사각형 25">
              <a:extLst>
                <a:ext uri="{FF2B5EF4-FFF2-40B4-BE49-F238E27FC236}">
                  <a16:creationId xmlns:a16="http://schemas.microsoft.com/office/drawing/2014/main" id="{A31F6217-D5EB-B35A-0102-471912F9692B}"/>
                </a:ext>
              </a:extLst>
            </p:cNvPr>
            <p:cNvSpPr/>
            <p:nvPr/>
          </p:nvSpPr>
          <p:spPr>
            <a:xfrm>
              <a:off x="771329" y="5781731"/>
              <a:ext cx="4067027" cy="11407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Integer&gt; f = (s) 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Integer.parseInt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(s, 16); // s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16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진 정수로 변환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Function&lt;Integer,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g = 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Integer.toBinaryString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2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진 문자열로 변환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 h =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andThen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(g);   // f + g </a:t>
              </a:r>
              <a:r>
                <a:rPr kumimoji="1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h</a:t>
              </a:r>
            </a:p>
          </p:txBody>
        </p:sp>
      </p:grpSp>
      <p:sp>
        <p:nvSpPr>
          <p:cNvPr id="12" name="십자형 21">
            <a:extLst>
              <a:ext uri="{FF2B5EF4-FFF2-40B4-BE49-F238E27FC236}">
                <a16:creationId xmlns:a16="http://schemas.microsoft.com/office/drawing/2014/main" id="{C4527F8A-FCC2-8235-E3AE-AA90A59C1269}"/>
              </a:ext>
            </a:extLst>
          </p:cNvPr>
          <p:cNvSpPr/>
          <p:nvPr/>
        </p:nvSpPr>
        <p:spPr bwMode="auto">
          <a:xfrm>
            <a:off x="4795599" y="3524132"/>
            <a:ext cx="365130" cy="367308"/>
          </a:xfrm>
          <a:prstGeom prst="plus">
            <a:avLst>
              <a:gd name="adj" fmla="val 39677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9263" marR="0" indent="-449263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견명조" pitchFamily="18" charset="-127"/>
            </a:endParaRP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8F4623E1-0D11-1344-1ABE-E508C3F0C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846" y="3226981"/>
            <a:ext cx="3390214" cy="93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974F6C1D-4E7C-8F27-39F2-FD9873A35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70268" y="3263494"/>
            <a:ext cx="3373479" cy="86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8527F70-993E-28C8-D785-78DDC5420267}"/>
              </a:ext>
            </a:extLst>
          </p:cNvPr>
          <p:cNvGrpSpPr/>
          <p:nvPr/>
        </p:nvGrpSpPr>
        <p:grpSpPr>
          <a:xfrm>
            <a:off x="1936750" y="4035314"/>
            <a:ext cx="6489700" cy="2053931"/>
            <a:chOff x="1936750" y="4035314"/>
            <a:chExt cx="6489700" cy="2053931"/>
          </a:xfrm>
        </p:grpSpPr>
        <p:sp>
          <p:nvSpPr>
            <p:cNvPr id="17" name="아래쪽 화살표 22">
              <a:extLst>
                <a:ext uri="{FF2B5EF4-FFF2-40B4-BE49-F238E27FC236}">
                  <a16:creationId xmlns:a16="http://schemas.microsoft.com/office/drawing/2014/main" id="{D6E8AA54-DE93-1FFD-5E1F-1DBCDF1A00DF}"/>
                </a:ext>
              </a:extLst>
            </p:cNvPr>
            <p:cNvSpPr/>
            <p:nvPr/>
          </p:nvSpPr>
          <p:spPr bwMode="auto">
            <a:xfrm>
              <a:off x="4813017" y="4035314"/>
              <a:ext cx="328617" cy="40164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indent="-449263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견명조" pitchFamily="18" charset="-12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596437A-E31A-14BC-9999-5D57DD362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36750" y="4387445"/>
              <a:ext cx="6489700" cy="1701800"/>
            </a:xfrm>
            <a:prstGeom prst="rect">
              <a:avLst/>
            </a:prstGeom>
          </p:spPr>
        </p:pic>
      </p:grp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995BE262-1ACC-B90E-D4C8-B6082E4A9E0B}"/>
              </a:ext>
            </a:extLst>
          </p:cNvPr>
          <p:cNvGrpSpPr/>
          <p:nvPr/>
        </p:nvGrpSpPr>
        <p:grpSpPr>
          <a:xfrm>
            <a:off x="1416674" y="5972783"/>
            <a:ext cx="7026936" cy="620585"/>
            <a:chOff x="752303" y="5695603"/>
            <a:chExt cx="4052636" cy="1303150"/>
          </a:xfrm>
        </p:grpSpPr>
        <p:sp>
          <p:nvSpPr>
            <p:cNvPr id="24" name="모서리가 둥근 직사각형 31">
              <a:extLst>
                <a:ext uri="{FF2B5EF4-FFF2-40B4-BE49-F238E27FC236}">
                  <a16:creationId xmlns:a16="http://schemas.microsoft.com/office/drawing/2014/main" id="{044A692B-7DB3-A9F1-7C98-26A19BAB431F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32">
              <a:extLst>
                <a:ext uri="{FF2B5EF4-FFF2-40B4-BE49-F238E27FC236}">
                  <a16:creationId xmlns:a16="http://schemas.microsoft.com/office/drawing/2014/main" id="{C970E38F-5D81-A56D-07CA-E488B45EB26E}"/>
                </a:ext>
              </a:extLst>
            </p:cNvPr>
            <p:cNvSpPr/>
            <p:nvPr/>
          </p:nvSpPr>
          <p:spPr>
            <a:xfrm>
              <a:off x="814018" y="5957719"/>
              <a:ext cx="3961531" cy="82384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h.apply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("FF")); // "FF" → 255 → "11111111"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35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8045981-59BF-9471-67A8-9F2D43B3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441" y="4425950"/>
            <a:ext cx="6464300" cy="16637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16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Function</a:t>
            </a:r>
            <a:r>
              <a:rPr lang="ko-KR" altLang="en-US" sz="3200" b="1" dirty="0"/>
              <a:t>의 합성</a:t>
            </a:r>
            <a:r>
              <a:rPr lang="en-US" altLang="ko-KR" sz="3200" b="1" dirty="0"/>
              <a:t>(2/2)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lvl="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Function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타입의 두 람다식을 하나로 합성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compose(</a:t>
            </a:r>
            <a:r>
              <a:rPr kumimoji="1" lang="en-US" altLang="ko-KR" sz="6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662C558F-CB28-36A9-96A1-95E558749476}"/>
              </a:ext>
            </a:extLst>
          </p:cNvPr>
          <p:cNvGrpSpPr/>
          <p:nvPr/>
        </p:nvGrpSpPr>
        <p:grpSpPr>
          <a:xfrm>
            <a:off x="833014" y="2148276"/>
            <a:ext cx="7777269" cy="949336"/>
            <a:chOff x="752303" y="5695603"/>
            <a:chExt cx="4052636" cy="1303150"/>
          </a:xfrm>
        </p:grpSpPr>
        <p:sp>
          <p:nvSpPr>
            <p:cNvPr id="21" name="모서리가 둥근 직사각형 24">
              <a:extLst>
                <a:ext uri="{FF2B5EF4-FFF2-40B4-BE49-F238E27FC236}">
                  <a16:creationId xmlns:a16="http://schemas.microsoft.com/office/drawing/2014/main" id="{3ED82195-A622-F24A-1505-F8208C31E5AC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25">
              <a:extLst>
                <a:ext uri="{FF2B5EF4-FFF2-40B4-BE49-F238E27FC236}">
                  <a16:creationId xmlns:a16="http://schemas.microsoft.com/office/drawing/2014/main" id="{61CF6295-E7B4-164E-BFF7-87EA70770F4D}"/>
                </a:ext>
              </a:extLst>
            </p:cNvPr>
            <p:cNvSpPr/>
            <p:nvPr/>
          </p:nvSpPr>
          <p:spPr>
            <a:xfrm>
              <a:off x="790356" y="5781730"/>
              <a:ext cx="4009948" cy="11407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String&gt; g = 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Integer.toBinaryString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2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진 문자열로 변환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Function&lt;String,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f = (s) 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Integer.parseInt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(s, 16);// s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16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진 정수로 변환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Function&lt;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Integer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 h =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f.compose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(g);   // g + f </a:t>
              </a:r>
              <a:r>
                <a:rPr kumimoji="1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h</a:t>
              </a:r>
            </a:p>
          </p:txBody>
        </p:sp>
      </p:grpSp>
      <p:sp>
        <p:nvSpPr>
          <p:cNvPr id="27" name="십자형 21">
            <a:extLst>
              <a:ext uri="{FF2B5EF4-FFF2-40B4-BE49-F238E27FC236}">
                <a16:creationId xmlns:a16="http://schemas.microsoft.com/office/drawing/2014/main" id="{F3FED916-AF32-DCA3-24F5-AFFF9E6B7CED}"/>
              </a:ext>
            </a:extLst>
          </p:cNvPr>
          <p:cNvSpPr/>
          <p:nvPr/>
        </p:nvSpPr>
        <p:spPr bwMode="auto">
          <a:xfrm>
            <a:off x="4620501" y="3601952"/>
            <a:ext cx="365130" cy="367308"/>
          </a:xfrm>
          <a:prstGeom prst="plus">
            <a:avLst>
              <a:gd name="adj" fmla="val 39677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9263" marR="0" indent="-449263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ea typeface="견명조" pitchFamily="18" charset="-127"/>
            </a:endParaRPr>
          </a:p>
        </p:txBody>
      </p:sp>
      <p:pic>
        <p:nvPicPr>
          <p:cNvPr id="28" name="Picture 6">
            <a:extLst>
              <a:ext uri="{FF2B5EF4-FFF2-40B4-BE49-F238E27FC236}">
                <a16:creationId xmlns:a16="http://schemas.microsoft.com/office/drawing/2014/main" id="{32461C76-A9CF-FFFA-D055-6C7516AB5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0665" y="3313510"/>
            <a:ext cx="3390214" cy="93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9667B28F-5599-C7E1-79C8-83A019C8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15253" y="3341314"/>
            <a:ext cx="3373479" cy="86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아래쪽 화살표 22">
            <a:extLst>
              <a:ext uri="{FF2B5EF4-FFF2-40B4-BE49-F238E27FC236}">
                <a16:creationId xmlns:a16="http://schemas.microsoft.com/office/drawing/2014/main" id="{A461F46F-D578-0F2D-BF54-3A6907CF6141}"/>
              </a:ext>
            </a:extLst>
          </p:cNvPr>
          <p:cNvSpPr/>
          <p:nvPr/>
        </p:nvSpPr>
        <p:spPr bwMode="auto">
          <a:xfrm>
            <a:off x="4637919" y="4113134"/>
            <a:ext cx="328617" cy="401643"/>
          </a:xfrm>
          <a:prstGeom prst="downArrow">
            <a:avLst/>
          </a:prstGeom>
          <a:solidFill>
            <a:srgbClr val="FFFFFF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9263" marR="0" lvl="0" indent="-449263" defTabSz="91440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견명조" pitchFamily="18" charset="-127"/>
            </a:endParaRPr>
          </a:p>
        </p:txBody>
      </p: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5E4594F5-34EC-97AC-2535-8EDB77C2889A}"/>
              </a:ext>
            </a:extLst>
          </p:cNvPr>
          <p:cNvGrpSpPr/>
          <p:nvPr/>
        </p:nvGrpSpPr>
        <p:grpSpPr>
          <a:xfrm>
            <a:off x="1261032" y="6096846"/>
            <a:ext cx="7777269" cy="438156"/>
            <a:chOff x="752303" y="5695603"/>
            <a:chExt cx="4052636" cy="1303150"/>
          </a:xfrm>
        </p:grpSpPr>
        <p:sp>
          <p:nvSpPr>
            <p:cNvPr id="36" name="모서리가 둥근 직사각형 31">
              <a:extLst>
                <a:ext uri="{FF2B5EF4-FFF2-40B4-BE49-F238E27FC236}">
                  <a16:creationId xmlns:a16="http://schemas.microsoft.com/office/drawing/2014/main" id="{642D59AC-1F27-E289-8136-4E1C7BCD3B86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7" name="직사각형 32">
              <a:extLst>
                <a:ext uri="{FF2B5EF4-FFF2-40B4-BE49-F238E27FC236}">
                  <a16:creationId xmlns:a16="http://schemas.microsoft.com/office/drawing/2014/main" id="{7D6DDDE0-F852-C12B-662B-7ABDAF96834B}"/>
                </a:ext>
              </a:extLst>
            </p:cNvPr>
            <p:cNvSpPr/>
            <p:nvPr/>
          </p:nvSpPr>
          <p:spPr>
            <a:xfrm>
              <a:off x="814018" y="5957719"/>
              <a:ext cx="3961531" cy="82384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h.apply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(2)); // 2 → "10" →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270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17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Predicate</a:t>
            </a:r>
            <a:r>
              <a:rPr lang="ko-KR" altLang="en-US" sz="3200" b="1" dirty="0"/>
              <a:t>의 결합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en-US" altLang="ko-KR" b="1" dirty="0"/>
              <a:t>and(</a:t>
            </a:r>
            <a:r>
              <a:rPr lang="en-US" altLang="ko-KR" sz="300" b="1" dirty="0"/>
              <a:t> </a:t>
            </a:r>
            <a:r>
              <a:rPr lang="en-US" altLang="ko-KR" b="1" dirty="0"/>
              <a:t>), or(</a:t>
            </a:r>
            <a:r>
              <a:rPr lang="en-US" altLang="ko-KR" sz="300" b="1" dirty="0"/>
              <a:t> </a:t>
            </a:r>
            <a:r>
              <a:rPr lang="en-US" altLang="ko-KR" b="1" dirty="0"/>
              <a:t>), negate(</a:t>
            </a:r>
            <a:r>
              <a:rPr lang="en-US" altLang="ko-KR" sz="300" b="1" dirty="0"/>
              <a:t> </a:t>
            </a:r>
            <a:r>
              <a:rPr lang="en-US" altLang="ko-KR" b="1" dirty="0"/>
              <a:t>)</a:t>
            </a:r>
            <a:r>
              <a:rPr lang="ko-KR" altLang="en-US" b="1" dirty="0"/>
              <a:t>로 두 </a:t>
            </a:r>
            <a:r>
              <a:rPr lang="en-US" altLang="ko-KR" b="1" dirty="0"/>
              <a:t>Predicate</a:t>
            </a:r>
            <a:r>
              <a:rPr lang="ko-KR" altLang="en-US" b="1" dirty="0" err="1"/>
              <a:t>를</a:t>
            </a:r>
            <a:r>
              <a:rPr lang="ko-KR" altLang="en-US" b="1" dirty="0"/>
              <a:t> 하나로 결합</a:t>
            </a:r>
            <a:r>
              <a:rPr lang="en-US" altLang="ko-KR" b="1" dirty="0"/>
              <a:t>(default</a:t>
            </a:r>
            <a:r>
              <a:rPr lang="ko-KR" altLang="en-US" b="1" dirty="0"/>
              <a:t>메서드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grpSp>
        <p:nvGrpSpPr>
          <p:cNvPr id="24" name="그룹 51">
            <a:extLst>
              <a:ext uri="{FF2B5EF4-FFF2-40B4-BE49-F238E27FC236}">
                <a16:creationId xmlns:a16="http://schemas.microsoft.com/office/drawing/2014/main" id="{C84C5877-195C-454D-D3F6-BF381C4BE7DC}"/>
              </a:ext>
            </a:extLst>
          </p:cNvPr>
          <p:cNvGrpSpPr/>
          <p:nvPr/>
        </p:nvGrpSpPr>
        <p:grpSpPr>
          <a:xfrm>
            <a:off x="774648" y="2092907"/>
            <a:ext cx="7841398" cy="1003283"/>
            <a:chOff x="752303" y="5695605"/>
            <a:chExt cx="4086053" cy="1303150"/>
          </a:xfrm>
        </p:grpSpPr>
        <p:sp>
          <p:nvSpPr>
            <p:cNvPr id="25" name="모서리가 둥근 직사각형 12">
              <a:extLst>
                <a:ext uri="{FF2B5EF4-FFF2-40B4-BE49-F238E27FC236}">
                  <a16:creationId xmlns:a16="http://schemas.microsoft.com/office/drawing/2014/main" id="{A0D6A117-495B-7EB8-D24A-00448BAEF75D}"/>
                </a:ext>
              </a:extLst>
            </p:cNvPr>
            <p:cNvSpPr/>
            <p:nvPr/>
          </p:nvSpPr>
          <p:spPr bwMode="auto">
            <a:xfrm>
              <a:off x="752303" y="5695605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6" name="직사각형 13">
              <a:extLst>
                <a:ext uri="{FF2B5EF4-FFF2-40B4-BE49-F238E27FC236}">
                  <a16:creationId xmlns:a16="http://schemas.microsoft.com/office/drawing/2014/main" id="{B5DDD87D-2FC1-85DF-6446-708ADE1651ED}"/>
                </a:ext>
              </a:extLst>
            </p:cNvPr>
            <p:cNvSpPr/>
            <p:nvPr/>
          </p:nvSpPr>
          <p:spPr>
            <a:xfrm>
              <a:off x="771329" y="5922955"/>
              <a:ext cx="4067027" cy="86284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p = i -&gt; i &lt; 100;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q = i -&gt; i &lt; 200;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r = i -&gt; i%2 == 0;</a:t>
              </a:r>
            </a:p>
          </p:txBody>
        </p:sp>
      </p:grp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A26DC550-AFC3-408B-0FE7-6AA9C5372436}"/>
              </a:ext>
            </a:extLst>
          </p:cNvPr>
          <p:cNvGrpSpPr/>
          <p:nvPr/>
        </p:nvGrpSpPr>
        <p:grpSpPr>
          <a:xfrm>
            <a:off x="774648" y="3169216"/>
            <a:ext cx="7841398" cy="1001137"/>
            <a:chOff x="752303" y="5695605"/>
            <a:chExt cx="4086053" cy="1303150"/>
          </a:xfrm>
        </p:grpSpPr>
        <p:sp>
          <p:nvSpPr>
            <p:cNvPr id="28" name="모서리가 둥근 직사각형 15">
              <a:extLst>
                <a:ext uri="{FF2B5EF4-FFF2-40B4-BE49-F238E27FC236}">
                  <a16:creationId xmlns:a16="http://schemas.microsoft.com/office/drawing/2014/main" id="{3EDE904F-C818-56D9-70EE-3A6E34230EDD}"/>
                </a:ext>
              </a:extLst>
            </p:cNvPr>
            <p:cNvSpPr/>
            <p:nvPr/>
          </p:nvSpPr>
          <p:spPr bwMode="auto">
            <a:xfrm>
              <a:off x="752303" y="5695605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16">
              <a:extLst>
                <a:ext uri="{FF2B5EF4-FFF2-40B4-BE49-F238E27FC236}">
                  <a16:creationId xmlns:a16="http://schemas.microsoft.com/office/drawing/2014/main" id="{D3D31120-1DEF-42B7-514A-D6F7FA32059B}"/>
                </a:ext>
              </a:extLst>
            </p:cNvPr>
            <p:cNvSpPr/>
            <p:nvPr/>
          </p:nvSpPr>
          <p:spPr>
            <a:xfrm>
              <a:off x="771329" y="5802121"/>
              <a:ext cx="4067027" cy="108168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notP = p.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negate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      // i &gt;= 100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all = notP.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and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(q).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or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(r);  // 100 &lt;= i &amp;&amp; i &lt; 200 || i%2==0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Predicate&lt;Integer&gt; all2 = notP.and(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q.or(r)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100 &lt;= i &amp;&amp; 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(i &lt; 200 || i%2==0)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78E96FE0-2D80-6CB5-0232-46E03746EC5D}"/>
              </a:ext>
            </a:extLst>
          </p:cNvPr>
          <p:cNvGrpSpPr/>
          <p:nvPr/>
        </p:nvGrpSpPr>
        <p:grpSpPr>
          <a:xfrm>
            <a:off x="774648" y="4232287"/>
            <a:ext cx="7777269" cy="584207"/>
            <a:chOff x="752303" y="5695603"/>
            <a:chExt cx="4052636" cy="1303150"/>
          </a:xfrm>
        </p:grpSpPr>
        <p:sp>
          <p:nvSpPr>
            <p:cNvPr id="31" name="모서리가 둥근 직사각형 18">
              <a:extLst>
                <a:ext uri="{FF2B5EF4-FFF2-40B4-BE49-F238E27FC236}">
                  <a16:creationId xmlns:a16="http://schemas.microsoft.com/office/drawing/2014/main" id="{73D9F3FA-B36E-08DD-E1A3-1DCD9DADB4B0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19">
              <a:extLst>
                <a:ext uri="{FF2B5EF4-FFF2-40B4-BE49-F238E27FC236}">
                  <a16:creationId xmlns:a16="http://schemas.microsoft.com/office/drawing/2014/main" id="{04012E57-DE6C-2664-4D0D-8FE5061EF823}"/>
                </a:ext>
              </a:extLst>
            </p:cNvPr>
            <p:cNvSpPr/>
            <p:nvPr/>
          </p:nvSpPr>
          <p:spPr>
            <a:xfrm>
              <a:off x="814018" y="5848649"/>
              <a:ext cx="3961531" cy="102980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all.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test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(2));   // true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(all2.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test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(2));  // false</a:t>
              </a:r>
            </a:p>
          </p:txBody>
        </p:sp>
      </p:grp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C01DC786-9805-0191-7F64-F63C48BCB111}"/>
              </a:ext>
            </a:extLst>
          </p:cNvPr>
          <p:cNvGrpSpPr/>
          <p:nvPr/>
        </p:nvGrpSpPr>
        <p:grpSpPr>
          <a:xfrm>
            <a:off x="811161" y="5396508"/>
            <a:ext cx="7777269" cy="661429"/>
            <a:chOff x="752303" y="5695603"/>
            <a:chExt cx="4052636" cy="1303150"/>
          </a:xfrm>
        </p:grpSpPr>
        <p:sp>
          <p:nvSpPr>
            <p:cNvPr id="34" name="모서리가 둥근 직사각형 24">
              <a:extLst>
                <a:ext uri="{FF2B5EF4-FFF2-40B4-BE49-F238E27FC236}">
                  <a16:creationId xmlns:a16="http://schemas.microsoft.com/office/drawing/2014/main" id="{1298BC7C-AD40-E0F8-E2E4-668ED06E8700}"/>
                </a:ext>
              </a:extLst>
            </p:cNvPr>
            <p:cNvSpPr/>
            <p:nvPr/>
          </p:nvSpPr>
          <p:spPr bwMode="auto">
            <a:xfrm>
              <a:off x="752303" y="5695603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25">
              <a:extLst>
                <a:ext uri="{FF2B5EF4-FFF2-40B4-BE49-F238E27FC236}">
                  <a16:creationId xmlns:a16="http://schemas.microsoft.com/office/drawing/2014/main" id="{82301F37-3CA9-C51A-0924-825BEB47FF12}"/>
                </a:ext>
              </a:extLst>
            </p:cNvPr>
            <p:cNvSpPr/>
            <p:nvPr/>
          </p:nvSpPr>
          <p:spPr>
            <a:xfrm>
              <a:off x="814018" y="5865102"/>
              <a:ext cx="3961531" cy="90957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Predicate&lt;String&gt; p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Predicate.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isEqual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(str1);  //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isEquals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은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static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메서드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 result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test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(str2);  // str1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str2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가 같은지 비교한 결과를 반환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36" name="Text Box 20">
            <a:extLst>
              <a:ext uri="{FF2B5EF4-FFF2-40B4-BE49-F238E27FC236}">
                <a16:creationId xmlns:a16="http://schemas.microsoft.com/office/drawing/2014/main" id="{D6C35154-BE42-75D3-7C5A-BFD372199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24" y="499747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등가비교를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위한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Predicate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의 작성에는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isEqual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3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사용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(static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메서드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7" name="그룹 31">
            <a:extLst>
              <a:ext uri="{FF2B5EF4-FFF2-40B4-BE49-F238E27FC236}">
                <a16:creationId xmlns:a16="http://schemas.microsoft.com/office/drawing/2014/main" id="{1AF20103-33BA-7768-1523-B076418FE4FB}"/>
              </a:ext>
            </a:extLst>
          </p:cNvPr>
          <p:cNvGrpSpPr/>
          <p:nvPr/>
        </p:nvGrpSpPr>
        <p:grpSpPr>
          <a:xfrm>
            <a:off x="2208246" y="6114505"/>
            <a:ext cx="5908757" cy="551889"/>
            <a:chOff x="2052603" y="6021423"/>
            <a:chExt cx="5908757" cy="551889"/>
          </a:xfrm>
        </p:grpSpPr>
        <p:grpSp>
          <p:nvGrpSpPr>
            <p:cNvPr id="38" name="그룹 51">
              <a:extLst>
                <a:ext uri="{FF2B5EF4-FFF2-40B4-BE49-F238E27FC236}">
                  <a16:creationId xmlns:a16="http://schemas.microsoft.com/office/drawing/2014/main" id="{366564A3-7549-60A5-360A-73FE6C80F8A7}"/>
                </a:ext>
              </a:extLst>
            </p:cNvPr>
            <p:cNvGrpSpPr/>
            <p:nvPr/>
          </p:nvGrpSpPr>
          <p:grpSpPr>
            <a:xfrm>
              <a:off x="2746350" y="6130962"/>
              <a:ext cx="5215010" cy="442350"/>
              <a:chOff x="752303" y="5695603"/>
              <a:chExt cx="4052636" cy="1303150"/>
            </a:xfrm>
          </p:grpSpPr>
          <p:sp>
            <p:nvSpPr>
              <p:cNvPr id="40" name="모서리가 둥근 직사각형 28">
                <a:extLst>
                  <a:ext uri="{FF2B5EF4-FFF2-40B4-BE49-F238E27FC236}">
                    <a16:creationId xmlns:a16="http://schemas.microsoft.com/office/drawing/2014/main" id="{0C9398BC-B041-5D75-21B0-733F398FBA34}"/>
                  </a:ext>
                </a:extLst>
              </p:cNvPr>
              <p:cNvSpPr/>
              <p:nvPr/>
            </p:nvSpPr>
            <p:spPr bwMode="auto">
              <a:xfrm>
                <a:off x="752303" y="5695603"/>
                <a:ext cx="4052636" cy="1303150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1" name="직사각형 29">
                <a:extLst>
                  <a:ext uri="{FF2B5EF4-FFF2-40B4-BE49-F238E27FC236}">
                    <a16:creationId xmlns:a16="http://schemas.microsoft.com/office/drawing/2014/main" id="{96165F82-2E08-4EA3-C2E9-41F1D0ADB366}"/>
                  </a:ext>
                </a:extLst>
              </p:cNvPr>
              <p:cNvSpPr/>
              <p:nvPr/>
            </p:nvSpPr>
            <p:spPr>
              <a:xfrm>
                <a:off x="814018" y="5957724"/>
                <a:ext cx="3961531" cy="81603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boolean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result =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Predicate.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isEqual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(str1).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test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(str2);</a:t>
                </a:r>
              </a:p>
            </p:txBody>
          </p:sp>
        </p:grpSp>
        <p:sp>
          <p:nvSpPr>
            <p:cNvPr id="39" name="굽은 화살표 30">
              <a:extLst>
                <a:ext uri="{FF2B5EF4-FFF2-40B4-BE49-F238E27FC236}">
                  <a16:creationId xmlns:a16="http://schemas.microsoft.com/office/drawing/2014/main" id="{755BF4B6-CEEA-B0BB-D7B8-B1E05691A373}"/>
                </a:ext>
              </a:extLst>
            </p:cNvPr>
            <p:cNvSpPr/>
            <p:nvPr/>
          </p:nvSpPr>
          <p:spPr bwMode="auto">
            <a:xfrm rot="10800000" flipH="1">
              <a:off x="2052603" y="6021423"/>
              <a:ext cx="693747" cy="474669"/>
            </a:xfrm>
            <a:prstGeom prst="bent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916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18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메서드 참조</a:t>
            </a:r>
            <a:r>
              <a:rPr lang="en-US" altLang="ko-KR" sz="3200" b="1" dirty="0"/>
              <a:t>(method reference) (1/2)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ko-KR" altLang="en-US" b="1" dirty="0"/>
              <a:t>하나의 메서드만 호출하는 람다식은 </a:t>
            </a:r>
            <a:r>
              <a:rPr lang="en-US" altLang="ko-KR" b="1" dirty="0"/>
              <a:t>‘</a:t>
            </a:r>
            <a:r>
              <a:rPr lang="ko-KR" altLang="en-US" b="1" dirty="0"/>
              <a:t>메서드 참조</a:t>
            </a:r>
            <a:r>
              <a:rPr lang="en-US" altLang="ko-KR" b="1" dirty="0"/>
              <a:t>’</a:t>
            </a:r>
            <a:r>
              <a:rPr lang="ko-KR" altLang="en-US" b="1" dirty="0"/>
              <a:t>로 간단히 할 수 있다</a:t>
            </a:r>
            <a:r>
              <a:rPr lang="en-US" altLang="ko-KR" b="1" dirty="0"/>
              <a:t>.</a:t>
            </a:r>
          </a:p>
        </p:txBody>
      </p: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DF4219E7-9223-67EC-DCBC-666274426520}"/>
              </a:ext>
            </a:extLst>
          </p:cNvPr>
          <p:cNvGrpSpPr/>
          <p:nvPr/>
        </p:nvGrpSpPr>
        <p:grpSpPr>
          <a:xfrm>
            <a:off x="1202665" y="4098499"/>
            <a:ext cx="7886810" cy="1076659"/>
            <a:chOff x="752303" y="5695605"/>
            <a:chExt cx="4086053" cy="1303149"/>
          </a:xfrm>
        </p:grpSpPr>
        <p:sp>
          <p:nvSpPr>
            <p:cNvPr id="24" name="모서리가 둥근 직사각형 18">
              <a:extLst>
                <a:ext uri="{FF2B5EF4-FFF2-40B4-BE49-F238E27FC236}">
                  <a16:creationId xmlns:a16="http://schemas.microsoft.com/office/drawing/2014/main" id="{F4B3614D-0891-CB99-D8E1-725CA4EB41D0}"/>
                </a:ext>
              </a:extLst>
            </p:cNvPr>
            <p:cNvSpPr/>
            <p:nvPr/>
          </p:nvSpPr>
          <p:spPr bwMode="auto">
            <a:xfrm>
              <a:off x="752303" y="5695605"/>
              <a:ext cx="4052636" cy="1303149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19">
              <a:extLst>
                <a:ext uri="{FF2B5EF4-FFF2-40B4-BE49-F238E27FC236}">
                  <a16:creationId xmlns:a16="http://schemas.microsoft.com/office/drawing/2014/main" id="{B1699FA5-C413-C6A4-A186-FD042E7BBBE1}"/>
                </a:ext>
              </a:extLst>
            </p:cNvPr>
            <p:cNvSpPr/>
            <p:nvPr/>
          </p:nvSpPr>
          <p:spPr>
            <a:xfrm>
              <a:off x="771328" y="5778217"/>
              <a:ext cx="4067028" cy="115481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</a:t>
              </a: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method(</a:t>
              </a: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s) {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그저 </a:t>
              </a: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Integer.parseInt(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s)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만 호출 </a:t>
              </a:r>
              <a:endParaRPr kumimoji="1" lang="it-IT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return Integer.parseInt(s);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}</a:t>
              </a:r>
            </a:p>
          </p:txBody>
        </p:sp>
      </p:grpSp>
      <p:grpSp>
        <p:nvGrpSpPr>
          <p:cNvPr id="26" name="그룹 51">
            <a:extLst>
              <a:ext uri="{FF2B5EF4-FFF2-40B4-BE49-F238E27FC236}">
                <a16:creationId xmlns:a16="http://schemas.microsoft.com/office/drawing/2014/main" id="{C557F836-46F1-564D-8243-0C8F765D5A78}"/>
              </a:ext>
            </a:extLst>
          </p:cNvPr>
          <p:cNvGrpSpPr/>
          <p:nvPr/>
        </p:nvGrpSpPr>
        <p:grpSpPr>
          <a:xfrm>
            <a:off x="5474686" y="4682703"/>
            <a:ext cx="3760839" cy="657235"/>
            <a:chOff x="752303" y="5500138"/>
            <a:chExt cx="4086053" cy="1533120"/>
          </a:xfrm>
        </p:grpSpPr>
        <p:sp>
          <p:nvSpPr>
            <p:cNvPr id="27" name="모서리가 둥근 직사각형 22">
              <a:extLst>
                <a:ext uri="{FF2B5EF4-FFF2-40B4-BE49-F238E27FC236}">
                  <a16:creationId xmlns:a16="http://schemas.microsoft.com/office/drawing/2014/main" id="{4350D999-198A-AC2B-8E09-0501715A4420}"/>
                </a:ext>
              </a:extLst>
            </p:cNvPr>
            <p:cNvSpPr/>
            <p:nvPr/>
          </p:nvSpPr>
          <p:spPr bwMode="auto">
            <a:xfrm>
              <a:off x="752303" y="5500138"/>
              <a:ext cx="4052636" cy="130315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8" name="직사각형 23">
              <a:extLst>
                <a:ext uri="{FF2B5EF4-FFF2-40B4-BE49-F238E27FC236}">
                  <a16:creationId xmlns:a16="http://schemas.microsoft.com/office/drawing/2014/main" id="{37356352-EB99-51F1-758B-268759E00FAE}"/>
                </a:ext>
              </a:extLst>
            </p:cNvPr>
            <p:cNvSpPr/>
            <p:nvPr/>
          </p:nvSpPr>
          <p:spPr>
            <a:xfrm>
              <a:off x="771329" y="5676342"/>
              <a:ext cx="4067027" cy="13569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 result =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obj.</a:t>
              </a: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method("123");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it-I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int result = Integer.parseInt("123");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29" name="그룹 41">
            <a:extLst>
              <a:ext uri="{FF2B5EF4-FFF2-40B4-BE49-F238E27FC236}">
                <a16:creationId xmlns:a16="http://schemas.microsoft.com/office/drawing/2014/main" id="{F35B3539-890E-1DF3-EE88-BD40E28D8726}"/>
              </a:ext>
            </a:extLst>
          </p:cNvPr>
          <p:cNvGrpSpPr/>
          <p:nvPr/>
        </p:nvGrpSpPr>
        <p:grpSpPr>
          <a:xfrm>
            <a:off x="1202665" y="4974807"/>
            <a:ext cx="7886808" cy="803287"/>
            <a:chOff x="847674" y="5181624"/>
            <a:chExt cx="7886808" cy="803287"/>
          </a:xfrm>
        </p:grpSpPr>
        <p:grpSp>
          <p:nvGrpSpPr>
            <p:cNvPr id="30" name="그룹 51">
              <a:extLst>
                <a:ext uri="{FF2B5EF4-FFF2-40B4-BE49-F238E27FC236}">
                  <a16:creationId xmlns:a16="http://schemas.microsoft.com/office/drawing/2014/main" id="{B056AB62-AF4B-7050-8511-3B3BCEB934EB}"/>
                </a:ext>
              </a:extLst>
            </p:cNvPr>
            <p:cNvGrpSpPr/>
            <p:nvPr/>
          </p:nvGrpSpPr>
          <p:grpSpPr>
            <a:xfrm>
              <a:off x="847674" y="5510241"/>
              <a:ext cx="7886808" cy="474670"/>
              <a:chOff x="770046" y="5484958"/>
              <a:chExt cx="4090511" cy="912824"/>
            </a:xfrm>
          </p:grpSpPr>
          <p:sp>
            <p:nvSpPr>
              <p:cNvPr id="32" name="모서리가 둥근 직사각형 30">
                <a:extLst>
                  <a:ext uri="{FF2B5EF4-FFF2-40B4-BE49-F238E27FC236}">
                    <a16:creationId xmlns:a16="http://schemas.microsoft.com/office/drawing/2014/main" id="{4A71C741-B3F7-16BA-046D-DBA6996E83C6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33" name="직사각형 31">
                <a:extLst>
                  <a:ext uri="{FF2B5EF4-FFF2-40B4-BE49-F238E27FC236}">
                    <a16:creationId xmlns:a16="http://schemas.microsoft.com/office/drawing/2014/main" id="{40939F0D-087F-E96B-CEF8-1467038DB4FC}"/>
                  </a:ext>
                </a:extLst>
              </p:cNvPr>
              <p:cNvSpPr/>
              <p:nvPr/>
            </p:nvSpPr>
            <p:spPr>
              <a:xfrm>
                <a:off x="770047" y="5625394"/>
                <a:ext cx="4090510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Function&lt;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, 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&gt; f = (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s) -&gt; 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Integer.parseInt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(s);</a:t>
                </a:r>
              </a:p>
            </p:txBody>
          </p:sp>
        </p:grpSp>
        <p:sp>
          <p:nvSpPr>
            <p:cNvPr id="31" name="아래쪽 화살표 32">
              <a:extLst>
                <a:ext uri="{FF2B5EF4-FFF2-40B4-BE49-F238E27FC236}">
                  <a16:creationId xmlns:a16="http://schemas.microsoft.com/office/drawing/2014/main" id="{435BA624-EC1C-93C5-9901-278186C0ABBA}"/>
                </a:ext>
              </a:extLst>
            </p:cNvPr>
            <p:cNvSpPr/>
            <p:nvPr/>
          </p:nvSpPr>
          <p:spPr bwMode="auto">
            <a:xfrm>
              <a:off x="4498974" y="5181624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34" name="그룹 40">
            <a:extLst>
              <a:ext uri="{FF2B5EF4-FFF2-40B4-BE49-F238E27FC236}">
                <a16:creationId xmlns:a16="http://schemas.microsoft.com/office/drawing/2014/main" id="{7F5EE731-42F2-3841-3EDA-8ACE477F5C60}"/>
              </a:ext>
            </a:extLst>
          </p:cNvPr>
          <p:cNvGrpSpPr/>
          <p:nvPr/>
        </p:nvGrpSpPr>
        <p:grpSpPr>
          <a:xfrm>
            <a:off x="1202665" y="5705068"/>
            <a:ext cx="7813782" cy="730260"/>
            <a:chOff x="847674" y="5911884"/>
            <a:chExt cx="7813782" cy="730260"/>
          </a:xfrm>
        </p:grpSpPr>
        <p:grpSp>
          <p:nvGrpSpPr>
            <p:cNvPr id="35" name="그룹 51">
              <a:extLst>
                <a:ext uri="{FF2B5EF4-FFF2-40B4-BE49-F238E27FC236}">
                  <a16:creationId xmlns:a16="http://schemas.microsoft.com/office/drawing/2014/main" id="{D43BDE66-A763-45E8-54E4-302001460E21}"/>
                </a:ext>
              </a:extLst>
            </p:cNvPr>
            <p:cNvGrpSpPr/>
            <p:nvPr/>
          </p:nvGrpSpPr>
          <p:grpSpPr>
            <a:xfrm>
              <a:off x="847674" y="6167474"/>
              <a:ext cx="7813782" cy="474670"/>
              <a:chOff x="770046" y="5484958"/>
              <a:chExt cx="4052636" cy="912824"/>
            </a:xfrm>
          </p:grpSpPr>
          <p:sp>
            <p:nvSpPr>
              <p:cNvPr id="37" name="모서리가 둥근 직사각형 38">
                <a:extLst>
                  <a:ext uri="{FF2B5EF4-FFF2-40B4-BE49-F238E27FC236}">
                    <a16:creationId xmlns:a16="http://schemas.microsoft.com/office/drawing/2014/main" id="{962F9244-5D72-3179-42B3-E9C6996D284B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38" name="직사각형 39">
                <a:extLst>
                  <a:ext uri="{FF2B5EF4-FFF2-40B4-BE49-F238E27FC236}">
                    <a16:creationId xmlns:a16="http://schemas.microsoft.com/office/drawing/2014/main" id="{DD52DC83-6EC1-83D2-8DC8-53EDF8FABF3E}"/>
                  </a:ext>
                </a:extLst>
              </p:cNvPr>
              <p:cNvSpPr/>
              <p:nvPr/>
            </p:nvSpPr>
            <p:spPr>
              <a:xfrm>
                <a:off x="770047" y="5625394"/>
                <a:ext cx="3973171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Function&lt;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, 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&gt; f = 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Integer::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parseInt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;  // </a:t>
                </a:r>
                <a:r>
                  <a:rPr kumimoji="1" lang="ko-KR" alt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메서드</a:t>
                </a:r>
                <a:r>
                  <a:rPr kumimoji="1" lang="ko-KR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참조</a:t>
                </a:r>
                <a:endPara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36" name="아래쪽 화살표 37">
              <a:extLst>
                <a:ext uri="{FF2B5EF4-FFF2-40B4-BE49-F238E27FC236}">
                  <a16:creationId xmlns:a16="http://schemas.microsoft.com/office/drawing/2014/main" id="{42965516-8E41-D5D4-A2EB-AD05D3DB0F6D}"/>
                </a:ext>
              </a:extLst>
            </p:cNvPr>
            <p:cNvSpPr/>
            <p:nvPr/>
          </p:nvSpPr>
          <p:spPr bwMode="auto">
            <a:xfrm>
              <a:off x="4498974" y="5911884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39" name="Text Box 20">
            <a:extLst>
              <a:ext uri="{FF2B5EF4-FFF2-40B4-BE49-F238E27FC236}">
                <a16:creationId xmlns:a16="http://schemas.microsoft.com/office/drawing/2014/main" id="{E8F5A09C-3A0E-4F05-6BC2-4BE9C45BC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87" y="362224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static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메서드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참조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D08DC64-D8BE-7348-7D7C-56229E957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46" y="2063075"/>
            <a:ext cx="64262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19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메서드 참조</a:t>
            </a:r>
            <a:r>
              <a:rPr lang="en-US" altLang="ko-KR" sz="3200" b="1" dirty="0"/>
              <a:t>(method reference) (2/2)</a:t>
            </a:r>
            <a:endParaRPr lang="en-US" sz="3200" b="1" dirty="0"/>
          </a:p>
        </p:txBody>
      </p:sp>
      <p:grpSp>
        <p:nvGrpSpPr>
          <p:cNvPr id="40" name="그룹 51">
            <a:extLst>
              <a:ext uri="{FF2B5EF4-FFF2-40B4-BE49-F238E27FC236}">
                <a16:creationId xmlns:a16="http://schemas.microsoft.com/office/drawing/2014/main" id="{70CAE856-7137-4CE6-3CBB-83E3B394AAA7}"/>
              </a:ext>
            </a:extLst>
          </p:cNvPr>
          <p:cNvGrpSpPr/>
          <p:nvPr/>
        </p:nvGrpSpPr>
        <p:grpSpPr>
          <a:xfrm>
            <a:off x="1144298" y="2131589"/>
            <a:ext cx="7886808" cy="474670"/>
            <a:chOff x="770046" y="5484958"/>
            <a:chExt cx="4090511" cy="912824"/>
          </a:xfrm>
        </p:grpSpPr>
        <p:sp>
          <p:nvSpPr>
            <p:cNvPr id="41" name="모서리가 둥근 직사각형 30">
              <a:extLst>
                <a:ext uri="{FF2B5EF4-FFF2-40B4-BE49-F238E27FC236}">
                  <a16:creationId xmlns:a16="http://schemas.microsoft.com/office/drawing/2014/main" id="{02686E27-52B5-A3C5-91CC-02A9DC79CD1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2" name="직사각형 31">
              <a:extLst>
                <a:ext uri="{FF2B5EF4-FFF2-40B4-BE49-F238E27FC236}">
                  <a16:creationId xmlns:a16="http://schemas.microsoft.com/office/drawing/2014/main" id="{E8459018-6D13-2838-300D-FED571C35AD5}"/>
                </a:ext>
              </a:extLst>
            </p:cNvPr>
            <p:cNvSpPr/>
            <p:nvPr/>
          </p:nvSpPr>
          <p:spPr>
            <a:xfrm>
              <a:off x="770047" y="5625394"/>
              <a:ext cx="4090510" cy="59187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BiFunction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,Boolean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f = (s1, s2) -&gt; s1.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equals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(s2);</a:t>
              </a:r>
            </a:p>
          </p:txBody>
        </p:sp>
      </p:grpSp>
      <p:grpSp>
        <p:nvGrpSpPr>
          <p:cNvPr id="43" name="그룹 40">
            <a:extLst>
              <a:ext uri="{FF2B5EF4-FFF2-40B4-BE49-F238E27FC236}">
                <a16:creationId xmlns:a16="http://schemas.microsoft.com/office/drawing/2014/main" id="{7D78B376-19BC-B970-5C7A-24C631C08E58}"/>
              </a:ext>
            </a:extLst>
          </p:cNvPr>
          <p:cNvGrpSpPr/>
          <p:nvPr/>
        </p:nvGrpSpPr>
        <p:grpSpPr>
          <a:xfrm>
            <a:off x="1144298" y="2533232"/>
            <a:ext cx="7813782" cy="766773"/>
            <a:chOff x="847674" y="5875371"/>
            <a:chExt cx="7813782" cy="766773"/>
          </a:xfrm>
        </p:grpSpPr>
        <p:grpSp>
          <p:nvGrpSpPr>
            <p:cNvPr id="44" name="그룹 51">
              <a:extLst>
                <a:ext uri="{FF2B5EF4-FFF2-40B4-BE49-F238E27FC236}">
                  <a16:creationId xmlns:a16="http://schemas.microsoft.com/office/drawing/2014/main" id="{61077B27-2F17-A1CD-D485-6840755707D0}"/>
                </a:ext>
              </a:extLst>
            </p:cNvPr>
            <p:cNvGrpSpPr/>
            <p:nvPr/>
          </p:nvGrpSpPr>
          <p:grpSpPr>
            <a:xfrm>
              <a:off x="847674" y="6167474"/>
              <a:ext cx="7813782" cy="474670"/>
              <a:chOff x="770046" y="5484958"/>
              <a:chExt cx="4052636" cy="912824"/>
            </a:xfrm>
          </p:grpSpPr>
          <p:sp>
            <p:nvSpPr>
              <p:cNvPr id="46" name="모서리가 둥근 직사각형 38">
                <a:extLst>
                  <a:ext uri="{FF2B5EF4-FFF2-40B4-BE49-F238E27FC236}">
                    <a16:creationId xmlns:a16="http://schemas.microsoft.com/office/drawing/2014/main" id="{CF7DE98C-A274-AE6E-0BAC-D10BA5B5CCA0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7" name="직사각형 39">
                <a:extLst>
                  <a:ext uri="{FF2B5EF4-FFF2-40B4-BE49-F238E27FC236}">
                    <a16:creationId xmlns:a16="http://schemas.microsoft.com/office/drawing/2014/main" id="{E2373992-3AFD-FFEB-EF66-C240350CABBA}"/>
                  </a:ext>
                </a:extLst>
              </p:cNvPr>
              <p:cNvSpPr/>
              <p:nvPr/>
            </p:nvSpPr>
            <p:spPr>
              <a:xfrm>
                <a:off x="770047" y="5625394"/>
                <a:ext cx="3973171" cy="591877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BiFunction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&lt;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,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</a:t>
                </a:r>
                <a:r>
                  <a:rPr kumimoji="1" 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,Boolean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&gt; f = 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String::equals</a:t>
                </a:r>
                <a:r>
                  <a:rPr kumimoji="1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;</a:t>
                </a:r>
              </a:p>
            </p:txBody>
          </p:sp>
        </p:grpSp>
        <p:sp>
          <p:nvSpPr>
            <p:cNvPr id="45" name="아래쪽 화살표 37">
              <a:extLst>
                <a:ext uri="{FF2B5EF4-FFF2-40B4-BE49-F238E27FC236}">
                  <a16:creationId xmlns:a16="http://schemas.microsoft.com/office/drawing/2014/main" id="{35557AEF-1E66-866B-63CC-3B34475C3551}"/>
                </a:ext>
              </a:extLst>
            </p:cNvPr>
            <p:cNvSpPr/>
            <p:nvPr/>
          </p:nvSpPr>
          <p:spPr bwMode="auto">
            <a:xfrm>
              <a:off x="4498974" y="5875371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sp>
        <p:nvSpPr>
          <p:cNvPr id="48" name="Text Box 20">
            <a:extLst>
              <a:ext uri="{FF2B5EF4-FFF2-40B4-BE49-F238E27FC236}">
                <a16:creationId xmlns:a16="http://schemas.microsoft.com/office/drawing/2014/main" id="{4940E4A6-491D-2F97-5AEE-2D7705C70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920" y="169185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인스턴스 메서드 참조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49" name="그룹 51">
            <a:extLst>
              <a:ext uri="{FF2B5EF4-FFF2-40B4-BE49-F238E27FC236}">
                <a16:creationId xmlns:a16="http://schemas.microsoft.com/office/drawing/2014/main" id="{C682C30B-969A-251D-CEBB-8B01471A6E09}"/>
              </a:ext>
            </a:extLst>
          </p:cNvPr>
          <p:cNvGrpSpPr/>
          <p:nvPr/>
        </p:nvGrpSpPr>
        <p:grpSpPr>
          <a:xfrm>
            <a:off x="1148881" y="3847700"/>
            <a:ext cx="7886808" cy="959937"/>
            <a:chOff x="770046" y="5484958"/>
            <a:chExt cx="4090511" cy="912824"/>
          </a:xfrm>
        </p:grpSpPr>
        <p:sp>
          <p:nvSpPr>
            <p:cNvPr id="50" name="모서리가 둥근 직사각형 34">
              <a:extLst>
                <a:ext uri="{FF2B5EF4-FFF2-40B4-BE49-F238E27FC236}">
                  <a16:creationId xmlns:a16="http://schemas.microsoft.com/office/drawing/2014/main" id="{5906B0A5-492A-F939-3B39-A13847C32291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1" name="직사각형 36">
              <a:extLst>
                <a:ext uri="{FF2B5EF4-FFF2-40B4-BE49-F238E27FC236}">
                  <a16:creationId xmlns:a16="http://schemas.microsoft.com/office/drawing/2014/main" id="{3C98F37D-68FE-7B24-22B8-56D67EC11DC2}"/>
                </a:ext>
              </a:extLst>
            </p:cNvPr>
            <p:cNvSpPr/>
            <p:nvPr/>
          </p:nvSpPr>
          <p:spPr>
            <a:xfrm>
              <a:off x="770047" y="5587618"/>
              <a:ext cx="4090510" cy="70241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Function&lt;String, Boolean&gt; f  = (x)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.equals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(x);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람다식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Function&lt;String, Boolean&gt; f2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::equals;         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메서드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참조</a:t>
              </a:r>
            </a:p>
          </p:txBody>
        </p:sp>
      </p:grpSp>
      <p:sp>
        <p:nvSpPr>
          <p:cNvPr id="52" name="Text Box 20">
            <a:extLst>
              <a:ext uri="{FF2B5EF4-FFF2-40B4-BE49-F238E27FC236}">
                <a16:creationId xmlns:a16="http://schemas.microsoft.com/office/drawing/2014/main" id="{D526D531-C912-9F51-F369-5AAC12EFB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503" y="344605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특정 객체의 인스턴스 메서드 참조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53" name="그룹 51">
            <a:extLst>
              <a:ext uri="{FF2B5EF4-FFF2-40B4-BE49-F238E27FC236}">
                <a16:creationId xmlns:a16="http://schemas.microsoft.com/office/drawing/2014/main" id="{F9E7EF5F-D05F-B5C1-7C3D-846C924BB6E4}"/>
              </a:ext>
            </a:extLst>
          </p:cNvPr>
          <p:cNvGrpSpPr/>
          <p:nvPr/>
        </p:nvGrpSpPr>
        <p:grpSpPr>
          <a:xfrm>
            <a:off x="1146842" y="5417759"/>
            <a:ext cx="7886808" cy="1204929"/>
            <a:chOff x="770046" y="5484958"/>
            <a:chExt cx="4090511" cy="912824"/>
          </a:xfrm>
        </p:grpSpPr>
        <p:sp>
          <p:nvSpPr>
            <p:cNvPr id="54" name="모서리가 둥근 직사각형 47">
              <a:extLst>
                <a:ext uri="{FF2B5EF4-FFF2-40B4-BE49-F238E27FC236}">
                  <a16:creationId xmlns:a16="http://schemas.microsoft.com/office/drawing/2014/main" id="{5CA33BA2-99B4-A15B-28CF-95E678A04F3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5" name="직사각형 48">
              <a:extLst>
                <a:ext uri="{FF2B5EF4-FFF2-40B4-BE49-F238E27FC236}">
                  <a16:creationId xmlns:a16="http://schemas.microsoft.com/office/drawing/2014/main" id="{6EBAC646-1243-46B8-F880-BBC1A3086D3B}"/>
                </a:ext>
              </a:extLst>
            </p:cNvPr>
            <p:cNvSpPr/>
            <p:nvPr/>
          </p:nvSpPr>
          <p:spPr>
            <a:xfrm>
              <a:off x="770047" y="5587617"/>
              <a:ext cx="4090510" cy="72718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Supplier&lt;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s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      //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-&gt; new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Function&lt;Integer,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f2 =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new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MyClass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Function&lt;Integer,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[]&gt; f2 =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[]::new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// x -&gt; new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[x];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56" name="Text Box 20">
            <a:extLst>
              <a:ext uri="{FF2B5EF4-FFF2-40B4-BE49-F238E27FC236}">
                <a16:creationId xmlns:a16="http://schemas.microsoft.com/office/drawing/2014/main" id="{2A8F23E8-98E5-65BB-FF1A-33E0268AF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464" y="5016116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new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연산자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생성자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배열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와 메서드 참조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108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20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</a:t>
            </a:r>
            <a:r>
              <a:rPr lang="en-US" altLang="ko-KR" sz="3200" b="1" dirty="0"/>
              <a:t>(Stream)</a:t>
            </a:r>
            <a:r>
              <a:rPr lang="ko-KR" altLang="en-US" sz="3200" b="1" dirty="0"/>
              <a:t>이란</a:t>
            </a:r>
            <a:r>
              <a:rPr lang="en-US" altLang="ko-KR" sz="3200" b="1" dirty="0"/>
              <a:t>?</a:t>
            </a:r>
            <a:endParaRPr lang="en-US" sz="3200" b="1" dirty="0"/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02372E40-DBBB-ED28-C314-028FE2362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006" y="163217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다양한 데이터 소스를 표준화된 방법으로 다루기 위한 것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225D07CC-5282-23E1-004E-DB85A1303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71" y="345624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스트림이 제공하는 기능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중간 연산과 최종 연산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83E7C6A4-A9A7-AE45-C97C-D7AE8B0D8C1D}"/>
              </a:ext>
            </a:extLst>
          </p:cNvPr>
          <p:cNvGrpSpPr/>
          <p:nvPr/>
        </p:nvGrpSpPr>
        <p:grpSpPr>
          <a:xfrm>
            <a:off x="1136384" y="3861053"/>
            <a:ext cx="8178912" cy="546112"/>
            <a:chOff x="770046" y="5484958"/>
            <a:chExt cx="4090511" cy="912824"/>
          </a:xfrm>
        </p:grpSpPr>
        <p:sp>
          <p:nvSpPr>
            <p:cNvPr id="24" name="모서리가 둥근 직사각형 13">
              <a:extLst>
                <a:ext uri="{FF2B5EF4-FFF2-40B4-BE49-F238E27FC236}">
                  <a16:creationId xmlns:a16="http://schemas.microsoft.com/office/drawing/2014/main" id="{C5B55C63-9A66-425D-ADD3-D785CBCB89C8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14">
              <a:extLst>
                <a:ext uri="{FF2B5EF4-FFF2-40B4-BE49-F238E27FC236}">
                  <a16:creationId xmlns:a16="http://schemas.microsoft.com/office/drawing/2014/main" id="{05CDDD79-A7A2-E8F4-2AF7-6AD09875C758}"/>
                </a:ext>
              </a:extLst>
            </p:cNvPr>
            <p:cNvSpPr/>
            <p:nvPr/>
          </p:nvSpPr>
          <p:spPr>
            <a:xfrm>
              <a:off x="770047" y="5695690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중간 연산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연산결과가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스트림인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반복적으로 적용가능 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최종 연산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연산결과가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스트림이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아닌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요소를 소모하므로 한번만 적용가능</a:t>
              </a:r>
            </a:p>
          </p:txBody>
        </p:sp>
      </p:grp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C1692CF5-F255-C202-8C2B-FD75A74FA8E1}"/>
              </a:ext>
            </a:extLst>
          </p:cNvPr>
          <p:cNvGrpSpPr/>
          <p:nvPr/>
        </p:nvGrpSpPr>
        <p:grpSpPr>
          <a:xfrm>
            <a:off x="1136384" y="5059705"/>
            <a:ext cx="8251938" cy="1720805"/>
            <a:chOff x="770046" y="5484958"/>
            <a:chExt cx="4127033" cy="912824"/>
          </a:xfrm>
        </p:grpSpPr>
        <p:sp>
          <p:nvSpPr>
            <p:cNvPr id="28" name="모서리가 둥근 직사각형 17">
              <a:extLst>
                <a:ext uri="{FF2B5EF4-FFF2-40B4-BE49-F238E27FC236}">
                  <a16:creationId xmlns:a16="http://schemas.microsoft.com/office/drawing/2014/main" id="{7EC31612-872D-1F82-C7EF-36A1E43A21C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18">
              <a:extLst>
                <a:ext uri="{FF2B5EF4-FFF2-40B4-BE49-F238E27FC236}">
                  <a16:creationId xmlns:a16="http://schemas.microsoft.com/office/drawing/2014/main" id="{F7C0CB8D-9752-96D9-DE0F-0E27A8BB2FDD}"/>
                </a:ext>
              </a:extLst>
            </p:cNvPr>
            <p:cNvSpPr/>
            <p:nvPr/>
          </p:nvSpPr>
          <p:spPr>
            <a:xfrm>
              <a:off x="806569" y="5507581"/>
              <a:ext cx="4090510" cy="84897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String[]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{ 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dd","aaa","CC","cc","b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 };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문자열 배열이 소스인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filteredStream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stream.filter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걸러내기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distinctedStream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stream.distinct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중복제거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sortedStream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stream.sort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정렬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limitedStream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stream.limit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(5);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자르기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total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stream.count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요소 개수 세기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A487188C-5CE2-02DF-22D7-3AC322CCBE6D}"/>
              </a:ext>
            </a:extLst>
          </p:cNvPr>
          <p:cNvGrpSpPr/>
          <p:nvPr/>
        </p:nvGrpSpPr>
        <p:grpSpPr>
          <a:xfrm>
            <a:off x="1155479" y="1999809"/>
            <a:ext cx="8251938" cy="1384995"/>
            <a:chOff x="770046" y="5461337"/>
            <a:chExt cx="4127033" cy="961799"/>
          </a:xfrm>
        </p:grpSpPr>
        <p:sp>
          <p:nvSpPr>
            <p:cNvPr id="31" name="모서리가 둥근 직사각형 20">
              <a:extLst>
                <a:ext uri="{FF2B5EF4-FFF2-40B4-BE49-F238E27FC236}">
                  <a16:creationId xmlns:a16="http://schemas.microsoft.com/office/drawing/2014/main" id="{63CFEE4E-EED0-5EE6-5A47-9A320B80A19F}"/>
                </a:ext>
              </a:extLst>
            </p:cNvPr>
            <p:cNvSpPr/>
            <p:nvPr/>
          </p:nvSpPr>
          <p:spPr bwMode="auto">
            <a:xfrm>
              <a:off x="770046" y="5484961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21">
              <a:extLst>
                <a:ext uri="{FF2B5EF4-FFF2-40B4-BE49-F238E27FC236}">
                  <a16:creationId xmlns:a16="http://schemas.microsoft.com/office/drawing/2014/main" id="{287E314E-932B-D856-74E5-C9C1A18865A9}"/>
                </a:ext>
              </a:extLst>
            </p:cNvPr>
            <p:cNvSpPr/>
            <p:nvPr/>
          </p:nvSpPr>
          <p:spPr>
            <a:xfrm>
              <a:off x="806569" y="5461337"/>
              <a:ext cx="4090510" cy="96179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List&lt;Integer&gt; list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Arrays.asList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(1,2,3,4,5);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컬렉션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String[]{"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a","b","c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"});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배열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evenStream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Stream.iterate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n-&gt;n+2);  // 0,2,4,6,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Stream&lt;Double&gt;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randomStream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Stream.generate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(Math::random);   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람다식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= new Random().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(5);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난수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크기가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5)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9E0D157C-D384-B9F7-9CD4-88B742A48845}"/>
              </a:ext>
            </a:extLst>
          </p:cNvPr>
          <p:cNvGrpSpPr/>
          <p:nvPr/>
        </p:nvGrpSpPr>
        <p:grpSpPr>
          <a:xfrm>
            <a:off x="7014977" y="1887768"/>
            <a:ext cx="2409857" cy="448309"/>
            <a:chOff x="770046" y="5484958"/>
            <a:chExt cx="4127033" cy="1018883"/>
          </a:xfrm>
        </p:grpSpPr>
        <p:sp>
          <p:nvSpPr>
            <p:cNvPr id="34" name="모서리가 둥근 직사각형 23">
              <a:extLst>
                <a:ext uri="{FF2B5EF4-FFF2-40B4-BE49-F238E27FC236}">
                  <a16:creationId xmlns:a16="http://schemas.microsoft.com/office/drawing/2014/main" id="{276FEF88-C3E2-6786-E7EF-20432191CD7F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69651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rPr>
                <a:t>Stream&lt;T&gt;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rPr>
                <a:t>Collection.stream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rPr>
                <a:t>()</a:t>
              </a:r>
              <a:endParaRPr kumimoji="1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24">
              <a:extLst>
                <a:ext uri="{FF2B5EF4-FFF2-40B4-BE49-F238E27FC236}">
                  <a16:creationId xmlns:a16="http://schemas.microsoft.com/office/drawing/2014/main" id="{50A4EF84-4015-1D11-2554-1ED4EB2888B2}"/>
                </a:ext>
              </a:extLst>
            </p:cNvPr>
            <p:cNvSpPr/>
            <p:nvPr/>
          </p:nvSpPr>
          <p:spPr>
            <a:xfrm>
              <a:off x="806569" y="5804349"/>
              <a:ext cx="4090510" cy="69949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0666E6D4-33A7-8B9F-7DA2-C6BAD954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275" y="4448711"/>
            <a:ext cx="6438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0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</a:t>
            </a:r>
            <a:r>
              <a:rPr lang="en-US" altLang="ko-KR" sz="3200" b="1" dirty="0"/>
              <a:t>(Stream)</a:t>
            </a:r>
            <a:r>
              <a:rPr lang="ko-KR" altLang="en-US" sz="3200" b="1" dirty="0"/>
              <a:t>의 특징</a:t>
            </a:r>
            <a:r>
              <a:rPr lang="en-US" altLang="ko-KR" sz="3200" b="1" dirty="0"/>
              <a:t>(1/2)</a:t>
            </a:r>
            <a:endParaRPr lang="en-US" sz="3200" b="1" dirty="0"/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85EC5516-1B57-C6C5-1E08-1CC7F335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84" y="164856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/>
            <a:r>
              <a:rPr lang="ko-KR" altLang="en-US" b="1" dirty="0"/>
              <a:t>스트림은 데이터 소스로부터 데이터를 </a:t>
            </a:r>
            <a:r>
              <a:rPr lang="ko-KR" altLang="en-US" b="1" dirty="0" err="1"/>
              <a:t>읽기만할</a:t>
            </a:r>
            <a:r>
              <a:rPr lang="ko-KR" altLang="en-US" b="1" dirty="0"/>
              <a:t> 뿐 변경하지 않는다</a:t>
            </a:r>
            <a:r>
              <a:rPr lang="en-US" altLang="ko-KR" b="1" dirty="0"/>
              <a:t>.</a:t>
            </a:r>
          </a:p>
        </p:txBody>
      </p:sp>
      <p:grpSp>
        <p:nvGrpSpPr>
          <p:cNvPr id="17" name="그룹 51">
            <a:extLst>
              <a:ext uri="{FF2B5EF4-FFF2-40B4-BE49-F238E27FC236}">
                <a16:creationId xmlns:a16="http://schemas.microsoft.com/office/drawing/2014/main" id="{ED39B78A-C4E7-1984-0915-10B0E7F014AF}"/>
              </a:ext>
            </a:extLst>
          </p:cNvPr>
          <p:cNvGrpSpPr/>
          <p:nvPr/>
        </p:nvGrpSpPr>
        <p:grpSpPr>
          <a:xfrm>
            <a:off x="959997" y="2083078"/>
            <a:ext cx="8232841" cy="1314471"/>
            <a:chOff x="770046" y="5484961"/>
            <a:chExt cx="4117482" cy="912824"/>
          </a:xfrm>
        </p:grpSpPr>
        <p:sp>
          <p:nvSpPr>
            <p:cNvPr id="18" name="모서리가 둥근 직사각형 20">
              <a:extLst>
                <a:ext uri="{FF2B5EF4-FFF2-40B4-BE49-F238E27FC236}">
                  <a16:creationId xmlns:a16="http://schemas.microsoft.com/office/drawing/2014/main" id="{30CA8F5E-2349-AB4B-928A-970E5D8ACB20}"/>
                </a:ext>
              </a:extLst>
            </p:cNvPr>
            <p:cNvSpPr/>
            <p:nvPr/>
          </p:nvSpPr>
          <p:spPr bwMode="auto">
            <a:xfrm>
              <a:off x="770046" y="5484961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9" name="직사각형 21">
              <a:extLst>
                <a:ext uri="{FF2B5EF4-FFF2-40B4-BE49-F238E27FC236}">
                  <a16:creationId xmlns:a16="http://schemas.microsoft.com/office/drawing/2014/main" id="{D14A5754-BF06-AB26-6A03-F9EF4325B114}"/>
                </a:ext>
              </a:extLst>
            </p:cNvPr>
            <p:cNvSpPr/>
            <p:nvPr/>
          </p:nvSpPr>
          <p:spPr>
            <a:xfrm>
              <a:off x="797018" y="5509523"/>
              <a:ext cx="4090510" cy="81218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List&lt;Integer&gt; list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Arrays.asList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(3,1,5,4,2);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List&lt;Integer&gt;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sortedList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sorted()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// list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정렬해서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.collect(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Collectors.toList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새로운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저장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(list);        // [3, 1, 5, 4, 2]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sortedList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// [1, 2, 3, 4, 5]</a:t>
              </a:r>
            </a:p>
          </p:txBody>
        </p: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A24EF287-840B-17E8-0E2E-E33A52FC9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9" y="352099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스트림은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Iterator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처럼 일회용이다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.(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필요하면 다시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스트림을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생성해야 함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1" name="그룹 51">
            <a:extLst>
              <a:ext uri="{FF2B5EF4-FFF2-40B4-BE49-F238E27FC236}">
                <a16:creationId xmlns:a16="http://schemas.microsoft.com/office/drawing/2014/main" id="{B008CC17-C2AF-04C7-67C5-01C488F15658}"/>
              </a:ext>
            </a:extLst>
          </p:cNvPr>
          <p:cNvGrpSpPr/>
          <p:nvPr/>
        </p:nvGrpSpPr>
        <p:grpSpPr>
          <a:xfrm>
            <a:off x="968706" y="3922648"/>
            <a:ext cx="8178912" cy="693746"/>
            <a:chOff x="770046" y="5484958"/>
            <a:chExt cx="4090511" cy="912824"/>
          </a:xfrm>
        </p:grpSpPr>
        <p:sp>
          <p:nvSpPr>
            <p:cNvPr id="22" name="모서리가 둥근 직사각형 27">
              <a:extLst>
                <a:ext uri="{FF2B5EF4-FFF2-40B4-BE49-F238E27FC236}">
                  <a16:creationId xmlns:a16="http://schemas.microsoft.com/office/drawing/2014/main" id="{6A068D91-F782-8169-6E71-D7C78D6B10FE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3" name="직사각형 28">
              <a:extLst>
                <a:ext uri="{FF2B5EF4-FFF2-40B4-BE49-F238E27FC236}">
                  <a16:creationId xmlns:a16="http://schemas.microsoft.com/office/drawing/2014/main" id="{DE77AF98-DC6D-5139-DD30-66CE885396B2}"/>
                </a:ext>
              </a:extLst>
            </p:cNvPr>
            <p:cNvSpPr/>
            <p:nvPr/>
          </p:nvSpPr>
          <p:spPr>
            <a:xfrm>
              <a:off x="770047" y="5625392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모든 요소를 화면에 출력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numOfStr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count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에러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스트림이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이미 닫혔음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</p:txBody>
        </p:sp>
      </p:grpSp>
      <p:sp>
        <p:nvSpPr>
          <p:cNvPr id="24" name="Text Box 20">
            <a:extLst>
              <a:ext uri="{FF2B5EF4-FFF2-40B4-BE49-F238E27FC236}">
                <a16:creationId xmlns:a16="http://schemas.microsoft.com/office/drawing/2014/main" id="{7CAB3C29-19F6-7316-BC5A-65C373DE7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9" y="479896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최종 연산 전까지 중간연산이 수행되지 않는다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 –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지연된 연산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5" name="그룹 51">
            <a:extLst>
              <a:ext uri="{FF2B5EF4-FFF2-40B4-BE49-F238E27FC236}">
                <a16:creationId xmlns:a16="http://schemas.microsoft.com/office/drawing/2014/main" id="{D2820204-859E-2C4B-FC90-95AA0673450A}"/>
              </a:ext>
            </a:extLst>
          </p:cNvPr>
          <p:cNvGrpSpPr/>
          <p:nvPr/>
        </p:nvGrpSpPr>
        <p:grpSpPr>
          <a:xfrm>
            <a:off x="968706" y="5200612"/>
            <a:ext cx="8178912" cy="898887"/>
            <a:chOff x="770046" y="5484958"/>
            <a:chExt cx="4090511" cy="912824"/>
          </a:xfrm>
        </p:grpSpPr>
        <p:sp>
          <p:nvSpPr>
            <p:cNvPr id="26" name="모서리가 둥근 직사각형 31">
              <a:extLst>
                <a:ext uri="{FF2B5EF4-FFF2-40B4-BE49-F238E27FC236}">
                  <a16:creationId xmlns:a16="http://schemas.microsoft.com/office/drawing/2014/main" id="{8BD67F67-0D2D-CA8B-9BA4-3ADFABE77142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7" name="직사각형 32">
              <a:extLst>
                <a:ext uri="{FF2B5EF4-FFF2-40B4-BE49-F238E27FC236}">
                  <a16:creationId xmlns:a16="http://schemas.microsoft.com/office/drawing/2014/main" id="{7BE63A14-5878-E4E1-CA50-A23D26CEAF14}"/>
                </a:ext>
              </a:extLst>
            </p:cNvPr>
            <p:cNvSpPr/>
            <p:nvPr/>
          </p:nvSpPr>
          <p:spPr>
            <a:xfrm>
              <a:off x="770047" y="5559107"/>
              <a:ext cx="4090510" cy="7501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Random().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(1,46);  // 1~45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범위의 무한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distinct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().limit(6).sorted()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+","));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 연산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503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</a:t>
            </a:r>
            <a:r>
              <a:rPr lang="en-US" altLang="ko-KR" sz="3200" b="1" dirty="0"/>
              <a:t>(Stream)</a:t>
            </a:r>
            <a:r>
              <a:rPr lang="ko-KR" altLang="en-US" sz="3200" b="1" dirty="0"/>
              <a:t>의 특징</a:t>
            </a:r>
            <a:r>
              <a:rPr lang="en-US" altLang="ko-KR" sz="3200" b="1" dirty="0"/>
              <a:t>(2/2)</a:t>
            </a:r>
            <a:endParaRPr lang="en-US" sz="3200" b="1" dirty="0"/>
          </a:p>
        </p:txBody>
      </p:sp>
      <p:sp>
        <p:nvSpPr>
          <p:cNvPr id="46" name="Text Box 20">
            <a:extLst>
              <a:ext uri="{FF2B5EF4-FFF2-40B4-BE49-F238E27FC236}">
                <a16:creationId xmlns:a16="http://schemas.microsoft.com/office/drawing/2014/main" id="{DFC8B5AC-323C-0CA6-2D37-3D4B91046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62" y="164067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스트림은 작업을 내부 반복으로 처리한다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.</a:t>
            </a:r>
          </a:p>
        </p:txBody>
      </p:sp>
      <p:grpSp>
        <p:nvGrpSpPr>
          <p:cNvPr id="47" name="그룹 61">
            <a:extLst>
              <a:ext uri="{FF2B5EF4-FFF2-40B4-BE49-F238E27FC236}">
                <a16:creationId xmlns:a16="http://schemas.microsoft.com/office/drawing/2014/main" id="{F91D4F3C-C9D9-1609-012D-718C1D967B0F}"/>
              </a:ext>
            </a:extLst>
          </p:cNvPr>
          <p:cNvGrpSpPr/>
          <p:nvPr/>
        </p:nvGrpSpPr>
        <p:grpSpPr>
          <a:xfrm>
            <a:off x="1354940" y="2042315"/>
            <a:ext cx="3505248" cy="693746"/>
            <a:chOff x="559454" y="3355974"/>
            <a:chExt cx="3878147" cy="1460520"/>
          </a:xfrm>
        </p:grpSpPr>
        <p:sp>
          <p:nvSpPr>
            <p:cNvPr id="48" name="모서리가 둥근 직사각형 19">
              <a:extLst>
                <a:ext uri="{FF2B5EF4-FFF2-40B4-BE49-F238E27FC236}">
                  <a16:creationId xmlns:a16="http://schemas.microsoft.com/office/drawing/2014/main" id="{22A803C3-52D9-BB4A-2AE2-C863A5A7E5DC}"/>
                </a:ext>
              </a:extLst>
            </p:cNvPr>
            <p:cNvSpPr/>
            <p:nvPr/>
          </p:nvSpPr>
          <p:spPr bwMode="auto">
            <a:xfrm>
              <a:off x="559454" y="3355974"/>
              <a:ext cx="3797352" cy="1460520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9" name="직사각형 23">
              <a:extLst>
                <a:ext uri="{FF2B5EF4-FFF2-40B4-BE49-F238E27FC236}">
                  <a16:creationId xmlns:a16="http://schemas.microsoft.com/office/drawing/2014/main" id="{55F100A9-8B55-CA1F-DE7F-483E05845530}"/>
                </a:ext>
              </a:extLst>
            </p:cNvPr>
            <p:cNvSpPr/>
            <p:nvPr/>
          </p:nvSpPr>
          <p:spPr>
            <a:xfrm>
              <a:off x="628596" y="3502026"/>
              <a:ext cx="3809005" cy="9706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for(String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: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50" name="그룹 57">
            <a:extLst>
              <a:ext uri="{FF2B5EF4-FFF2-40B4-BE49-F238E27FC236}">
                <a16:creationId xmlns:a16="http://schemas.microsoft.com/office/drawing/2014/main" id="{6BEAE242-FDB7-1246-9315-ABB6A9602B9F}"/>
              </a:ext>
            </a:extLst>
          </p:cNvPr>
          <p:cNvGrpSpPr/>
          <p:nvPr/>
        </p:nvGrpSpPr>
        <p:grpSpPr>
          <a:xfrm>
            <a:off x="4641110" y="2042313"/>
            <a:ext cx="4892742" cy="693748"/>
            <a:chOff x="4206870" y="2479662"/>
            <a:chExt cx="4410880" cy="912825"/>
          </a:xfrm>
        </p:grpSpPr>
        <p:sp>
          <p:nvSpPr>
            <p:cNvPr id="51" name="모서리가 둥근 직사각형 25">
              <a:extLst>
                <a:ext uri="{FF2B5EF4-FFF2-40B4-BE49-F238E27FC236}">
                  <a16:creationId xmlns:a16="http://schemas.microsoft.com/office/drawing/2014/main" id="{3A25DBD7-E2A2-CFEC-B86A-8BF6C5798CEF}"/>
                </a:ext>
              </a:extLst>
            </p:cNvPr>
            <p:cNvSpPr/>
            <p:nvPr/>
          </p:nvSpPr>
          <p:spPr bwMode="auto">
            <a:xfrm>
              <a:off x="4681539" y="2479662"/>
              <a:ext cx="3797352" cy="912825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2" name="직사각형 26">
              <a:extLst>
                <a:ext uri="{FF2B5EF4-FFF2-40B4-BE49-F238E27FC236}">
                  <a16:creationId xmlns:a16="http://schemas.microsoft.com/office/drawing/2014/main" id="{C6989820-5024-2DF6-C131-E685786C3E8F}"/>
                </a:ext>
              </a:extLst>
            </p:cNvPr>
            <p:cNvSpPr/>
            <p:nvPr/>
          </p:nvSpPr>
          <p:spPr>
            <a:xfrm>
              <a:off x="4856916" y="2792606"/>
              <a:ext cx="376083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  <p:sp>
          <p:nvSpPr>
            <p:cNvPr id="53" name="자유형 29">
              <a:extLst>
                <a:ext uri="{FF2B5EF4-FFF2-40B4-BE49-F238E27FC236}">
                  <a16:creationId xmlns:a16="http://schemas.microsoft.com/office/drawing/2014/main" id="{7B32486A-0E1F-DB40-36CA-CD4C015276A2}"/>
                </a:ext>
              </a:extLst>
            </p:cNvPr>
            <p:cNvSpPr/>
            <p:nvPr/>
          </p:nvSpPr>
          <p:spPr bwMode="auto">
            <a:xfrm flipV="1">
              <a:off x="4206870" y="2808279"/>
              <a:ext cx="730260" cy="307777"/>
            </a:xfrm>
            <a:custGeom>
              <a:avLst/>
              <a:gdLst>
                <a:gd name="connsiteX0" fmla="*/ 0 w 1898676"/>
                <a:gd name="connsiteY0" fmla="*/ 152847 h 611386"/>
                <a:gd name="connsiteX1" fmla="*/ 1471066 w 1898676"/>
                <a:gd name="connsiteY1" fmla="*/ 152847 h 611386"/>
                <a:gd name="connsiteX2" fmla="*/ 1471066 w 1898676"/>
                <a:gd name="connsiteY2" fmla="*/ 0 h 611386"/>
                <a:gd name="connsiteX3" fmla="*/ 1898676 w 1898676"/>
                <a:gd name="connsiteY3" fmla="*/ 305693 h 611386"/>
                <a:gd name="connsiteX4" fmla="*/ 1471066 w 1898676"/>
                <a:gd name="connsiteY4" fmla="*/ 611386 h 611386"/>
                <a:gd name="connsiteX5" fmla="*/ 1471066 w 1898676"/>
                <a:gd name="connsiteY5" fmla="*/ 458540 h 611386"/>
                <a:gd name="connsiteX6" fmla="*/ 0 w 1898676"/>
                <a:gd name="connsiteY6" fmla="*/ 458540 h 611386"/>
                <a:gd name="connsiteX7" fmla="*/ 0 w 1898676"/>
                <a:gd name="connsiteY7" fmla="*/ 152847 h 6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8676" h="611386">
                  <a:moveTo>
                    <a:pt x="0" y="152847"/>
                  </a:moveTo>
                  <a:lnTo>
                    <a:pt x="1471066" y="152847"/>
                  </a:lnTo>
                  <a:lnTo>
                    <a:pt x="1471066" y="0"/>
                  </a:lnTo>
                  <a:lnTo>
                    <a:pt x="1898676" y="305693"/>
                  </a:lnTo>
                  <a:lnTo>
                    <a:pt x="1471066" y="611386"/>
                  </a:lnTo>
                  <a:lnTo>
                    <a:pt x="1471066" y="458540"/>
                  </a:lnTo>
                  <a:lnTo>
                    <a:pt x="0" y="458540"/>
                  </a:lnTo>
                  <a:lnTo>
                    <a:pt x="0" y="152847"/>
                  </a:lnTo>
                  <a:close/>
                </a:path>
              </a:pathLst>
            </a:custGeom>
            <a:solidFill>
              <a:srgbClr val="80808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54" name="그룹 51">
            <a:extLst>
              <a:ext uri="{FF2B5EF4-FFF2-40B4-BE49-F238E27FC236}">
                <a16:creationId xmlns:a16="http://schemas.microsoft.com/office/drawing/2014/main" id="{6A22134C-5B93-9063-F2CC-20C3C5D90DDB}"/>
              </a:ext>
            </a:extLst>
          </p:cNvPr>
          <p:cNvGrpSpPr/>
          <p:nvPr/>
        </p:nvGrpSpPr>
        <p:grpSpPr>
          <a:xfrm>
            <a:off x="1354940" y="2809086"/>
            <a:ext cx="8215425" cy="1460521"/>
            <a:chOff x="770046" y="5549616"/>
            <a:chExt cx="4163555" cy="912824"/>
          </a:xfrm>
        </p:grpSpPr>
        <p:sp>
          <p:nvSpPr>
            <p:cNvPr id="55" name="모서리가 둥근 직사각형 31">
              <a:extLst>
                <a:ext uri="{FF2B5EF4-FFF2-40B4-BE49-F238E27FC236}">
                  <a16:creationId xmlns:a16="http://schemas.microsoft.com/office/drawing/2014/main" id="{2FF48034-A8FA-067C-BDC7-CD8AD8EAF5CC}"/>
                </a:ext>
              </a:extLst>
            </p:cNvPr>
            <p:cNvSpPr/>
            <p:nvPr/>
          </p:nvSpPr>
          <p:spPr bwMode="auto">
            <a:xfrm>
              <a:off x="770046" y="5549616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6" name="직사각형 32">
              <a:extLst>
                <a:ext uri="{FF2B5EF4-FFF2-40B4-BE49-F238E27FC236}">
                  <a16:creationId xmlns:a16="http://schemas.microsoft.com/office/drawing/2014/main" id="{76407167-F0BE-AF4D-2264-99624AFED46E}"/>
                </a:ext>
              </a:extLst>
            </p:cNvPr>
            <p:cNvSpPr/>
            <p:nvPr/>
          </p:nvSpPr>
          <p:spPr>
            <a:xfrm>
              <a:off x="843091" y="5583319"/>
              <a:ext cx="4090510" cy="8656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void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(Consumer&lt;? super T&gt;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action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Objects.requireNonNull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(action);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매개변수의 널 체크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for(T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: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src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내부 반복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(for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문을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메서드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안으로 넣음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action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.accept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57" name="Text Box 20">
            <a:extLst>
              <a:ext uri="{FF2B5EF4-FFF2-40B4-BE49-F238E27FC236}">
                <a16:creationId xmlns:a16="http://schemas.microsoft.com/office/drawing/2014/main" id="{B9BD693F-64A5-15D4-A544-3253F9A2A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804" y="441565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 작업을 병렬로 처리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병렬스트림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58" name="그룹 51">
            <a:extLst>
              <a:ext uri="{FF2B5EF4-FFF2-40B4-BE49-F238E27FC236}">
                <a16:creationId xmlns:a16="http://schemas.microsoft.com/office/drawing/2014/main" id="{6F58E913-B205-66D0-C040-5F05F7CD8AA3}"/>
              </a:ext>
            </a:extLst>
          </p:cNvPr>
          <p:cNvGrpSpPr/>
          <p:nvPr/>
        </p:nvGrpSpPr>
        <p:grpSpPr>
          <a:xfrm>
            <a:off x="1354940" y="4818886"/>
            <a:ext cx="8144319" cy="803285"/>
            <a:chOff x="770046" y="5549616"/>
            <a:chExt cx="4127519" cy="912824"/>
          </a:xfrm>
        </p:grpSpPr>
        <p:sp>
          <p:nvSpPr>
            <p:cNvPr id="59" name="모서리가 둥근 직사각형 35">
              <a:extLst>
                <a:ext uri="{FF2B5EF4-FFF2-40B4-BE49-F238E27FC236}">
                  <a16:creationId xmlns:a16="http://schemas.microsoft.com/office/drawing/2014/main" id="{E1785946-0987-96E8-15E4-F8B309170F0B}"/>
                </a:ext>
              </a:extLst>
            </p:cNvPr>
            <p:cNvSpPr/>
            <p:nvPr/>
          </p:nvSpPr>
          <p:spPr bwMode="auto">
            <a:xfrm>
              <a:off x="770046" y="5549616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60" name="직사각형 36">
              <a:extLst>
                <a:ext uri="{FF2B5EF4-FFF2-40B4-BE49-F238E27FC236}">
                  <a16:creationId xmlns:a16="http://schemas.microsoft.com/office/drawing/2014/main" id="{D157D60A-CA6B-1B5C-1A5F-DF700018D4D8}"/>
                </a:ext>
              </a:extLst>
            </p:cNvPr>
            <p:cNvSpPr/>
            <p:nvPr/>
          </p:nvSpPr>
          <p:spPr>
            <a:xfrm>
              <a:off x="807055" y="5591106"/>
              <a:ext cx="4090510" cy="8393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dd","aaa","CC","cc","b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sum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parallelStream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스트림으로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전환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속성만 변경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    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mapToInt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s.length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()).sum();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모든 문자열의 길이의 합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61" name="Text Box 20">
            <a:extLst>
              <a:ext uri="{FF2B5EF4-FFF2-40B4-BE49-F238E27FC236}">
                <a16:creationId xmlns:a16="http://schemas.microsoft.com/office/drawing/2014/main" id="{CC1FEA28-A19C-4736-8772-C61F633EC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27" y="5728544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기본형 스트림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IntStream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LongStream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DoubleStream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sp>
        <p:nvSpPr>
          <p:cNvPr id="62" name="Text Box 20">
            <a:extLst>
              <a:ext uri="{FF2B5EF4-FFF2-40B4-BE49-F238E27FC236}">
                <a16:creationId xmlns:a16="http://schemas.microsoft.com/office/drawing/2014/main" id="{1B084BE5-8DB4-B4CD-53BC-B6471D5FE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296" y="6058743"/>
            <a:ext cx="87709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  -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오토박싱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&amp;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언박싱의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비효율이 제거됨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(Stream&lt;Integer&gt;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대신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IntStream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사용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993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7" grpId="0"/>
      <p:bldP spid="61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생성</a:t>
            </a:r>
            <a:r>
              <a:rPr lang="en-US" altLang="ko-KR" sz="3200" b="1" dirty="0"/>
              <a:t>(1/3)</a:t>
            </a:r>
            <a:endParaRPr lang="en-US" sz="3200" b="1" dirty="0"/>
          </a:p>
        </p:txBody>
      </p:sp>
      <p:grpSp>
        <p:nvGrpSpPr>
          <p:cNvPr id="18" name="그룹 51">
            <a:extLst>
              <a:ext uri="{FF2B5EF4-FFF2-40B4-BE49-F238E27FC236}">
                <a16:creationId xmlns:a16="http://schemas.microsoft.com/office/drawing/2014/main" id="{6719F3AE-9F75-6786-AB22-949A6BFA7E4A}"/>
              </a:ext>
            </a:extLst>
          </p:cNvPr>
          <p:cNvGrpSpPr/>
          <p:nvPr/>
        </p:nvGrpSpPr>
        <p:grpSpPr>
          <a:xfrm>
            <a:off x="1003248" y="2168630"/>
            <a:ext cx="8178912" cy="693746"/>
            <a:chOff x="770046" y="5484958"/>
            <a:chExt cx="4090511" cy="912824"/>
          </a:xfrm>
        </p:grpSpPr>
        <p:sp>
          <p:nvSpPr>
            <p:cNvPr id="19" name="모서리가 둥근 직사각형 11">
              <a:extLst>
                <a:ext uri="{FF2B5EF4-FFF2-40B4-BE49-F238E27FC236}">
                  <a16:creationId xmlns:a16="http://schemas.microsoft.com/office/drawing/2014/main" id="{CE354A07-7E80-A56C-E943-2509B299E702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0" name="직사각형 12">
              <a:extLst>
                <a:ext uri="{FF2B5EF4-FFF2-40B4-BE49-F238E27FC236}">
                  <a16:creationId xmlns:a16="http://schemas.microsoft.com/office/drawing/2014/main" id="{45032BE3-91E6-9AC0-5303-0E2C3D5D50A0}"/>
                </a:ext>
              </a:extLst>
            </p:cNvPr>
            <p:cNvSpPr/>
            <p:nvPr/>
          </p:nvSpPr>
          <p:spPr>
            <a:xfrm>
              <a:off x="770047" y="5625392"/>
              <a:ext cx="4090510" cy="6884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List&lt;Integer&gt; list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Arrays.asList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(1,2,3,4,5);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Stream&lt;Integer&gt;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;// Stream&lt;T&gt;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Collection.stream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21" name="Text Box 20">
            <a:extLst>
              <a:ext uri="{FF2B5EF4-FFF2-40B4-BE49-F238E27FC236}">
                <a16:creationId xmlns:a16="http://schemas.microsoft.com/office/drawing/2014/main" id="{ADEACC48-0973-CE9F-D183-06F3DBB61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637" y="172889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컬렉션으로부터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2" name="그룹 51">
            <a:extLst>
              <a:ext uri="{FF2B5EF4-FFF2-40B4-BE49-F238E27FC236}">
                <a16:creationId xmlns:a16="http://schemas.microsoft.com/office/drawing/2014/main" id="{F21F17C5-325C-7CB7-F4A8-F32881BFC62A}"/>
              </a:ext>
            </a:extLst>
          </p:cNvPr>
          <p:cNvGrpSpPr/>
          <p:nvPr/>
        </p:nvGrpSpPr>
        <p:grpSpPr>
          <a:xfrm>
            <a:off x="1003248" y="3482470"/>
            <a:ext cx="8178912" cy="1020778"/>
            <a:chOff x="770046" y="5484958"/>
            <a:chExt cx="4090511" cy="912824"/>
          </a:xfrm>
        </p:grpSpPr>
        <p:sp>
          <p:nvSpPr>
            <p:cNvPr id="23" name="모서리가 둥근 직사각형 15">
              <a:extLst>
                <a:ext uri="{FF2B5EF4-FFF2-40B4-BE49-F238E27FC236}">
                  <a16:creationId xmlns:a16="http://schemas.microsoft.com/office/drawing/2014/main" id="{544D445D-5C92-7CFC-0572-311980259873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4" name="직사각형 16">
              <a:extLst>
                <a:ext uri="{FF2B5EF4-FFF2-40B4-BE49-F238E27FC236}">
                  <a16:creationId xmlns:a16="http://schemas.microsoft.com/office/drawing/2014/main" id="{F77B54CD-399C-05AE-DFE8-FFCF5D74AE4B}"/>
                </a:ext>
              </a:extLst>
            </p:cNvPr>
            <p:cNvSpPr/>
            <p:nvPr/>
          </p:nvSpPr>
          <p:spPr>
            <a:xfrm>
              <a:off x="770047" y="5512231"/>
              <a:ext cx="4090510" cy="85320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a","b","c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가변 인자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String[]{"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a","b","c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"});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String[]{"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a","b","c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"});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String[]{"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a","b","c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"}, 0, 3);</a:t>
              </a:r>
            </a:p>
          </p:txBody>
        </p:sp>
      </p:grpSp>
      <p:sp>
        <p:nvSpPr>
          <p:cNvPr id="25" name="Text Box 20">
            <a:extLst>
              <a:ext uri="{FF2B5EF4-FFF2-40B4-BE49-F238E27FC236}">
                <a16:creationId xmlns:a16="http://schemas.microsoft.com/office/drawing/2014/main" id="{48856FCB-B19F-146E-DE8B-D3F9A0112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637" y="304272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배열로부터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6" name="그룹 51">
            <a:extLst>
              <a:ext uri="{FF2B5EF4-FFF2-40B4-BE49-F238E27FC236}">
                <a16:creationId xmlns:a16="http://schemas.microsoft.com/office/drawing/2014/main" id="{B969531E-9CBE-2DE3-07EA-A08CAC69C396}"/>
              </a:ext>
            </a:extLst>
          </p:cNvPr>
          <p:cNvGrpSpPr/>
          <p:nvPr/>
        </p:nvGrpSpPr>
        <p:grpSpPr>
          <a:xfrm>
            <a:off x="1003248" y="5123968"/>
            <a:ext cx="8178912" cy="622935"/>
            <a:chOff x="770046" y="5484958"/>
            <a:chExt cx="4090511" cy="912824"/>
          </a:xfrm>
        </p:grpSpPr>
        <p:sp>
          <p:nvSpPr>
            <p:cNvPr id="27" name="모서리가 둥근 직사각형 19">
              <a:extLst>
                <a:ext uri="{FF2B5EF4-FFF2-40B4-BE49-F238E27FC236}">
                  <a16:creationId xmlns:a16="http://schemas.microsoft.com/office/drawing/2014/main" id="{FF3CEEEE-4FE0-64CD-69B0-338E18693CAA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8" name="직사각형 20">
              <a:extLst>
                <a:ext uri="{FF2B5EF4-FFF2-40B4-BE49-F238E27FC236}">
                  <a16:creationId xmlns:a16="http://schemas.microsoft.com/office/drawing/2014/main" id="{F3E6FA80-5FAC-960E-FFAC-69FD5447A67F}"/>
                </a:ext>
              </a:extLst>
            </p:cNvPr>
            <p:cNvSpPr/>
            <p:nvPr/>
          </p:nvSpPr>
          <p:spPr>
            <a:xfrm>
              <a:off x="770047" y="5572006"/>
              <a:ext cx="4090510" cy="76670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5);       // 1,2,3,4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IntStream.rangeClosed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5); // 1,2,3,4,5</a:t>
              </a: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742AFC45-8304-B31D-CCA5-FA442A691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637" y="4722324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특정 범위의 정수를 요소로 갖는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6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24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생성</a:t>
            </a:r>
            <a:r>
              <a:rPr lang="en-US" altLang="ko-KR" sz="3200" b="1" dirty="0"/>
              <a:t>(2/3)</a:t>
            </a:r>
            <a:endParaRPr lang="en-US" sz="3200" b="1" dirty="0"/>
          </a:p>
        </p:txBody>
      </p:sp>
      <p:grpSp>
        <p:nvGrpSpPr>
          <p:cNvPr id="16" name="그룹 51">
            <a:extLst>
              <a:ext uri="{FF2B5EF4-FFF2-40B4-BE49-F238E27FC236}">
                <a16:creationId xmlns:a16="http://schemas.microsoft.com/office/drawing/2014/main" id="{664059C6-AE4D-CFB6-4C68-3F335707A1AA}"/>
              </a:ext>
            </a:extLst>
          </p:cNvPr>
          <p:cNvGrpSpPr/>
          <p:nvPr/>
        </p:nvGrpSpPr>
        <p:grpSpPr>
          <a:xfrm>
            <a:off x="1196679" y="2080704"/>
            <a:ext cx="8251938" cy="1122266"/>
            <a:chOff x="770046" y="5484958"/>
            <a:chExt cx="4127033" cy="912824"/>
          </a:xfrm>
        </p:grpSpPr>
        <p:sp>
          <p:nvSpPr>
            <p:cNvPr id="17" name="모서리가 둥근 직사각형 11">
              <a:extLst>
                <a:ext uri="{FF2B5EF4-FFF2-40B4-BE49-F238E27FC236}">
                  <a16:creationId xmlns:a16="http://schemas.microsoft.com/office/drawing/2014/main" id="{1F385355-337D-746C-31E8-DDE6C0F1D4D9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0" name="직사각형 12">
              <a:extLst>
                <a:ext uri="{FF2B5EF4-FFF2-40B4-BE49-F238E27FC236}">
                  <a16:creationId xmlns:a16="http://schemas.microsoft.com/office/drawing/2014/main" id="{3130E95C-B1EE-ABE2-F32C-B411D114E873}"/>
                </a:ext>
              </a:extLst>
            </p:cNvPr>
            <p:cNvSpPr/>
            <p:nvPr/>
          </p:nvSpPr>
          <p:spPr>
            <a:xfrm>
              <a:off x="806569" y="5570177"/>
              <a:ext cx="4090510" cy="77604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Random().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무한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limit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(5)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5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개의 요소만 출력한다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Random().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(5)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크기가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5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인 난수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스트림을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반환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31" name="Text Box 20">
            <a:extLst>
              <a:ext uri="{FF2B5EF4-FFF2-40B4-BE49-F238E27FC236}">
                <a16:creationId xmlns:a16="http://schemas.microsoft.com/office/drawing/2014/main" id="{423F80CB-E15F-49EB-7076-4BFA607AA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301" y="164096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난수를 요소로 갖는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32" name="그룹 51">
            <a:extLst>
              <a:ext uri="{FF2B5EF4-FFF2-40B4-BE49-F238E27FC236}">
                <a16:creationId xmlns:a16="http://schemas.microsoft.com/office/drawing/2014/main" id="{DEF30874-5E87-6D57-1FE0-762976CECA38}"/>
              </a:ext>
            </a:extLst>
          </p:cNvPr>
          <p:cNvGrpSpPr/>
          <p:nvPr/>
        </p:nvGrpSpPr>
        <p:grpSpPr>
          <a:xfrm>
            <a:off x="1196679" y="3322148"/>
            <a:ext cx="8251938" cy="942981"/>
            <a:chOff x="770046" y="5484958"/>
            <a:chExt cx="4127033" cy="912824"/>
          </a:xfrm>
        </p:grpSpPr>
        <p:sp>
          <p:nvSpPr>
            <p:cNvPr id="33" name="모서리가 둥근 직사각형 23">
              <a:extLst>
                <a:ext uri="{FF2B5EF4-FFF2-40B4-BE49-F238E27FC236}">
                  <a16:creationId xmlns:a16="http://schemas.microsoft.com/office/drawing/2014/main" id="{99D0EADF-6408-8ADC-7F82-572099F220F8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4" name="직사각형 24">
              <a:extLst>
                <a:ext uri="{FF2B5EF4-FFF2-40B4-BE49-F238E27FC236}">
                  <a16:creationId xmlns:a16="http://schemas.microsoft.com/office/drawing/2014/main" id="{EE21E29C-ECFA-5BC9-6876-91E90FF0394A}"/>
                </a:ext>
              </a:extLst>
            </p:cNvPr>
            <p:cNvSpPr/>
            <p:nvPr/>
          </p:nvSpPr>
          <p:spPr>
            <a:xfrm>
              <a:off x="806569" y="5570174"/>
              <a:ext cx="4090510" cy="7277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Integer.MIN_VALUE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&lt;=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&lt;=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Integer.MAX_VALUE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Long.MIN_VALUE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&lt;=  longs() &lt;=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Long.MAX_VALUE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    0.0 &lt;= doubles()</a:t>
              </a:r>
              <a:r>
                <a:rPr kumimoji="1" lang="en-US" sz="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 1.0</a:t>
              </a:r>
            </a:p>
          </p:txBody>
        </p:sp>
      </p:grp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E618FD75-F428-534C-E249-4A632BA66B78}"/>
              </a:ext>
            </a:extLst>
          </p:cNvPr>
          <p:cNvGrpSpPr/>
          <p:nvPr/>
        </p:nvGrpSpPr>
        <p:grpSpPr>
          <a:xfrm>
            <a:off x="1201262" y="4865329"/>
            <a:ext cx="8251938" cy="1669963"/>
            <a:chOff x="770046" y="5484959"/>
            <a:chExt cx="4127033" cy="912824"/>
          </a:xfrm>
        </p:grpSpPr>
        <p:sp>
          <p:nvSpPr>
            <p:cNvPr id="36" name="모서리가 둥근 직사각형 26">
              <a:extLst>
                <a:ext uri="{FF2B5EF4-FFF2-40B4-BE49-F238E27FC236}">
                  <a16:creationId xmlns:a16="http://schemas.microsoft.com/office/drawing/2014/main" id="{7076C37D-7A84-A52F-12D1-82E16F7ED402}"/>
                </a:ext>
              </a:extLst>
            </p:cNvPr>
            <p:cNvSpPr/>
            <p:nvPr/>
          </p:nvSpPr>
          <p:spPr bwMode="auto">
            <a:xfrm>
              <a:off x="770046" y="5484959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7" name="직사각형 27">
              <a:extLst>
                <a:ext uri="{FF2B5EF4-FFF2-40B4-BE49-F238E27FC236}">
                  <a16:creationId xmlns:a16="http://schemas.microsoft.com/office/drawing/2014/main" id="{1BF111B0-F8D3-F68C-0F4A-36F3F7DC08D0}"/>
                </a:ext>
              </a:extLst>
            </p:cNvPr>
            <p:cNvSpPr/>
            <p:nvPr/>
          </p:nvSpPr>
          <p:spPr>
            <a:xfrm>
              <a:off x="806569" y="5533516"/>
              <a:ext cx="4090510" cy="82435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begin,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end)           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무한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longs(long begin, long end) 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DoubleStream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doubles(double begin, double end)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(long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streamSize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begin,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end)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유한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longs(long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streamSize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long begin, long end)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DoubleStream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doubles(long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streamSize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double begin, double end)</a:t>
              </a:r>
            </a:p>
          </p:txBody>
        </p:sp>
      </p:grpSp>
      <p:sp>
        <p:nvSpPr>
          <p:cNvPr id="38" name="Text Box 20">
            <a:extLst>
              <a:ext uri="{FF2B5EF4-FFF2-40B4-BE49-F238E27FC236}">
                <a16:creationId xmlns:a16="http://schemas.microsoft.com/office/drawing/2014/main" id="{4B112F0A-36B8-A151-873D-41606FA10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010" y="4517140"/>
            <a:ext cx="8604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ea typeface="견명조" pitchFamily="18" charset="-127"/>
              </a:rPr>
              <a:t>    * 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지정된 범위의 </a:t>
            </a:r>
            <a:r>
              <a:rPr kumimoji="1" lang="ko-KR" altLang="en-US" sz="1600" b="1" dirty="0" err="1">
                <a:solidFill>
                  <a:srgbClr val="000000"/>
                </a:solidFill>
                <a:ea typeface="견명조" pitchFamily="18" charset="-127"/>
              </a:rPr>
              <a:t>난수를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 요소로 갖는 </a:t>
            </a:r>
            <a:r>
              <a:rPr kumimoji="1" lang="ko-KR" altLang="en-US" sz="1600" b="1" dirty="0" err="1">
                <a:solidFill>
                  <a:srgbClr val="000000"/>
                </a:solidFill>
                <a:ea typeface="견명조" pitchFamily="18" charset="-127"/>
              </a:rPr>
              <a:t>스트림을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 생성하는 </a:t>
            </a:r>
            <a:r>
              <a:rPr kumimoji="1" lang="ko-KR" altLang="en-US" sz="1600" b="1" dirty="0" err="1">
                <a:solidFill>
                  <a:srgbClr val="000000"/>
                </a:solidFill>
                <a:ea typeface="견명조" pitchFamily="18" charset="-127"/>
              </a:rPr>
              <a:t>메서드</a:t>
            </a:r>
            <a:endParaRPr kumimoji="1" lang="en-US" altLang="ko-KR" sz="1600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33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25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생성</a:t>
            </a:r>
            <a:r>
              <a:rPr lang="en-US" altLang="ko-KR" sz="3200" b="1" dirty="0"/>
              <a:t>(3/3)</a:t>
            </a:r>
            <a:endParaRPr lang="en-US" sz="3200" b="1" dirty="0"/>
          </a:p>
        </p:txBody>
      </p:sp>
      <p:grpSp>
        <p:nvGrpSpPr>
          <p:cNvPr id="19" name="그룹 51">
            <a:extLst>
              <a:ext uri="{FF2B5EF4-FFF2-40B4-BE49-F238E27FC236}">
                <a16:creationId xmlns:a16="http://schemas.microsoft.com/office/drawing/2014/main" id="{00E5A28A-8F27-5A8F-9818-05C55152D3CF}"/>
              </a:ext>
            </a:extLst>
          </p:cNvPr>
          <p:cNvGrpSpPr/>
          <p:nvPr/>
        </p:nvGrpSpPr>
        <p:grpSpPr>
          <a:xfrm>
            <a:off x="985664" y="2098289"/>
            <a:ext cx="8251938" cy="657236"/>
            <a:chOff x="770046" y="5484958"/>
            <a:chExt cx="4127033" cy="912824"/>
          </a:xfrm>
        </p:grpSpPr>
        <p:sp>
          <p:nvSpPr>
            <p:cNvPr id="20" name="모서리가 둥근 직사각형 11">
              <a:extLst>
                <a:ext uri="{FF2B5EF4-FFF2-40B4-BE49-F238E27FC236}">
                  <a16:creationId xmlns:a16="http://schemas.microsoft.com/office/drawing/2014/main" id="{FE3EC851-57D7-2069-7594-269B3329600D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1" name="직사각형 12">
              <a:extLst>
                <a:ext uri="{FF2B5EF4-FFF2-40B4-BE49-F238E27FC236}">
                  <a16:creationId xmlns:a16="http://schemas.microsoft.com/office/drawing/2014/main" id="{4F85CFCE-CB48-1C2B-4A86-A7821077A735}"/>
                </a:ext>
              </a:extLst>
            </p:cNvPr>
            <p:cNvSpPr/>
            <p:nvPr/>
          </p:nvSpPr>
          <p:spPr>
            <a:xfrm>
              <a:off x="806569" y="5570177"/>
              <a:ext cx="4090510" cy="7266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static &lt;T&gt; Stream&lt;T&gt;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iterate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seed,UnaryOperator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f)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이전 요소에 종속적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static &lt;T&gt; Stream&lt;T&gt;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generate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(Supplier&lt;T&gt; s)   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이전 요소에 독립적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22" name="Text Box 20">
            <a:extLst>
              <a:ext uri="{FF2B5EF4-FFF2-40B4-BE49-F238E27FC236}">
                <a16:creationId xmlns:a16="http://schemas.microsoft.com/office/drawing/2014/main" id="{E841BC5F-5302-093B-2155-5FB34D48B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86" y="165855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람다식을 소스로 하는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EF097063-0A61-2E9F-2890-F4708F5E18B9}"/>
              </a:ext>
            </a:extLst>
          </p:cNvPr>
          <p:cNvGrpSpPr/>
          <p:nvPr/>
        </p:nvGrpSpPr>
        <p:grpSpPr>
          <a:xfrm>
            <a:off x="985664" y="2938090"/>
            <a:ext cx="8251938" cy="1022367"/>
            <a:chOff x="770046" y="5484958"/>
            <a:chExt cx="4127033" cy="912824"/>
          </a:xfrm>
        </p:grpSpPr>
        <p:sp>
          <p:nvSpPr>
            <p:cNvPr id="24" name="모서리가 둥근 직사각형 22">
              <a:extLst>
                <a:ext uri="{FF2B5EF4-FFF2-40B4-BE49-F238E27FC236}">
                  <a16:creationId xmlns:a16="http://schemas.microsoft.com/office/drawing/2014/main" id="{9F6E2830-7D3A-C678-2D47-CECA5A6B149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25">
              <a:extLst>
                <a:ext uri="{FF2B5EF4-FFF2-40B4-BE49-F238E27FC236}">
                  <a16:creationId xmlns:a16="http://schemas.microsoft.com/office/drawing/2014/main" id="{BAD1B473-255C-7669-9B5A-E8F016B05BFB}"/>
                </a:ext>
              </a:extLst>
            </p:cNvPr>
            <p:cNvSpPr/>
            <p:nvPr/>
          </p:nvSpPr>
          <p:spPr>
            <a:xfrm>
              <a:off x="806569" y="5563135"/>
              <a:ext cx="4090510" cy="76943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evenStream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Stream.iterate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n-&gt;n+2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 // 0,2,4,6,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Stream&lt;Double&gt;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randomStream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Stream.generate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Math::random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oneStream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Stream.generate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()-&gt;1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26" name="그룹 51">
            <a:extLst>
              <a:ext uri="{FF2B5EF4-FFF2-40B4-BE49-F238E27FC236}">
                <a16:creationId xmlns:a16="http://schemas.microsoft.com/office/drawing/2014/main" id="{CF829507-BB2A-6620-3054-44F728B0173C}"/>
              </a:ext>
            </a:extLst>
          </p:cNvPr>
          <p:cNvGrpSpPr/>
          <p:nvPr/>
        </p:nvGrpSpPr>
        <p:grpSpPr>
          <a:xfrm>
            <a:off x="990247" y="4617671"/>
            <a:ext cx="8251938" cy="508643"/>
            <a:chOff x="770046" y="5484958"/>
            <a:chExt cx="4127033" cy="912824"/>
          </a:xfrm>
        </p:grpSpPr>
        <p:sp>
          <p:nvSpPr>
            <p:cNvPr id="27" name="모서리가 둥근 직사각형 30">
              <a:extLst>
                <a:ext uri="{FF2B5EF4-FFF2-40B4-BE49-F238E27FC236}">
                  <a16:creationId xmlns:a16="http://schemas.microsoft.com/office/drawing/2014/main" id="{8BCB6060-AA07-8CAA-3238-2EDFFA35F782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8" name="직사각형 31">
              <a:extLst>
                <a:ext uri="{FF2B5EF4-FFF2-40B4-BE49-F238E27FC236}">
                  <a16:creationId xmlns:a16="http://schemas.microsoft.com/office/drawing/2014/main" id="{C53B5E39-37DE-4BDB-CFB4-F63AD46D61D8}"/>
                </a:ext>
              </a:extLst>
            </p:cNvPr>
            <p:cNvSpPr/>
            <p:nvPr/>
          </p:nvSpPr>
          <p:spPr>
            <a:xfrm>
              <a:off x="806569" y="5681554"/>
              <a:ext cx="4090510" cy="55234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Stream&lt;Path&gt;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Files.list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(Path dir)   // Path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는 파일 또는 디렉토리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B870F4B2-673B-1B7D-F1AF-55AB7FF02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9" y="417794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파일을 소스로 하는 스트림 생성하기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8CA46550-2993-A8B8-2253-AF2E334C9102}"/>
              </a:ext>
            </a:extLst>
          </p:cNvPr>
          <p:cNvGrpSpPr/>
          <p:nvPr/>
        </p:nvGrpSpPr>
        <p:grpSpPr>
          <a:xfrm>
            <a:off x="990247" y="5311426"/>
            <a:ext cx="8251938" cy="876321"/>
            <a:chOff x="770046" y="5484958"/>
            <a:chExt cx="4127033" cy="912824"/>
          </a:xfrm>
        </p:grpSpPr>
        <p:sp>
          <p:nvSpPr>
            <p:cNvPr id="31" name="모서리가 둥근 직사각형 34">
              <a:extLst>
                <a:ext uri="{FF2B5EF4-FFF2-40B4-BE49-F238E27FC236}">
                  <a16:creationId xmlns:a16="http://schemas.microsoft.com/office/drawing/2014/main" id="{FBBDDC45-3EAD-A6E9-C7C9-D7D334F15F26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35">
              <a:extLst>
                <a:ext uri="{FF2B5EF4-FFF2-40B4-BE49-F238E27FC236}">
                  <a16:creationId xmlns:a16="http://schemas.microsoft.com/office/drawing/2014/main" id="{BA025E5E-B411-11F0-BB58-9A4BEFA27F08}"/>
                </a:ext>
              </a:extLst>
            </p:cNvPr>
            <p:cNvSpPr/>
            <p:nvPr/>
          </p:nvSpPr>
          <p:spPr>
            <a:xfrm>
              <a:off x="806569" y="5911348"/>
              <a:ext cx="4090510" cy="41036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Files.lines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(Path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path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Files.lines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(Path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path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Charset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cs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endPara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 lines() //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BufferedReader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클래스의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메서드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2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26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(1/6)</a:t>
            </a:r>
            <a:endParaRPr lang="en-US" sz="3200" b="1" dirty="0"/>
          </a:p>
        </p:txBody>
      </p:sp>
      <p:grpSp>
        <p:nvGrpSpPr>
          <p:cNvPr id="28" name="그룹 51">
            <a:extLst>
              <a:ext uri="{FF2B5EF4-FFF2-40B4-BE49-F238E27FC236}">
                <a16:creationId xmlns:a16="http://schemas.microsoft.com/office/drawing/2014/main" id="{A35A398C-76AF-65B3-7A45-0D0446051564}"/>
              </a:ext>
            </a:extLst>
          </p:cNvPr>
          <p:cNvGrpSpPr/>
          <p:nvPr/>
        </p:nvGrpSpPr>
        <p:grpSpPr>
          <a:xfrm>
            <a:off x="1108754" y="2041515"/>
            <a:ext cx="8251938" cy="657237"/>
            <a:chOff x="770046" y="5484958"/>
            <a:chExt cx="4127033" cy="912824"/>
          </a:xfrm>
        </p:grpSpPr>
        <p:sp>
          <p:nvSpPr>
            <p:cNvPr id="29" name="모서리가 둥근 직사각형 11">
              <a:extLst>
                <a:ext uri="{FF2B5EF4-FFF2-40B4-BE49-F238E27FC236}">
                  <a16:creationId xmlns:a16="http://schemas.microsoft.com/office/drawing/2014/main" id="{9A6F04C2-6D28-045B-54A4-9D90D78AE31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0" name="직사각형 12">
              <a:extLst>
                <a:ext uri="{FF2B5EF4-FFF2-40B4-BE49-F238E27FC236}">
                  <a16:creationId xmlns:a16="http://schemas.microsoft.com/office/drawing/2014/main" id="{AF617523-D029-43AA-1B2C-0D90691FE3B2}"/>
                </a:ext>
              </a:extLst>
            </p:cNvPr>
            <p:cNvSpPr/>
            <p:nvPr/>
          </p:nvSpPr>
          <p:spPr>
            <a:xfrm>
              <a:off x="806569" y="5570171"/>
              <a:ext cx="4090510" cy="7266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skip(long n)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앞에서부터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개 건너뛰기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limit(long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maxSize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// </a:t>
              </a:r>
              <a:r>
                <a:rPr kumimoji="1" lang="en-US" altLang="ko-KR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maxSize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이후의 요소는 잘라냄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31" name="Text Box 20">
            <a:extLst>
              <a:ext uri="{FF2B5EF4-FFF2-40B4-BE49-F238E27FC236}">
                <a16:creationId xmlns:a16="http://schemas.microsoft.com/office/drawing/2014/main" id="{F030C161-3AFC-FB1D-6735-814D3B655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76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 자르기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skip(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limit(</a:t>
            </a:r>
            <a:r>
              <a:rPr kumimoji="1" lang="en-US" altLang="ko-KR" sz="6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sp>
        <p:nvSpPr>
          <p:cNvPr id="32" name="Text Box 20">
            <a:extLst>
              <a:ext uri="{FF2B5EF4-FFF2-40B4-BE49-F238E27FC236}">
                <a16:creationId xmlns:a16="http://schemas.microsoft.com/office/drawing/2014/main" id="{F0BA7A92-0EAB-250F-D814-DC63ACD51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59" y="361156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 요소 걸러내기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filter(</a:t>
            </a:r>
            <a:r>
              <a:rPr kumimoji="1" lang="en-US" altLang="ko-KR" sz="6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distinct(</a:t>
            </a:r>
            <a:r>
              <a:rPr kumimoji="1" lang="en-US" altLang="ko-KR" sz="6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9250EAF9-E61B-1894-2E86-955411FFED13}"/>
              </a:ext>
            </a:extLst>
          </p:cNvPr>
          <p:cNvGrpSpPr/>
          <p:nvPr/>
        </p:nvGrpSpPr>
        <p:grpSpPr>
          <a:xfrm>
            <a:off x="1108754" y="2771766"/>
            <a:ext cx="8251938" cy="657237"/>
            <a:chOff x="770046" y="5484958"/>
            <a:chExt cx="4127033" cy="912824"/>
          </a:xfrm>
        </p:grpSpPr>
        <p:sp>
          <p:nvSpPr>
            <p:cNvPr id="34" name="모서리가 둥근 직사각형 26">
              <a:extLst>
                <a:ext uri="{FF2B5EF4-FFF2-40B4-BE49-F238E27FC236}">
                  <a16:creationId xmlns:a16="http://schemas.microsoft.com/office/drawing/2014/main" id="{E8DF47A8-CCE1-276B-6CD3-A22F7D7EC177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27">
              <a:extLst>
                <a:ext uri="{FF2B5EF4-FFF2-40B4-BE49-F238E27FC236}">
                  <a16:creationId xmlns:a16="http://schemas.microsoft.com/office/drawing/2014/main" id="{8E0C3E67-2721-99E2-346C-C983D7D8733A}"/>
                </a:ext>
              </a:extLst>
            </p:cNvPr>
            <p:cNvSpPr/>
            <p:nvPr/>
          </p:nvSpPr>
          <p:spPr>
            <a:xfrm>
              <a:off x="806569" y="5570171"/>
              <a:ext cx="4090510" cy="72669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IntStream.rangeClosed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10);    // 123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45678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910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skip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(3)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limit(5)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// 45678</a:t>
              </a:r>
            </a:p>
          </p:txBody>
        </p:sp>
      </p:grpSp>
      <p:grpSp>
        <p:nvGrpSpPr>
          <p:cNvPr id="36" name="그룹 51">
            <a:extLst>
              <a:ext uri="{FF2B5EF4-FFF2-40B4-BE49-F238E27FC236}">
                <a16:creationId xmlns:a16="http://schemas.microsoft.com/office/drawing/2014/main" id="{0A003D32-D5FB-49F8-95D9-AD649AE7290A}"/>
              </a:ext>
            </a:extLst>
          </p:cNvPr>
          <p:cNvGrpSpPr/>
          <p:nvPr/>
        </p:nvGrpSpPr>
        <p:grpSpPr>
          <a:xfrm>
            <a:off x="5928470" y="1420785"/>
            <a:ext cx="3322683" cy="657238"/>
            <a:chOff x="770046" y="5484958"/>
            <a:chExt cx="4127033" cy="912824"/>
          </a:xfrm>
        </p:grpSpPr>
        <p:sp>
          <p:nvSpPr>
            <p:cNvPr id="37" name="모서리가 둥근 직사각형 29">
              <a:extLst>
                <a:ext uri="{FF2B5EF4-FFF2-40B4-BE49-F238E27FC236}">
                  <a16:creationId xmlns:a16="http://schemas.microsoft.com/office/drawing/2014/main" id="{1C17114E-5E11-0874-B755-D9AA0BC1DE15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8" name="직사각형 33">
              <a:extLst>
                <a:ext uri="{FF2B5EF4-FFF2-40B4-BE49-F238E27FC236}">
                  <a16:creationId xmlns:a16="http://schemas.microsoft.com/office/drawing/2014/main" id="{D20702FE-99DD-8916-2F6E-7A3FE68BC9BE}"/>
                </a:ext>
              </a:extLst>
            </p:cNvPr>
            <p:cNvSpPr/>
            <p:nvPr/>
          </p:nvSpPr>
          <p:spPr>
            <a:xfrm>
              <a:off x="806569" y="5570167"/>
              <a:ext cx="4090510" cy="72669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skip(long n)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limit(long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maxSize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</a:t>
              </a:r>
            </a:p>
          </p:txBody>
        </p:sp>
      </p:grpSp>
      <p:grpSp>
        <p:nvGrpSpPr>
          <p:cNvPr id="39" name="그룹 51">
            <a:extLst>
              <a:ext uri="{FF2B5EF4-FFF2-40B4-BE49-F238E27FC236}">
                <a16:creationId xmlns:a16="http://schemas.microsoft.com/office/drawing/2014/main" id="{AFCD6F5B-7E84-BAB7-9142-D5CCAB723EB1}"/>
              </a:ext>
            </a:extLst>
          </p:cNvPr>
          <p:cNvGrpSpPr/>
          <p:nvPr/>
        </p:nvGrpSpPr>
        <p:grpSpPr>
          <a:xfrm>
            <a:off x="1108754" y="4051318"/>
            <a:ext cx="8251938" cy="619124"/>
            <a:chOff x="770046" y="5484958"/>
            <a:chExt cx="4127033" cy="912824"/>
          </a:xfrm>
        </p:grpSpPr>
        <p:sp>
          <p:nvSpPr>
            <p:cNvPr id="40" name="모서리가 둥근 직사각형 37">
              <a:extLst>
                <a:ext uri="{FF2B5EF4-FFF2-40B4-BE49-F238E27FC236}">
                  <a16:creationId xmlns:a16="http://schemas.microsoft.com/office/drawing/2014/main" id="{E8BC7AF7-1D33-6C04-E81B-AA0690E2C02E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1" name="직사각형 38">
              <a:extLst>
                <a:ext uri="{FF2B5EF4-FFF2-40B4-BE49-F238E27FC236}">
                  <a16:creationId xmlns:a16="http://schemas.microsoft.com/office/drawing/2014/main" id="{850D5B70-BED7-775B-DCA5-04FE9B0A4DD4}"/>
                </a:ext>
              </a:extLst>
            </p:cNvPr>
            <p:cNvSpPr/>
            <p:nvPr/>
          </p:nvSpPr>
          <p:spPr>
            <a:xfrm>
              <a:off x="806569" y="5617259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filter(Predicate&lt;? super T&gt; predicate)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조건에 맞지 않는 요소 제거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distinct()                    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중복제거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42" name="그룹 51">
            <a:extLst>
              <a:ext uri="{FF2B5EF4-FFF2-40B4-BE49-F238E27FC236}">
                <a16:creationId xmlns:a16="http://schemas.microsoft.com/office/drawing/2014/main" id="{BACFFC16-F801-0D1D-F3F6-8E09D1163405}"/>
              </a:ext>
            </a:extLst>
          </p:cNvPr>
          <p:cNvGrpSpPr/>
          <p:nvPr/>
        </p:nvGrpSpPr>
        <p:grpSpPr>
          <a:xfrm>
            <a:off x="1108754" y="4743468"/>
            <a:ext cx="8251938" cy="620721"/>
            <a:chOff x="770046" y="5484958"/>
            <a:chExt cx="4127033" cy="912824"/>
          </a:xfrm>
        </p:grpSpPr>
        <p:sp>
          <p:nvSpPr>
            <p:cNvPr id="43" name="모서리가 둥근 직사각형 40">
              <a:extLst>
                <a:ext uri="{FF2B5EF4-FFF2-40B4-BE49-F238E27FC236}">
                  <a16:creationId xmlns:a16="http://schemas.microsoft.com/office/drawing/2014/main" id="{03DB9C83-2907-5557-6ED8-9E2A4EDC5956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4" name="직사각형 41">
              <a:extLst>
                <a:ext uri="{FF2B5EF4-FFF2-40B4-BE49-F238E27FC236}">
                  <a16:creationId xmlns:a16="http://schemas.microsoft.com/office/drawing/2014/main" id="{3411D33F-B6BF-322D-E601-61E1BDB49E5F}"/>
                </a:ext>
              </a:extLst>
            </p:cNvPr>
            <p:cNvSpPr/>
            <p:nvPr/>
          </p:nvSpPr>
          <p:spPr>
            <a:xfrm>
              <a:off x="806569" y="5553762"/>
              <a:ext cx="4090510" cy="769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(1,2,2,3,3,3,4,5,5,6);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distinct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         // 123456</a:t>
              </a:r>
            </a:p>
          </p:txBody>
        </p:sp>
      </p:grpSp>
      <p:grpSp>
        <p:nvGrpSpPr>
          <p:cNvPr id="45" name="그룹 51">
            <a:extLst>
              <a:ext uri="{FF2B5EF4-FFF2-40B4-BE49-F238E27FC236}">
                <a16:creationId xmlns:a16="http://schemas.microsoft.com/office/drawing/2014/main" id="{7F40BC2C-956A-8B25-AD2D-12C1A02090D9}"/>
              </a:ext>
            </a:extLst>
          </p:cNvPr>
          <p:cNvGrpSpPr/>
          <p:nvPr/>
        </p:nvGrpSpPr>
        <p:grpSpPr>
          <a:xfrm>
            <a:off x="1108754" y="5437214"/>
            <a:ext cx="8251938" cy="584209"/>
            <a:chOff x="770046" y="5484958"/>
            <a:chExt cx="4127033" cy="912824"/>
          </a:xfrm>
        </p:grpSpPr>
        <p:sp>
          <p:nvSpPr>
            <p:cNvPr id="46" name="모서리가 둥근 직사각형 43">
              <a:extLst>
                <a:ext uri="{FF2B5EF4-FFF2-40B4-BE49-F238E27FC236}">
                  <a16:creationId xmlns:a16="http://schemas.microsoft.com/office/drawing/2014/main" id="{DC562C78-705D-B825-1794-A2F36F166D5A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7" name="직사각형 44">
              <a:extLst>
                <a:ext uri="{FF2B5EF4-FFF2-40B4-BE49-F238E27FC236}">
                  <a16:creationId xmlns:a16="http://schemas.microsoft.com/office/drawing/2014/main" id="{D8B3E011-FA7A-FACA-769F-071AECBA6932}"/>
                </a:ext>
              </a:extLst>
            </p:cNvPr>
            <p:cNvSpPr/>
            <p:nvPr/>
          </p:nvSpPr>
          <p:spPr>
            <a:xfrm>
              <a:off x="806569" y="5542011"/>
              <a:ext cx="4090510" cy="81752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IntStream.rangeClosed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10);       // 12345678910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filter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-&gt;i%2==0)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  // 246810 </a:t>
              </a:r>
            </a:p>
          </p:txBody>
        </p:sp>
      </p:grpSp>
      <p:grpSp>
        <p:nvGrpSpPr>
          <p:cNvPr id="48" name="그룹 51">
            <a:extLst>
              <a:ext uri="{FF2B5EF4-FFF2-40B4-BE49-F238E27FC236}">
                <a16:creationId xmlns:a16="http://schemas.microsoft.com/office/drawing/2014/main" id="{0DF5E1FA-CDA7-97EE-CAAC-90F53CA794B7}"/>
              </a:ext>
            </a:extLst>
          </p:cNvPr>
          <p:cNvGrpSpPr/>
          <p:nvPr/>
        </p:nvGrpSpPr>
        <p:grpSpPr>
          <a:xfrm>
            <a:off x="1108754" y="6094444"/>
            <a:ext cx="8251938" cy="657238"/>
            <a:chOff x="770046" y="5484958"/>
            <a:chExt cx="4127033" cy="912824"/>
          </a:xfrm>
        </p:grpSpPr>
        <p:sp>
          <p:nvSpPr>
            <p:cNvPr id="49" name="모서리가 둥근 직사각형 46">
              <a:extLst>
                <a:ext uri="{FF2B5EF4-FFF2-40B4-BE49-F238E27FC236}">
                  <a16:creationId xmlns:a16="http://schemas.microsoft.com/office/drawing/2014/main" id="{054D4227-6CB6-0778-C040-CC060BA1579E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0" name="직사각형 47">
              <a:extLst>
                <a:ext uri="{FF2B5EF4-FFF2-40B4-BE49-F238E27FC236}">
                  <a16:creationId xmlns:a16="http://schemas.microsoft.com/office/drawing/2014/main" id="{26A52A7B-DC14-E6FA-C79F-716911631D61}"/>
                </a:ext>
              </a:extLst>
            </p:cNvPr>
            <p:cNvSpPr/>
            <p:nvPr/>
          </p:nvSpPr>
          <p:spPr>
            <a:xfrm>
              <a:off x="806569" y="5570167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filter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-&gt;i%2!=0 &amp;&amp; i%3!=0)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filter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-&gt;i%2!=0)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filter(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-&gt;i%3!=0)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19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27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(2/6)</a:t>
            </a:r>
            <a:endParaRPr lang="en-US" sz="3200" b="1" dirty="0"/>
          </a:p>
        </p:txBody>
      </p:sp>
      <p:grpSp>
        <p:nvGrpSpPr>
          <p:cNvPr id="15" name="그룹 51">
            <a:extLst>
              <a:ext uri="{FF2B5EF4-FFF2-40B4-BE49-F238E27FC236}">
                <a16:creationId xmlns:a16="http://schemas.microsoft.com/office/drawing/2014/main" id="{FCF048BE-A4FD-656B-DA98-BCCA95FFD54C}"/>
              </a:ext>
            </a:extLst>
          </p:cNvPr>
          <p:cNvGrpSpPr/>
          <p:nvPr/>
        </p:nvGrpSpPr>
        <p:grpSpPr>
          <a:xfrm>
            <a:off x="985663" y="2111310"/>
            <a:ext cx="8251938" cy="657238"/>
            <a:chOff x="770046" y="5484958"/>
            <a:chExt cx="4127033" cy="912824"/>
          </a:xfrm>
        </p:grpSpPr>
        <p:sp>
          <p:nvSpPr>
            <p:cNvPr id="16" name="모서리가 둥근 직사각형 11">
              <a:extLst>
                <a:ext uri="{FF2B5EF4-FFF2-40B4-BE49-F238E27FC236}">
                  <a16:creationId xmlns:a16="http://schemas.microsoft.com/office/drawing/2014/main" id="{532D3D6E-C4EB-BCFA-0485-69F767D6B761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7" name="직사각형 12">
              <a:extLst>
                <a:ext uri="{FF2B5EF4-FFF2-40B4-BE49-F238E27FC236}">
                  <a16:creationId xmlns:a16="http://schemas.microsoft.com/office/drawing/2014/main" id="{04D4ADBF-5C9A-DBCF-7211-728DCC925FD9}"/>
                </a:ext>
              </a:extLst>
            </p:cNvPr>
            <p:cNvSpPr/>
            <p:nvPr/>
          </p:nvSpPr>
          <p:spPr>
            <a:xfrm>
              <a:off x="806569" y="5570164"/>
              <a:ext cx="4090510" cy="72668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sorted()               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요소의 기본 정렬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(Comparable)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로 정렬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sorted(Comparator&lt;? super T&gt; comparator) //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지정된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Comparator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로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정렬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18" name="Text Box 20">
            <a:extLst>
              <a:ext uri="{FF2B5EF4-FFF2-40B4-BE49-F238E27FC236}">
                <a16:creationId xmlns:a16="http://schemas.microsoft.com/office/drawing/2014/main" id="{4831D7AF-A67E-C1B1-6375-A24CC8B32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85" y="170808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 정렬하기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sorted(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19" name="그룹 51">
            <a:extLst>
              <a:ext uri="{FF2B5EF4-FFF2-40B4-BE49-F238E27FC236}">
                <a16:creationId xmlns:a16="http://schemas.microsoft.com/office/drawing/2014/main" id="{01C99E2B-0142-D335-29AC-1A13D85E2EC8}"/>
              </a:ext>
            </a:extLst>
          </p:cNvPr>
          <p:cNvGrpSpPr/>
          <p:nvPr/>
        </p:nvGrpSpPr>
        <p:grpSpPr>
          <a:xfrm>
            <a:off x="1319770" y="5880063"/>
            <a:ext cx="8251938" cy="837260"/>
            <a:chOff x="770046" y="5484958"/>
            <a:chExt cx="4127033" cy="912824"/>
          </a:xfrm>
        </p:grpSpPr>
        <p:sp>
          <p:nvSpPr>
            <p:cNvPr id="20" name="모서리가 둥근 직사각형 42">
              <a:extLst>
                <a:ext uri="{FF2B5EF4-FFF2-40B4-BE49-F238E27FC236}">
                  <a16:creationId xmlns:a16="http://schemas.microsoft.com/office/drawing/2014/main" id="{9FF4F8EA-A73B-B3E4-E5F2-A86309A4FAB8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1" name="직사각형 45">
              <a:extLst>
                <a:ext uri="{FF2B5EF4-FFF2-40B4-BE49-F238E27FC236}">
                  <a16:creationId xmlns:a16="http://schemas.microsoft.com/office/drawing/2014/main" id="{663EC528-D159-A765-26E7-93EB9762281F}"/>
                </a:ext>
              </a:extLst>
            </p:cNvPr>
            <p:cNvSpPr/>
            <p:nvPr/>
          </p:nvSpPr>
          <p:spPr>
            <a:xfrm>
              <a:off x="806569" y="5570166"/>
              <a:ext cx="4090510" cy="80533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studentStream.sorted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Comparator.comparing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getBan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반별로 정렬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thenComparing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총점별로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정렬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Sysetm.out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22" name="그룹 51">
            <a:extLst>
              <a:ext uri="{FF2B5EF4-FFF2-40B4-BE49-F238E27FC236}">
                <a16:creationId xmlns:a16="http://schemas.microsoft.com/office/drawing/2014/main" id="{3B2F19EE-2778-D7C5-7E58-FDAB792030E8}"/>
              </a:ext>
            </a:extLst>
          </p:cNvPr>
          <p:cNvGrpSpPr/>
          <p:nvPr/>
        </p:nvGrpSpPr>
        <p:grpSpPr>
          <a:xfrm>
            <a:off x="4980406" y="1596171"/>
            <a:ext cx="5148333" cy="523220"/>
            <a:chOff x="770046" y="5671094"/>
            <a:chExt cx="4127033" cy="934320"/>
          </a:xfrm>
        </p:grpSpPr>
        <p:sp>
          <p:nvSpPr>
            <p:cNvPr id="23" name="모서리가 둥근 직사각형 49">
              <a:extLst>
                <a:ext uri="{FF2B5EF4-FFF2-40B4-BE49-F238E27FC236}">
                  <a16:creationId xmlns:a16="http://schemas.microsoft.com/office/drawing/2014/main" id="{096F5B2F-EA19-59D9-EC1C-238F6C1999F0}"/>
                </a:ext>
              </a:extLst>
            </p:cNvPr>
            <p:cNvSpPr/>
            <p:nvPr/>
          </p:nvSpPr>
          <p:spPr bwMode="auto">
            <a:xfrm>
              <a:off x="770046" y="5680560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4" name="직사각형 50">
              <a:extLst>
                <a:ext uri="{FF2B5EF4-FFF2-40B4-BE49-F238E27FC236}">
                  <a16:creationId xmlns:a16="http://schemas.microsoft.com/office/drawing/2014/main" id="{7795EA22-4756-9973-9671-FEA5901A093E}"/>
                </a:ext>
              </a:extLst>
            </p:cNvPr>
            <p:cNvSpPr/>
            <p:nvPr/>
          </p:nvSpPr>
          <p:spPr>
            <a:xfrm>
              <a:off x="806569" y="5671094"/>
              <a:ext cx="4090510" cy="93432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Comparator&lt;String&gt;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CASE_INSENSITIVE_ORDER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= new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CaseInsensitiveComparator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BCF729AB-D401-22F6-28A2-9FDA78E7E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184" y="2808166"/>
            <a:ext cx="68580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28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(3/6)</a:t>
            </a:r>
            <a:endParaRPr lang="en-US" sz="3200" b="1" dirty="0"/>
          </a:p>
        </p:txBody>
      </p:sp>
      <p:grpSp>
        <p:nvGrpSpPr>
          <p:cNvPr id="16" name="그룹 51">
            <a:extLst>
              <a:ext uri="{FF2B5EF4-FFF2-40B4-BE49-F238E27FC236}">
                <a16:creationId xmlns:a16="http://schemas.microsoft.com/office/drawing/2014/main" id="{843804CD-8FC8-BDD6-D929-F8E89567C105}"/>
              </a:ext>
            </a:extLst>
          </p:cNvPr>
          <p:cNvGrpSpPr/>
          <p:nvPr/>
        </p:nvGrpSpPr>
        <p:grpSpPr>
          <a:xfrm>
            <a:off x="1179094" y="2040162"/>
            <a:ext cx="8251938" cy="401643"/>
            <a:chOff x="770046" y="5484958"/>
            <a:chExt cx="4127033" cy="912824"/>
          </a:xfrm>
        </p:grpSpPr>
        <p:sp>
          <p:nvSpPr>
            <p:cNvPr id="17" name="모서리가 둥근 직사각형 11">
              <a:extLst>
                <a:ext uri="{FF2B5EF4-FFF2-40B4-BE49-F238E27FC236}">
                  <a16:creationId xmlns:a16="http://schemas.microsoft.com/office/drawing/2014/main" id="{46ECE0D8-7090-A41C-689A-890F8BB02DE3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8" name="직사각형 12">
              <a:extLst>
                <a:ext uri="{FF2B5EF4-FFF2-40B4-BE49-F238E27FC236}">
                  <a16:creationId xmlns:a16="http://schemas.microsoft.com/office/drawing/2014/main" id="{C11D106F-8E66-9B3D-8429-1583F7A76A7E}"/>
                </a:ext>
              </a:extLst>
            </p:cNvPr>
            <p:cNvSpPr/>
            <p:nvPr/>
          </p:nvSpPr>
          <p:spPr>
            <a:xfrm>
              <a:off x="806569" y="5615308"/>
              <a:ext cx="4090510" cy="69949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map(Function&lt;? super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,? extends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mapper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//Stream&lt;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&gt;→Stream&lt;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</a:t>
              </a:r>
            </a:p>
          </p:txBody>
        </p:sp>
      </p:grpSp>
      <p:sp>
        <p:nvSpPr>
          <p:cNvPr id="19" name="Text Box 20">
            <a:extLst>
              <a:ext uri="{FF2B5EF4-FFF2-40B4-BE49-F238E27FC236}">
                <a16:creationId xmlns:a16="http://schemas.microsoft.com/office/drawing/2014/main" id="{56ECD211-1087-AD49-0FFF-651C59D5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716" y="1636941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▶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스트림의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요소 변환하기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map(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D241489B-7D2E-35DC-A6D4-9D0DF7EE2E44}"/>
              </a:ext>
            </a:extLst>
          </p:cNvPr>
          <p:cNvGrpSpPr/>
          <p:nvPr/>
        </p:nvGrpSpPr>
        <p:grpSpPr>
          <a:xfrm>
            <a:off x="1179094" y="2553840"/>
            <a:ext cx="8251938" cy="1458024"/>
            <a:chOff x="770046" y="5484958"/>
            <a:chExt cx="4127033" cy="965138"/>
          </a:xfrm>
        </p:grpSpPr>
        <p:sp>
          <p:nvSpPr>
            <p:cNvPr id="21" name="모서리가 둥근 직사각형 42">
              <a:extLst>
                <a:ext uri="{FF2B5EF4-FFF2-40B4-BE49-F238E27FC236}">
                  <a16:creationId xmlns:a16="http://schemas.microsoft.com/office/drawing/2014/main" id="{A4F5465B-9450-46E4-1A5E-DF10AE019E75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45">
              <a:extLst>
                <a:ext uri="{FF2B5EF4-FFF2-40B4-BE49-F238E27FC236}">
                  <a16:creationId xmlns:a16="http://schemas.microsoft.com/office/drawing/2014/main" id="{F7EEAAA2-187D-9D4B-8EAD-E2DF7AEE2A6F}"/>
                </a:ext>
              </a:extLst>
            </p:cNvPr>
            <p:cNvSpPr/>
            <p:nvPr/>
          </p:nvSpPr>
          <p:spPr>
            <a:xfrm>
              <a:off x="806569" y="5533300"/>
              <a:ext cx="4090510" cy="91679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File("Ex1.java"), new File("Ex1")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new File("Ex1.bak"), new File("Ex2.java"), new File("Ex1.txt"));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filenameStream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fileStream.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map(File::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filenameStream.forEach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모든 파일의 이름을 출력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2DC12F58-CF55-F4AD-B02D-7EB3787F18C0}"/>
              </a:ext>
            </a:extLst>
          </p:cNvPr>
          <p:cNvGrpSpPr/>
          <p:nvPr/>
        </p:nvGrpSpPr>
        <p:grpSpPr>
          <a:xfrm>
            <a:off x="1179094" y="5253313"/>
            <a:ext cx="8251938" cy="1460513"/>
            <a:chOff x="770046" y="5484958"/>
            <a:chExt cx="4127033" cy="912824"/>
          </a:xfrm>
        </p:grpSpPr>
        <p:sp>
          <p:nvSpPr>
            <p:cNvPr id="24" name="모서리가 둥근 직사각형 30">
              <a:extLst>
                <a:ext uri="{FF2B5EF4-FFF2-40B4-BE49-F238E27FC236}">
                  <a16:creationId xmlns:a16="http://schemas.microsoft.com/office/drawing/2014/main" id="{34CD8912-755A-2B11-4379-B5DA712E1FA7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31">
              <a:extLst>
                <a:ext uri="{FF2B5EF4-FFF2-40B4-BE49-F238E27FC236}">
                  <a16:creationId xmlns:a16="http://schemas.microsoft.com/office/drawing/2014/main" id="{A74A3901-71C1-71F6-5619-D478C02C186B}"/>
                </a:ext>
              </a:extLst>
            </p:cNvPr>
            <p:cNvSpPr/>
            <p:nvPr/>
          </p:nvSpPr>
          <p:spPr>
            <a:xfrm>
              <a:off x="806569" y="5530595"/>
              <a:ext cx="4090510" cy="86562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fileStream.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map(File::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// Stream&lt;File&gt; → Stream&lt;String&gt;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.filter(s-&gt;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s.indexOf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('.')!=-1)     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확장자가 없는 것은 제외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map(s-&gt;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s.substring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s.indexOf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('.')+1))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// Stream&lt;String&gt;→Stream&lt;String&gt;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map(String::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toUpperCase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// Stream&lt;String&gt;→Stream&lt;String&gt;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distinct()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중복 제거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// JAVABAKTXT</a:t>
              </a:r>
            </a:p>
          </p:txBody>
        </p:sp>
      </p:grpSp>
      <p:sp>
        <p:nvSpPr>
          <p:cNvPr id="26" name="Text Box 20">
            <a:extLst>
              <a:ext uri="{FF2B5EF4-FFF2-40B4-BE49-F238E27FC236}">
                <a16:creationId xmlns:a16="http://schemas.microsoft.com/office/drawing/2014/main" id="{6BDB497E-80B2-D087-188A-1F0A04A2E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299" y="4878239"/>
            <a:ext cx="8604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ea typeface="견명조" pitchFamily="18" charset="-127"/>
              </a:rPr>
              <a:t>    ex) 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파일 </a:t>
            </a:r>
            <a:r>
              <a:rPr kumimoji="1" lang="ko-KR" altLang="en-US" sz="1600" b="1" dirty="0" err="1">
                <a:solidFill>
                  <a:srgbClr val="000000"/>
                </a:solidFill>
                <a:ea typeface="견명조" pitchFamily="18" charset="-127"/>
              </a:rPr>
              <a:t>스트림</a:t>
            </a:r>
            <a:r>
              <a:rPr kumimoji="1" lang="en-US" altLang="ko-KR" sz="1600" b="1" dirty="0">
                <a:solidFill>
                  <a:srgbClr val="000000"/>
                </a:solidFill>
                <a:ea typeface="견명조" pitchFamily="18" charset="-127"/>
              </a:rPr>
              <a:t>(Stream&lt;File&gt;)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에서 파일 확장자</a:t>
            </a:r>
            <a:r>
              <a:rPr kumimoji="1" lang="en-US" altLang="ko-KR" sz="1600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대문자</a:t>
            </a:r>
            <a:r>
              <a:rPr kumimoji="1" lang="en-US" altLang="ko-KR" sz="1600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를 </a:t>
            </a:r>
            <a:r>
              <a:rPr kumimoji="1" lang="ko-KR" altLang="en-US" sz="1600" b="1" dirty="0" err="1">
                <a:solidFill>
                  <a:srgbClr val="000000"/>
                </a:solidFill>
                <a:ea typeface="견명조" pitchFamily="18" charset="-127"/>
              </a:rPr>
              <a:t>중복없이</a:t>
            </a:r>
            <a:r>
              <a:rPr kumimoji="1" lang="ko-KR" altLang="en-US" sz="1600" b="1" dirty="0">
                <a:solidFill>
                  <a:srgbClr val="000000"/>
                </a:solidFill>
                <a:ea typeface="견명조" pitchFamily="18" charset="-127"/>
              </a:rPr>
              <a:t>  뽑아내기 </a:t>
            </a:r>
            <a:endParaRPr kumimoji="1" lang="en-US" altLang="ko-KR" sz="1600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27D391-60D4-AF02-8E2B-93C49B19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827" y="4185139"/>
            <a:ext cx="5168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29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(4/6)</a:t>
            </a:r>
            <a:endParaRPr lang="en-US" sz="3200" b="1" dirty="0"/>
          </a:p>
        </p:txBody>
      </p: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89E7646C-5227-DDAA-9AD8-1D28E2821D02}"/>
              </a:ext>
            </a:extLst>
          </p:cNvPr>
          <p:cNvGrpSpPr/>
          <p:nvPr/>
        </p:nvGrpSpPr>
        <p:grpSpPr>
          <a:xfrm>
            <a:off x="1040630" y="2083067"/>
            <a:ext cx="8251938" cy="766760"/>
            <a:chOff x="770046" y="5484958"/>
            <a:chExt cx="4127033" cy="912824"/>
          </a:xfrm>
        </p:grpSpPr>
        <p:sp>
          <p:nvSpPr>
            <p:cNvPr id="28" name="모서리가 둥근 직사각형 11">
              <a:extLst>
                <a:ext uri="{FF2B5EF4-FFF2-40B4-BE49-F238E27FC236}">
                  <a16:creationId xmlns:a16="http://schemas.microsoft.com/office/drawing/2014/main" id="{EB9C07B2-6B5E-B298-58FC-5C2B081F9CDD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12">
              <a:extLst>
                <a:ext uri="{FF2B5EF4-FFF2-40B4-BE49-F238E27FC236}">
                  <a16:creationId xmlns:a16="http://schemas.microsoft.com/office/drawing/2014/main" id="{F135422A-2CD3-7A6B-FD47-E8E6AF9599A6}"/>
                </a:ext>
              </a:extLst>
            </p:cNvPr>
            <p:cNvSpPr/>
            <p:nvPr/>
          </p:nvSpPr>
          <p:spPr>
            <a:xfrm>
              <a:off x="806569" y="5664506"/>
              <a:ext cx="4090510" cy="64633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mapToInt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ToIntFunction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&lt;? super T&gt;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     // Stream&lt;T&gt;→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mapToLong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ToLongFunction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&lt;? super T&gt;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   // Stream&lt;T&gt;→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LongStream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DoubleStream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mapToDouble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ToDoubleFunction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&lt;? super T&gt;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// Stream&lt;T&gt;→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DoubleStream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30" name="Text Box 20">
            <a:extLst>
              <a:ext uri="{FF2B5EF4-FFF2-40B4-BE49-F238E27FC236}">
                <a16:creationId xmlns:a16="http://schemas.microsoft.com/office/drawing/2014/main" id="{D9A64E86-EB88-654F-6F4E-3AA27C57A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251" y="1679832"/>
            <a:ext cx="90289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스트림을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기본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스트림으로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변환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–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mapToInt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</a:t>
            </a:r>
            <a:r>
              <a:rPr kumimoji="1" lang="en-US" altLang="ko-KR" sz="10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mapToLong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mapToDouble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1" name="그룹 51">
            <a:extLst>
              <a:ext uri="{FF2B5EF4-FFF2-40B4-BE49-F238E27FC236}">
                <a16:creationId xmlns:a16="http://schemas.microsoft.com/office/drawing/2014/main" id="{3C5CEAA5-6920-DEBA-576B-623601E271DF}"/>
              </a:ext>
            </a:extLst>
          </p:cNvPr>
          <p:cNvGrpSpPr/>
          <p:nvPr/>
        </p:nvGrpSpPr>
        <p:grpSpPr>
          <a:xfrm>
            <a:off x="1042195" y="4885277"/>
            <a:ext cx="8251938" cy="546104"/>
            <a:chOff x="770046" y="5484958"/>
            <a:chExt cx="4127033" cy="912824"/>
          </a:xfrm>
        </p:grpSpPr>
        <p:sp>
          <p:nvSpPr>
            <p:cNvPr id="32" name="모서리가 둥근 직사각형 27">
              <a:extLst>
                <a:ext uri="{FF2B5EF4-FFF2-40B4-BE49-F238E27FC236}">
                  <a16:creationId xmlns:a16="http://schemas.microsoft.com/office/drawing/2014/main" id="{DE10C580-D07B-4A8F-BCDC-6C31266F0856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3" name="직사각형 28">
              <a:extLst>
                <a:ext uri="{FF2B5EF4-FFF2-40B4-BE49-F238E27FC236}">
                  <a16:creationId xmlns:a16="http://schemas.microsoft.com/office/drawing/2014/main" id="{47557F76-2B89-8755-562C-5B7F8CEA0495}"/>
                </a:ext>
              </a:extLst>
            </p:cNvPr>
            <p:cNvSpPr/>
            <p:nvPr/>
          </p:nvSpPr>
          <p:spPr>
            <a:xfrm>
              <a:off x="806569" y="5604363"/>
              <a:ext cx="4090510" cy="77168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  mapToObj(IntFunction&lt;? extends T&gt; mapper) // 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→ Stream&lt;T&gt;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  boxed()                             // 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→ Stream&lt;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</a:t>
              </a:r>
              <a:endParaRPr kumimoji="1" lang="nl-NL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sp>
        <p:nvSpPr>
          <p:cNvPr id="34" name="Text Box 20">
            <a:extLst>
              <a:ext uri="{FF2B5EF4-FFF2-40B4-BE49-F238E27FC236}">
                <a16:creationId xmlns:a16="http://schemas.microsoft.com/office/drawing/2014/main" id="{7913674F-7217-292D-100B-6DC45DAA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17" y="4482043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기본 스트림을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스트림으로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변환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mapToObj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boxed(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A1566D84-5D56-B796-7C98-ABB9C1BF7322}"/>
              </a:ext>
            </a:extLst>
          </p:cNvPr>
          <p:cNvGrpSpPr/>
          <p:nvPr/>
        </p:nvGrpSpPr>
        <p:grpSpPr>
          <a:xfrm>
            <a:off x="1040630" y="2922852"/>
            <a:ext cx="8251938" cy="584208"/>
            <a:chOff x="770046" y="5484958"/>
            <a:chExt cx="4127033" cy="912824"/>
          </a:xfrm>
        </p:grpSpPr>
        <p:sp>
          <p:nvSpPr>
            <p:cNvPr id="36" name="모서리가 둥근 직사각형 19">
              <a:extLst>
                <a:ext uri="{FF2B5EF4-FFF2-40B4-BE49-F238E27FC236}">
                  <a16:creationId xmlns:a16="http://schemas.microsoft.com/office/drawing/2014/main" id="{5D9ECFFE-7E08-B7A0-60E1-A023AF504EE7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7" name="직사각형 20">
              <a:extLst>
                <a:ext uri="{FF2B5EF4-FFF2-40B4-BE49-F238E27FC236}">
                  <a16:creationId xmlns:a16="http://schemas.microsoft.com/office/drawing/2014/main" id="{46568523-6756-1F97-96AA-114B7940CB48}"/>
                </a:ext>
              </a:extLst>
            </p:cNvPr>
            <p:cNvSpPr/>
            <p:nvPr/>
          </p:nvSpPr>
          <p:spPr>
            <a:xfrm>
              <a:off x="806569" y="5599061"/>
              <a:ext cx="4090510" cy="72135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studentScoreStream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stuStream.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sum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studentScoreStream.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reduce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a+b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</p:txBody>
        </p:sp>
      </p:grpSp>
      <p:grpSp>
        <p:nvGrpSpPr>
          <p:cNvPr id="38" name="그룹 30">
            <a:extLst>
              <a:ext uri="{FF2B5EF4-FFF2-40B4-BE49-F238E27FC236}">
                <a16:creationId xmlns:a16="http://schemas.microsoft.com/office/drawing/2014/main" id="{BD3F7B54-625B-3DE3-F09B-73A17A807036}"/>
              </a:ext>
            </a:extLst>
          </p:cNvPr>
          <p:cNvGrpSpPr/>
          <p:nvPr/>
        </p:nvGrpSpPr>
        <p:grpSpPr>
          <a:xfrm>
            <a:off x="1040630" y="3434034"/>
            <a:ext cx="8251938" cy="876312"/>
            <a:chOff x="774648" y="3355974"/>
            <a:chExt cx="8251938" cy="876312"/>
          </a:xfrm>
        </p:grpSpPr>
        <p:grpSp>
          <p:nvGrpSpPr>
            <p:cNvPr id="39" name="그룹 51">
              <a:extLst>
                <a:ext uri="{FF2B5EF4-FFF2-40B4-BE49-F238E27FC236}">
                  <a16:creationId xmlns:a16="http://schemas.microsoft.com/office/drawing/2014/main" id="{33BA50BA-B8E5-190F-E95E-3F2C422622BC}"/>
                </a:ext>
              </a:extLst>
            </p:cNvPr>
            <p:cNvGrpSpPr/>
            <p:nvPr/>
          </p:nvGrpSpPr>
          <p:grpSpPr>
            <a:xfrm>
              <a:off x="774648" y="3648078"/>
              <a:ext cx="8251938" cy="584208"/>
              <a:chOff x="770046" y="5484958"/>
              <a:chExt cx="4127033" cy="912824"/>
            </a:xfrm>
          </p:grpSpPr>
          <p:sp>
            <p:nvSpPr>
              <p:cNvPr id="41" name="모서리가 둥근 직사각형 22">
                <a:extLst>
                  <a:ext uri="{FF2B5EF4-FFF2-40B4-BE49-F238E27FC236}">
                    <a16:creationId xmlns:a16="http://schemas.microsoft.com/office/drawing/2014/main" id="{6DE36DB7-E84E-2217-3D5E-BC29B156F317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2" name="직사각형 23">
                <a:extLst>
                  <a:ext uri="{FF2B5EF4-FFF2-40B4-BE49-F238E27FC236}">
                    <a16:creationId xmlns:a16="http://schemas.microsoft.com/office/drawing/2014/main" id="{2A870D78-4AB5-04F3-36AC-CDF95FEC33E2}"/>
                  </a:ext>
                </a:extLst>
              </p:cNvPr>
              <p:cNvSpPr/>
              <p:nvPr/>
            </p:nvSpPr>
            <p:spPr>
              <a:xfrm>
                <a:off x="806569" y="5599059"/>
                <a:ext cx="4090510" cy="721351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studentScoreStream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=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studentStream.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mapToInt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(Student::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getTotalScore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);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allTotalScore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= studentScoreStream.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sum()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; //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</a:t>
                </a:r>
                <a:r>
                  <a:rPr kumimoji="1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의 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sum()</a:t>
                </a:r>
                <a:endPara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40" name="아래쪽 화살표 25">
              <a:extLst>
                <a:ext uri="{FF2B5EF4-FFF2-40B4-BE49-F238E27FC236}">
                  <a16:creationId xmlns:a16="http://schemas.microsoft.com/office/drawing/2014/main" id="{E0F03706-D555-F7C1-78E8-1A7E92AA19F5}"/>
                </a:ext>
              </a:extLst>
            </p:cNvPr>
            <p:cNvSpPr/>
            <p:nvPr/>
          </p:nvSpPr>
          <p:spPr bwMode="auto">
            <a:xfrm>
              <a:off x="4718052" y="3355974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43" name="그룹 51">
            <a:extLst>
              <a:ext uri="{FF2B5EF4-FFF2-40B4-BE49-F238E27FC236}">
                <a16:creationId xmlns:a16="http://schemas.microsoft.com/office/drawing/2014/main" id="{45A9B73C-F575-27EB-D865-09BFB4BBB034}"/>
              </a:ext>
            </a:extLst>
          </p:cNvPr>
          <p:cNvGrpSpPr/>
          <p:nvPr/>
        </p:nvGrpSpPr>
        <p:grpSpPr>
          <a:xfrm>
            <a:off x="8462522" y="3878910"/>
            <a:ext cx="1935189" cy="839798"/>
            <a:chOff x="811036" y="5695601"/>
            <a:chExt cx="4079000" cy="1303149"/>
          </a:xfrm>
        </p:grpSpPr>
        <p:sp>
          <p:nvSpPr>
            <p:cNvPr id="44" name="모서리가 둥근 직사각형 32">
              <a:extLst>
                <a:ext uri="{FF2B5EF4-FFF2-40B4-BE49-F238E27FC236}">
                  <a16:creationId xmlns:a16="http://schemas.microsoft.com/office/drawing/2014/main" id="{87B23FE3-A533-C182-110A-CB5E35F85683}"/>
                </a:ext>
              </a:extLst>
            </p:cNvPr>
            <p:cNvSpPr/>
            <p:nvPr/>
          </p:nvSpPr>
          <p:spPr bwMode="auto">
            <a:xfrm>
              <a:off x="811036" y="5695601"/>
              <a:ext cx="4052638" cy="1303149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5" name="직사각형 33">
              <a:extLst>
                <a:ext uri="{FF2B5EF4-FFF2-40B4-BE49-F238E27FC236}">
                  <a16:creationId xmlns:a16="http://schemas.microsoft.com/office/drawing/2014/main" id="{2624C901-41A1-35BD-78AA-009BCA528D6D}"/>
                </a:ext>
              </a:extLst>
            </p:cNvPr>
            <p:cNvSpPr/>
            <p:nvPr/>
          </p:nvSpPr>
          <p:spPr>
            <a:xfrm>
              <a:off x="928506" y="5808919"/>
              <a:ext cx="3961530" cy="105585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sum()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max()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min()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OptionalDouble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average()</a:t>
              </a:r>
            </a:p>
          </p:txBody>
        </p:sp>
      </p:grpSp>
      <p:grpSp>
        <p:nvGrpSpPr>
          <p:cNvPr id="46" name="그룹 51">
            <a:extLst>
              <a:ext uri="{FF2B5EF4-FFF2-40B4-BE49-F238E27FC236}">
                <a16:creationId xmlns:a16="http://schemas.microsoft.com/office/drawing/2014/main" id="{05FABAAB-2D05-41BC-3BC5-7B1E3977913C}"/>
              </a:ext>
            </a:extLst>
          </p:cNvPr>
          <p:cNvGrpSpPr/>
          <p:nvPr/>
        </p:nvGrpSpPr>
        <p:grpSpPr>
          <a:xfrm>
            <a:off x="1040630" y="5394866"/>
            <a:ext cx="8251938" cy="1269701"/>
            <a:chOff x="770046" y="5398765"/>
            <a:chExt cx="4127033" cy="999017"/>
          </a:xfrm>
        </p:grpSpPr>
        <p:sp>
          <p:nvSpPr>
            <p:cNvPr id="47" name="모서리가 둥근 직사각형 37">
              <a:extLst>
                <a:ext uri="{FF2B5EF4-FFF2-40B4-BE49-F238E27FC236}">
                  <a16:creationId xmlns:a16="http://schemas.microsoft.com/office/drawing/2014/main" id="{58B2933C-EC4F-F4A6-539C-3BDD1B65EF66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8" name="직사각형 38">
              <a:extLst>
                <a:ext uri="{FF2B5EF4-FFF2-40B4-BE49-F238E27FC236}">
                  <a16:creationId xmlns:a16="http://schemas.microsoft.com/office/drawing/2014/main" id="{C43C9BCF-7B1C-3BCF-A562-575ACA29C544}"/>
                </a:ext>
              </a:extLst>
            </p:cNvPr>
            <p:cNvSpPr/>
            <p:nvPr/>
          </p:nvSpPr>
          <p:spPr>
            <a:xfrm>
              <a:off x="806569" y="5398765"/>
              <a:ext cx="4090510" cy="94044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Random().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(1,46); // 1~45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사이의 정수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(46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은 포함안됨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Stream&lt;Integer&gt;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boxed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→ Stream&lt;Integer&gt;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lottoStream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intStream.distinct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().limit(6).sorted()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          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mapToObj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+","); // 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→ Stream&lt;String&gt;</a:t>
              </a:r>
              <a:r>
                <a:rPr kumimoji="1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lottoStream.forEach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// 12,14,20,23,26,29,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00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E951785-EDAE-85DB-80D1-5667DB599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38" y="3902807"/>
            <a:ext cx="7061200" cy="1092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30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(5/6)</a:t>
            </a:r>
            <a:endParaRPr lang="en-US" sz="3200" b="1" dirty="0"/>
          </a:p>
        </p:txBody>
      </p:sp>
      <p:grpSp>
        <p:nvGrpSpPr>
          <p:cNvPr id="15" name="그룹 51">
            <a:extLst>
              <a:ext uri="{FF2B5EF4-FFF2-40B4-BE49-F238E27FC236}">
                <a16:creationId xmlns:a16="http://schemas.microsoft.com/office/drawing/2014/main" id="{DC95A04D-B294-3DF9-5613-FB3DBD1B77D3}"/>
              </a:ext>
            </a:extLst>
          </p:cNvPr>
          <p:cNvGrpSpPr/>
          <p:nvPr/>
        </p:nvGrpSpPr>
        <p:grpSpPr>
          <a:xfrm>
            <a:off x="985663" y="2040178"/>
            <a:ext cx="8251938" cy="511167"/>
            <a:chOff x="770046" y="5484958"/>
            <a:chExt cx="4127033" cy="912824"/>
          </a:xfrm>
        </p:grpSpPr>
        <p:sp>
          <p:nvSpPr>
            <p:cNvPr id="16" name="모서리가 둥근 직사각형 11">
              <a:extLst>
                <a:ext uri="{FF2B5EF4-FFF2-40B4-BE49-F238E27FC236}">
                  <a16:creationId xmlns:a16="http://schemas.microsoft.com/office/drawing/2014/main" id="{B6FEB86D-AECC-840C-2C51-6799CEFC80B7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7" name="직사각형 12">
              <a:extLst>
                <a:ext uri="{FF2B5EF4-FFF2-40B4-BE49-F238E27FC236}">
                  <a16:creationId xmlns:a16="http://schemas.microsoft.com/office/drawing/2014/main" id="{68F61392-0274-55E6-30FF-9BB182ED2392}"/>
                </a:ext>
              </a:extLst>
            </p:cNvPr>
            <p:cNvSpPr/>
            <p:nvPr/>
          </p:nvSpPr>
          <p:spPr>
            <a:xfrm>
              <a:off x="806569" y="5573357"/>
              <a:ext cx="4090510" cy="82442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Stream&lt;String[]&gt;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strArrStrm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(new String[]{"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abc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", "def", "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ghi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  },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                 new String[]{"ABC", "GHI", "JKLMN"});</a:t>
              </a:r>
            </a:p>
          </p:txBody>
        </p:sp>
      </p:grpSp>
      <p:sp>
        <p:nvSpPr>
          <p:cNvPr id="18" name="Text Box 20">
            <a:extLst>
              <a:ext uri="{FF2B5EF4-FFF2-40B4-BE49-F238E27FC236}">
                <a16:creationId xmlns:a16="http://schemas.microsoft.com/office/drawing/2014/main" id="{AB72876A-4D93-D836-376B-17CE1B554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85" y="163694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스트림을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스트림으로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변환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flatMap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2" name="그룹 51">
            <a:extLst>
              <a:ext uri="{FF2B5EF4-FFF2-40B4-BE49-F238E27FC236}">
                <a16:creationId xmlns:a16="http://schemas.microsoft.com/office/drawing/2014/main" id="{79B7FB63-F4A1-6EE8-056A-620293092D6F}"/>
              </a:ext>
            </a:extLst>
          </p:cNvPr>
          <p:cNvGrpSpPr/>
          <p:nvPr/>
        </p:nvGrpSpPr>
        <p:grpSpPr>
          <a:xfrm>
            <a:off x="985663" y="5031543"/>
            <a:ext cx="8251938" cy="438156"/>
            <a:chOff x="770046" y="5484958"/>
            <a:chExt cx="4127033" cy="912824"/>
          </a:xfrm>
        </p:grpSpPr>
        <p:sp>
          <p:nvSpPr>
            <p:cNvPr id="23" name="모서리가 둥근 직사각형 24">
              <a:extLst>
                <a:ext uri="{FF2B5EF4-FFF2-40B4-BE49-F238E27FC236}">
                  <a16:creationId xmlns:a16="http://schemas.microsoft.com/office/drawing/2014/main" id="{52257DB0-EF0E-F12D-DE0F-23E169B99842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4" name="직사각형 25">
              <a:extLst>
                <a:ext uri="{FF2B5EF4-FFF2-40B4-BE49-F238E27FC236}">
                  <a16:creationId xmlns:a16="http://schemas.microsoft.com/office/drawing/2014/main" id="{4899B67E-F6CA-A50A-C7F3-B26303101F89}"/>
                </a:ext>
              </a:extLst>
            </p:cNvPr>
            <p:cNvSpPr/>
            <p:nvPr/>
          </p:nvSpPr>
          <p:spPr>
            <a:xfrm>
              <a:off x="806569" y="5655237"/>
              <a:ext cx="4090510" cy="57708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strStrStrm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strArrStrm.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flatMap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(Arrays::stream)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Arrays.stream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(T[])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91155097-28C6-EA11-3C05-C5697987E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642" y="3070468"/>
            <a:ext cx="6997700" cy="787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7EDFED-7980-3203-9D5E-4756DB8B2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100" y="3789972"/>
            <a:ext cx="2006600" cy="368300"/>
          </a:xfrm>
          <a:prstGeom prst="rect">
            <a:avLst/>
          </a:prstGeom>
        </p:spPr>
      </p:pic>
      <p:grpSp>
        <p:nvGrpSpPr>
          <p:cNvPr id="19" name="그룹 51">
            <a:extLst>
              <a:ext uri="{FF2B5EF4-FFF2-40B4-BE49-F238E27FC236}">
                <a16:creationId xmlns:a16="http://schemas.microsoft.com/office/drawing/2014/main" id="{D458CECE-54ED-A237-A585-1D478404907E}"/>
              </a:ext>
            </a:extLst>
          </p:cNvPr>
          <p:cNvGrpSpPr/>
          <p:nvPr/>
        </p:nvGrpSpPr>
        <p:grpSpPr>
          <a:xfrm>
            <a:off x="985663" y="2624371"/>
            <a:ext cx="8251938" cy="438156"/>
            <a:chOff x="770046" y="5484958"/>
            <a:chExt cx="4127033" cy="912824"/>
          </a:xfrm>
        </p:grpSpPr>
        <p:sp>
          <p:nvSpPr>
            <p:cNvPr id="20" name="모서리가 둥근 직사각형 15">
              <a:extLst>
                <a:ext uri="{FF2B5EF4-FFF2-40B4-BE49-F238E27FC236}">
                  <a16:creationId xmlns:a16="http://schemas.microsoft.com/office/drawing/2014/main" id="{B7DE58FE-EC0D-D022-CF99-C798882A19BA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1" name="직사각형 16">
              <a:extLst>
                <a:ext uri="{FF2B5EF4-FFF2-40B4-BE49-F238E27FC236}">
                  <a16:creationId xmlns:a16="http://schemas.microsoft.com/office/drawing/2014/main" id="{1590592C-E6DE-6A61-E585-9575F4673E5D}"/>
                </a:ext>
              </a:extLst>
            </p:cNvPr>
            <p:cNvSpPr/>
            <p:nvPr/>
          </p:nvSpPr>
          <p:spPr>
            <a:xfrm>
              <a:off x="806569" y="5655239"/>
              <a:ext cx="4090510" cy="57708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Stream&lt;String&gt;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strStrStrm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strArrStrm.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map(Arrays::stream)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A5F5A979-F651-5202-C509-D4CCDF2B1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914" y="5380403"/>
            <a:ext cx="7035800" cy="7747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478ED8-3A19-55DF-1EAC-EC7AD9FBD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969" y="6134100"/>
            <a:ext cx="7061200" cy="7239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96DE398-7084-AC64-9DBE-5FD6A14A55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0507" y="6048619"/>
            <a:ext cx="2387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4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중간연산</a:t>
            </a:r>
            <a:r>
              <a:rPr lang="en-US" altLang="ko-KR" sz="3200" b="1" dirty="0"/>
              <a:t>(6/6)</a:t>
            </a:r>
            <a:endParaRPr lang="en-US" sz="3200" b="1" dirty="0"/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5CC63A5E-AF9A-75C8-AC5D-03258DB9F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70" y="167211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▶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스트림의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요소를 소비하지 않고 엿보기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peek(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13" name="그룹 51">
            <a:extLst>
              <a:ext uri="{FF2B5EF4-FFF2-40B4-BE49-F238E27FC236}">
                <a16:creationId xmlns:a16="http://schemas.microsoft.com/office/drawing/2014/main" id="{24D8032A-9AE3-AF0F-87F9-7A105986A380}"/>
              </a:ext>
            </a:extLst>
          </p:cNvPr>
          <p:cNvGrpSpPr/>
          <p:nvPr/>
        </p:nvGrpSpPr>
        <p:grpSpPr>
          <a:xfrm>
            <a:off x="1003248" y="2111847"/>
            <a:ext cx="8178912" cy="657231"/>
            <a:chOff x="770046" y="5484958"/>
            <a:chExt cx="4090511" cy="912824"/>
          </a:xfrm>
        </p:grpSpPr>
        <p:sp>
          <p:nvSpPr>
            <p:cNvPr id="14" name="모서리가 둥근 직사각형 15">
              <a:extLst>
                <a:ext uri="{FF2B5EF4-FFF2-40B4-BE49-F238E27FC236}">
                  <a16:creationId xmlns:a16="http://schemas.microsoft.com/office/drawing/2014/main" id="{A5D97436-2C3A-0293-5ABE-687AFDE69203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5" name="직사각형 16">
              <a:extLst>
                <a:ext uri="{FF2B5EF4-FFF2-40B4-BE49-F238E27FC236}">
                  <a16:creationId xmlns:a16="http://schemas.microsoft.com/office/drawing/2014/main" id="{A5BC2906-5F9A-2A6A-9E8F-897D56253C4D}"/>
                </a:ext>
              </a:extLst>
            </p:cNvPr>
            <p:cNvSpPr/>
            <p:nvPr/>
          </p:nvSpPr>
          <p:spPr>
            <a:xfrm>
              <a:off x="770047" y="5586381"/>
              <a:ext cx="4090510" cy="72669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Stream&lt;T&gt;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peek(Consumer&lt;? super T&gt; action)   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중간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스트림을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소비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X)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v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oid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(Consumer&lt;? super T&gt; action)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 연산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스트림을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소비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endPara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16" name="그룹 51">
            <a:extLst>
              <a:ext uri="{FF2B5EF4-FFF2-40B4-BE49-F238E27FC236}">
                <a16:creationId xmlns:a16="http://schemas.microsoft.com/office/drawing/2014/main" id="{A44D9673-C27B-A291-8222-D188771FFE4E}"/>
              </a:ext>
            </a:extLst>
          </p:cNvPr>
          <p:cNvGrpSpPr/>
          <p:nvPr/>
        </p:nvGrpSpPr>
        <p:grpSpPr>
          <a:xfrm>
            <a:off x="1003248" y="2878615"/>
            <a:ext cx="8324964" cy="1606574"/>
            <a:chOff x="770046" y="5484958"/>
            <a:chExt cx="4163555" cy="912824"/>
          </a:xfrm>
        </p:grpSpPr>
        <p:sp>
          <p:nvSpPr>
            <p:cNvPr id="17" name="모서리가 둥근 직사각형 18">
              <a:extLst>
                <a:ext uri="{FF2B5EF4-FFF2-40B4-BE49-F238E27FC236}">
                  <a16:creationId xmlns:a16="http://schemas.microsoft.com/office/drawing/2014/main" id="{DD3B9647-1B65-E264-AAE7-E68BF84AF475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8" name="직사각형 19">
              <a:extLst>
                <a:ext uri="{FF2B5EF4-FFF2-40B4-BE49-F238E27FC236}">
                  <a16:creationId xmlns:a16="http://schemas.microsoft.com/office/drawing/2014/main" id="{D42CB422-9FDA-7827-8D5B-3CDD6CB3459A}"/>
                </a:ext>
              </a:extLst>
            </p:cNvPr>
            <p:cNvSpPr/>
            <p:nvPr/>
          </p:nvSpPr>
          <p:spPr>
            <a:xfrm>
              <a:off x="843091" y="5547197"/>
              <a:ext cx="4090510" cy="78692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fileStream.map(File::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// Stream&lt;File&gt; → Stream&lt;String&gt;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.filter(s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s.indexOf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('.')!=-1)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확장자가 없는 것은 제외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peek(s-&gt;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("filename=%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s%n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", s))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파일명을 출력한다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map(s -&gt; 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s.substring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s.indexOf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('.')+1))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확장자만 추출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.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peek(s-&gt;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System.out.printf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("extension=%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s%n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", s)) 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확장자를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출력한다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.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</a:t>
              </a:r>
              <a:r>
                <a:rPr kumimoji="1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println</a:t>
              </a:r>
              <a:r>
                <a:rPr kumimoji="1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최종연산 </a:t>
              </a:r>
              <a:r>
                <a:rPr kumimoji="1" lang="ko-KR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스트림을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소비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endParaRPr kumimoji="1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04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Optional&lt;T&gt;</a:t>
            </a:r>
            <a:r>
              <a:rPr lang="ko-KR" altLang="en-US" sz="3200" b="1" dirty="0"/>
              <a:t>과 </a:t>
            </a:r>
            <a:r>
              <a:rPr lang="en-US" altLang="ko-KR" sz="3200" b="1" dirty="0" err="1"/>
              <a:t>OptionalInt</a:t>
            </a:r>
            <a:r>
              <a:rPr lang="en-US" altLang="ko-KR" sz="3200" b="1" dirty="0"/>
              <a:t>(1/2)</a:t>
            </a:r>
            <a:endParaRPr lang="en-US" sz="3200" b="1" dirty="0"/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id="{FA98D054-2757-DE90-AE41-FBBCB884F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717" y="1601772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‘T’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타입 객체의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래퍼클래스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Optional&lt;T&gt;</a:t>
            </a:r>
          </a:p>
        </p:txBody>
      </p:sp>
      <p:grpSp>
        <p:nvGrpSpPr>
          <p:cNvPr id="29" name="그룹 51">
            <a:extLst>
              <a:ext uri="{FF2B5EF4-FFF2-40B4-BE49-F238E27FC236}">
                <a16:creationId xmlns:a16="http://schemas.microsoft.com/office/drawing/2014/main" id="{CA41E3FA-9469-FE36-F01D-F99746AA4665}"/>
              </a:ext>
            </a:extLst>
          </p:cNvPr>
          <p:cNvGrpSpPr/>
          <p:nvPr/>
        </p:nvGrpSpPr>
        <p:grpSpPr>
          <a:xfrm>
            <a:off x="1033043" y="5583279"/>
            <a:ext cx="8505266" cy="766761"/>
            <a:chOff x="770046" y="5484958"/>
            <a:chExt cx="4125935" cy="912824"/>
          </a:xfrm>
        </p:grpSpPr>
        <p:sp>
          <p:nvSpPr>
            <p:cNvPr id="30" name="모서리가 둥근 직사각형 19">
              <a:extLst>
                <a:ext uri="{FF2B5EF4-FFF2-40B4-BE49-F238E27FC236}">
                  <a16:creationId xmlns:a16="http://schemas.microsoft.com/office/drawing/2014/main" id="{3A015E56-D732-85D1-26ED-A68F00A922C5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1" name="직사각형 20">
              <a:extLst>
                <a:ext uri="{FF2B5EF4-FFF2-40B4-BE49-F238E27FC236}">
                  <a16:creationId xmlns:a16="http://schemas.microsoft.com/office/drawing/2014/main" id="{DA2D9720-BA52-5280-D582-7D0D3EC79DB4}"/>
                </a:ext>
              </a:extLst>
            </p:cNvPr>
            <p:cNvSpPr/>
            <p:nvPr/>
          </p:nvSpPr>
          <p:spPr>
            <a:xfrm>
              <a:off x="805471" y="5574484"/>
              <a:ext cx="4090510" cy="76945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if(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Optional.ofNullable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isPresent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{  // if(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!=null)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32" name="Text Box 20">
            <a:extLst>
              <a:ext uri="{FF2B5EF4-FFF2-40B4-BE49-F238E27FC236}">
                <a16:creationId xmlns:a16="http://schemas.microsoft.com/office/drawing/2014/main" id="{6520BE7A-036A-4604-C5E6-96A0BAD32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82" y="520783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isPresent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() – Optional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객체의 값이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null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이면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false, 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아니면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true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반환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1304AC49-D79C-7519-EFA2-A74BDB2DEFB3}"/>
              </a:ext>
            </a:extLst>
          </p:cNvPr>
          <p:cNvGrpSpPr/>
          <p:nvPr/>
        </p:nvGrpSpPr>
        <p:grpSpPr>
          <a:xfrm>
            <a:off x="1033043" y="2005005"/>
            <a:ext cx="8544043" cy="1131891"/>
            <a:chOff x="770046" y="5484958"/>
            <a:chExt cx="4144746" cy="912824"/>
          </a:xfrm>
        </p:grpSpPr>
        <p:sp>
          <p:nvSpPr>
            <p:cNvPr id="34" name="모서리가 둥근 직사각형 31">
              <a:extLst>
                <a:ext uri="{FF2B5EF4-FFF2-40B4-BE49-F238E27FC236}">
                  <a16:creationId xmlns:a16="http://schemas.microsoft.com/office/drawing/2014/main" id="{799AC915-7BD3-9CD9-F639-FA726E9C70A4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32">
              <a:extLst>
                <a:ext uri="{FF2B5EF4-FFF2-40B4-BE49-F238E27FC236}">
                  <a16:creationId xmlns:a16="http://schemas.microsoft.com/office/drawing/2014/main" id="{1F28F0EF-AC29-A708-867B-B008E4461277}"/>
                </a:ext>
              </a:extLst>
            </p:cNvPr>
            <p:cNvSpPr/>
            <p:nvPr/>
          </p:nvSpPr>
          <p:spPr>
            <a:xfrm>
              <a:off x="824282" y="5519799"/>
              <a:ext cx="4090510" cy="8190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"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abc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abc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(null)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NullPointerException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발생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ofNullable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(null)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OK</a:t>
              </a:r>
            </a:p>
          </p:txBody>
        </p:sp>
      </p:grpSp>
      <p:grpSp>
        <p:nvGrpSpPr>
          <p:cNvPr id="36" name="그룹 51">
            <a:extLst>
              <a:ext uri="{FF2B5EF4-FFF2-40B4-BE49-F238E27FC236}">
                <a16:creationId xmlns:a16="http://schemas.microsoft.com/office/drawing/2014/main" id="{DD26A556-FF38-2623-79E6-EB7E05D452B4}"/>
              </a:ext>
            </a:extLst>
          </p:cNvPr>
          <p:cNvGrpSpPr/>
          <p:nvPr/>
        </p:nvGrpSpPr>
        <p:grpSpPr>
          <a:xfrm>
            <a:off x="6181377" y="1530324"/>
            <a:ext cx="3286169" cy="985851"/>
            <a:chOff x="770046" y="5484958"/>
            <a:chExt cx="4162458" cy="912824"/>
          </a:xfrm>
        </p:grpSpPr>
        <p:sp>
          <p:nvSpPr>
            <p:cNvPr id="37" name="모서리가 둥근 직사각형 12">
              <a:extLst>
                <a:ext uri="{FF2B5EF4-FFF2-40B4-BE49-F238E27FC236}">
                  <a16:creationId xmlns:a16="http://schemas.microsoft.com/office/drawing/2014/main" id="{12BCDD0B-E200-0695-FBF0-A843F254A039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8" name="직사각형 14">
              <a:extLst>
                <a:ext uri="{FF2B5EF4-FFF2-40B4-BE49-F238E27FC236}">
                  <a16:creationId xmlns:a16="http://schemas.microsoft.com/office/drawing/2014/main" id="{16742A62-01DD-3FF1-87CC-3E0F43F934D3}"/>
                </a:ext>
              </a:extLst>
            </p:cNvPr>
            <p:cNvSpPr/>
            <p:nvPr/>
          </p:nvSpPr>
          <p:spPr>
            <a:xfrm>
              <a:off x="841994" y="5558005"/>
              <a:ext cx="4090510" cy="7419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public final class Optional&lt;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private final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value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39" name="Text Box 20">
            <a:extLst>
              <a:ext uri="{FF2B5EF4-FFF2-40B4-BE49-F238E27FC236}">
                <a16:creationId xmlns:a16="http://schemas.microsoft.com/office/drawing/2014/main" id="{311AEA75-DF52-4A2E-B3DC-B4236DF23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82" y="3239198"/>
            <a:ext cx="96116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Optional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객체의 값 가져오기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get(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orElse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orElseGet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orElseThrow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40" name="그룹 51">
            <a:extLst>
              <a:ext uri="{FF2B5EF4-FFF2-40B4-BE49-F238E27FC236}">
                <a16:creationId xmlns:a16="http://schemas.microsoft.com/office/drawing/2014/main" id="{48D1A3B0-8F98-628F-03BF-B4955FF32EEA}"/>
              </a:ext>
            </a:extLst>
          </p:cNvPr>
          <p:cNvGrpSpPr/>
          <p:nvPr/>
        </p:nvGrpSpPr>
        <p:grpSpPr>
          <a:xfrm>
            <a:off x="1034608" y="3642432"/>
            <a:ext cx="8544043" cy="1131891"/>
            <a:chOff x="770046" y="5484958"/>
            <a:chExt cx="4144746" cy="912824"/>
          </a:xfrm>
        </p:grpSpPr>
        <p:sp>
          <p:nvSpPr>
            <p:cNvPr id="41" name="모서리가 둥근 직사각형 35">
              <a:extLst>
                <a:ext uri="{FF2B5EF4-FFF2-40B4-BE49-F238E27FC236}">
                  <a16:creationId xmlns:a16="http://schemas.microsoft.com/office/drawing/2014/main" id="{D7D4BCFC-4648-00E3-99C9-AA3702EDD54F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2" name="직사각형 36">
              <a:extLst>
                <a:ext uri="{FF2B5EF4-FFF2-40B4-BE49-F238E27FC236}">
                  <a16:creationId xmlns:a16="http://schemas.microsoft.com/office/drawing/2014/main" id="{A9045099-FFD8-06A8-6733-841DFB73A193}"/>
                </a:ext>
              </a:extLst>
            </p:cNvPr>
            <p:cNvSpPr/>
            <p:nvPr/>
          </p:nvSpPr>
          <p:spPr>
            <a:xfrm>
              <a:off x="824282" y="5519796"/>
              <a:ext cx="4090510" cy="81909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abc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str1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optVal.get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        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저장된 값을 반환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null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이면 예외발생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str2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optVal.orElse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("");     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저장된 값이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null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일 때는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""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반환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str3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optVal.orElseGet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(String::new);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람다식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사용가능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() -&gt; new String()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str4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optVal.orElseThrow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NullPointerException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널이면 예외발생</a:t>
              </a:r>
            </a:p>
          </p:txBody>
        </p:sp>
      </p:grpSp>
      <p:grpSp>
        <p:nvGrpSpPr>
          <p:cNvPr id="43" name="그룹 51">
            <a:extLst>
              <a:ext uri="{FF2B5EF4-FFF2-40B4-BE49-F238E27FC236}">
                <a16:creationId xmlns:a16="http://schemas.microsoft.com/office/drawing/2014/main" id="{51CE2796-402F-94EE-A011-6D81C090957A}"/>
              </a:ext>
            </a:extLst>
          </p:cNvPr>
          <p:cNvGrpSpPr/>
          <p:nvPr/>
        </p:nvGrpSpPr>
        <p:grpSpPr>
          <a:xfrm>
            <a:off x="3990596" y="4663205"/>
            <a:ext cx="5294385" cy="481906"/>
            <a:chOff x="770046" y="5344519"/>
            <a:chExt cx="4125935" cy="926745"/>
          </a:xfrm>
        </p:grpSpPr>
        <p:sp>
          <p:nvSpPr>
            <p:cNvPr id="44" name="모서리가 둥근 직사각형 38">
              <a:extLst>
                <a:ext uri="{FF2B5EF4-FFF2-40B4-BE49-F238E27FC236}">
                  <a16:creationId xmlns:a16="http://schemas.microsoft.com/office/drawing/2014/main" id="{F89DCD2B-5AEE-059F-DB8C-1B74CF530497}"/>
                </a:ext>
              </a:extLst>
            </p:cNvPr>
            <p:cNvSpPr/>
            <p:nvPr/>
          </p:nvSpPr>
          <p:spPr bwMode="auto">
            <a:xfrm>
              <a:off x="770046" y="5344519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5" name="직사각형 39">
              <a:extLst>
                <a:ext uri="{FF2B5EF4-FFF2-40B4-BE49-F238E27FC236}">
                  <a16:creationId xmlns:a16="http://schemas.microsoft.com/office/drawing/2014/main" id="{A91BC5C2-20AF-95E3-36D4-06659AA8725A}"/>
                </a:ext>
              </a:extLst>
            </p:cNvPr>
            <p:cNvSpPr/>
            <p:nvPr/>
          </p:nvSpPr>
          <p:spPr>
            <a:xfrm>
              <a:off x="805471" y="5592345"/>
              <a:ext cx="4090510" cy="67891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orElseGet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(Supplier&lt;? extends T&gt; other)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orElseThrow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(Supplier&lt;? extends X&gt;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exceptionSupplier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</a:t>
              </a:r>
            </a:p>
          </p:txBody>
        </p:sp>
      </p:grpSp>
      <p:grpSp>
        <p:nvGrpSpPr>
          <p:cNvPr id="46" name="그룹 42">
            <a:extLst>
              <a:ext uri="{FF2B5EF4-FFF2-40B4-BE49-F238E27FC236}">
                <a16:creationId xmlns:a16="http://schemas.microsoft.com/office/drawing/2014/main" id="{33A67631-EC80-687B-686E-08F216D005F8}"/>
              </a:ext>
            </a:extLst>
          </p:cNvPr>
          <p:cNvGrpSpPr/>
          <p:nvPr/>
        </p:nvGrpSpPr>
        <p:grpSpPr>
          <a:xfrm>
            <a:off x="2971034" y="6200766"/>
            <a:ext cx="6681880" cy="657234"/>
            <a:chOff x="2162142" y="6094449"/>
            <a:chExt cx="6681880" cy="657234"/>
          </a:xfrm>
        </p:grpSpPr>
        <p:grpSp>
          <p:nvGrpSpPr>
            <p:cNvPr id="47" name="그룹 51">
              <a:extLst>
                <a:ext uri="{FF2B5EF4-FFF2-40B4-BE49-F238E27FC236}">
                  <a16:creationId xmlns:a16="http://schemas.microsoft.com/office/drawing/2014/main" id="{F39FCD82-7635-C29A-336F-32021D432ABB}"/>
                </a:ext>
              </a:extLst>
            </p:cNvPr>
            <p:cNvGrpSpPr/>
            <p:nvPr/>
          </p:nvGrpSpPr>
          <p:grpSpPr>
            <a:xfrm>
              <a:off x="2553682" y="6134244"/>
              <a:ext cx="6290340" cy="617439"/>
              <a:chOff x="752303" y="5765152"/>
              <a:chExt cx="4052636" cy="1303149"/>
            </a:xfrm>
          </p:grpSpPr>
          <p:sp>
            <p:nvSpPr>
              <p:cNvPr id="49" name="모서리가 둥근 직사각형 27">
                <a:extLst>
                  <a:ext uri="{FF2B5EF4-FFF2-40B4-BE49-F238E27FC236}">
                    <a16:creationId xmlns:a16="http://schemas.microsoft.com/office/drawing/2014/main" id="{7FD6E03B-AC6C-176D-5DFE-038CA825B4D2}"/>
                  </a:ext>
                </a:extLst>
              </p:cNvPr>
              <p:cNvSpPr/>
              <p:nvPr/>
            </p:nvSpPr>
            <p:spPr bwMode="auto">
              <a:xfrm>
                <a:off x="752303" y="5765152"/>
                <a:ext cx="4052636" cy="1303149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50" name="직사각형 28">
                <a:extLst>
                  <a:ext uri="{FF2B5EF4-FFF2-40B4-BE49-F238E27FC236}">
                    <a16:creationId xmlns:a16="http://schemas.microsoft.com/office/drawing/2014/main" id="{EFF66C8A-7746-1C52-A617-54C5DD2B1BDE}"/>
                  </a:ext>
                </a:extLst>
              </p:cNvPr>
              <p:cNvSpPr/>
              <p:nvPr/>
            </p:nvSpPr>
            <p:spPr>
              <a:xfrm>
                <a:off x="814018" y="5962606"/>
                <a:ext cx="3961531" cy="97437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// 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ifPresnt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(Consumer) -</a:t>
                </a:r>
                <a:r>
                  <a:rPr kumimoji="1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널이 아닐때만 작업 수행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, </a:t>
                </a:r>
                <a:r>
                  <a:rPr kumimoji="1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널이면 아무 일도 안 함</a:t>
                </a:r>
                <a:endPara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Optional.ofNullable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str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).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ifPresent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System.out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::</a:t>
                </a:r>
                <a:r>
                  <a:rPr kumimoji="1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println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</a:t>
                </a:r>
                <a:r>
                  <a:rPr kumimoji="1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;</a:t>
                </a:r>
              </a:p>
            </p:txBody>
          </p:sp>
        </p:grpSp>
        <p:sp>
          <p:nvSpPr>
            <p:cNvPr id="48" name="굽은 화살표 40">
              <a:extLst>
                <a:ext uri="{FF2B5EF4-FFF2-40B4-BE49-F238E27FC236}">
                  <a16:creationId xmlns:a16="http://schemas.microsoft.com/office/drawing/2014/main" id="{D3107C8A-1CB6-12DB-EEBE-6CFAB3E90D87}"/>
                </a:ext>
              </a:extLst>
            </p:cNvPr>
            <p:cNvSpPr/>
            <p:nvPr/>
          </p:nvSpPr>
          <p:spPr bwMode="auto">
            <a:xfrm rot="10800000" flipH="1">
              <a:off x="2162142" y="6094449"/>
              <a:ext cx="547695" cy="474669"/>
            </a:xfrm>
            <a:prstGeom prst="bent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0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P spid="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Optional&lt;T&gt;</a:t>
            </a:r>
            <a:r>
              <a:rPr lang="ko-KR" altLang="en-US" sz="3200" b="1" dirty="0"/>
              <a:t>과 </a:t>
            </a:r>
            <a:r>
              <a:rPr lang="en-US" altLang="ko-KR" sz="3200" b="1" dirty="0" err="1"/>
              <a:t>OptionalInt</a:t>
            </a:r>
            <a:r>
              <a:rPr lang="en-US" altLang="ko-KR" sz="3200" b="1" dirty="0"/>
              <a:t>(2/2)</a:t>
            </a:r>
            <a:endParaRPr lang="en-US" sz="3200" b="1" dirty="0"/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304498B2-9434-CBDB-7232-824233960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22" y="1636942"/>
            <a:ext cx="11073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기본형 값을 감싸는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래퍼클래스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OptionalInt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OptionalLong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OptionalDouble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16" name="그룹 51">
            <a:extLst>
              <a:ext uri="{FF2B5EF4-FFF2-40B4-BE49-F238E27FC236}">
                <a16:creationId xmlns:a16="http://schemas.microsoft.com/office/drawing/2014/main" id="{30A16C91-FD10-A5E2-0A6A-D9CECC045A4B}"/>
              </a:ext>
            </a:extLst>
          </p:cNvPr>
          <p:cNvGrpSpPr/>
          <p:nvPr/>
        </p:nvGrpSpPr>
        <p:grpSpPr>
          <a:xfrm>
            <a:off x="914849" y="2040180"/>
            <a:ext cx="8580555" cy="1022347"/>
            <a:chOff x="770046" y="5484958"/>
            <a:chExt cx="4162458" cy="912824"/>
          </a:xfrm>
        </p:grpSpPr>
        <p:sp>
          <p:nvSpPr>
            <p:cNvPr id="17" name="모서리가 둥근 직사각형 12">
              <a:extLst>
                <a:ext uri="{FF2B5EF4-FFF2-40B4-BE49-F238E27FC236}">
                  <a16:creationId xmlns:a16="http://schemas.microsoft.com/office/drawing/2014/main" id="{E4A66272-70BF-CF3A-3173-B779BD2EC210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8" name="직사각형 14">
              <a:extLst>
                <a:ext uri="{FF2B5EF4-FFF2-40B4-BE49-F238E27FC236}">
                  <a16:creationId xmlns:a16="http://schemas.microsoft.com/office/drawing/2014/main" id="{D75D72D7-A447-6D45-C78D-72420799B8EC}"/>
                </a:ext>
              </a:extLst>
            </p:cNvPr>
            <p:cNvSpPr/>
            <p:nvPr/>
          </p:nvSpPr>
          <p:spPr>
            <a:xfrm>
              <a:off x="841994" y="5558003"/>
              <a:ext cx="4090510" cy="74197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public final class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private final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isPresent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값이 저장되어 있으면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true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private final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value;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타입의 변수</a:t>
              </a:r>
            </a:p>
          </p:txBody>
        </p:sp>
      </p:grpSp>
      <p:sp>
        <p:nvSpPr>
          <p:cNvPr id="19" name="Text Box 20">
            <a:extLst>
              <a:ext uri="{FF2B5EF4-FFF2-40B4-BE49-F238E27FC236}">
                <a16:creationId xmlns:a16="http://schemas.microsoft.com/office/drawing/2014/main" id="{946CA16F-3FC4-35DB-DA36-144943C73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88" y="3208579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OptionalInt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의 값 가져오기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int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getAsInt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A66D2C38-0B56-D80A-241A-0D424C6E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765" y="5070744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빈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Optional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객체의 비교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1" name="그룹 51">
            <a:extLst>
              <a:ext uri="{FF2B5EF4-FFF2-40B4-BE49-F238E27FC236}">
                <a16:creationId xmlns:a16="http://schemas.microsoft.com/office/drawing/2014/main" id="{00D75448-30E6-EE99-C7D1-46CA6C0FCFA8}"/>
              </a:ext>
            </a:extLst>
          </p:cNvPr>
          <p:cNvGrpSpPr/>
          <p:nvPr/>
        </p:nvGrpSpPr>
        <p:grpSpPr>
          <a:xfrm>
            <a:off x="916414" y="5472387"/>
            <a:ext cx="8544043" cy="1241440"/>
            <a:chOff x="770046" y="5458109"/>
            <a:chExt cx="4144746" cy="912824"/>
          </a:xfrm>
        </p:grpSpPr>
        <p:sp>
          <p:nvSpPr>
            <p:cNvPr id="22" name="모서리가 둥근 직사각형 19">
              <a:extLst>
                <a:ext uri="{FF2B5EF4-FFF2-40B4-BE49-F238E27FC236}">
                  <a16:creationId xmlns:a16="http://schemas.microsoft.com/office/drawing/2014/main" id="{94FA5974-C76E-E380-3063-C6206CB8A8F9}"/>
                </a:ext>
              </a:extLst>
            </p:cNvPr>
            <p:cNvSpPr/>
            <p:nvPr/>
          </p:nvSpPr>
          <p:spPr bwMode="auto">
            <a:xfrm>
              <a:off x="770046" y="5458109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3" name="직사각형 20">
              <a:extLst>
                <a:ext uri="{FF2B5EF4-FFF2-40B4-BE49-F238E27FC236}">
                  <a16:creationId xmlns:a16="http://schemas.microsoft.com/office/drawing/2014/main" id="{D08A6B6E-D353-8DCF-635E-9FD8591B8887}"/>
                </a:ext>
              </a:extLst>
            </p:cNvPr>
            <p:cNvSpPr/>
            <p:nvPr/>
          </p:nvSpPr>
          <p:spPr>
            <a:xfrm>
              <a:off x="824282" y="5574434"/>
              <a:ext cx="4090510" cy="77118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opt1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(0);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0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저장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opt2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OptionalInt.empty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빈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객체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0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 저장됨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opt3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Optional.ofNullable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(null);  // null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 저장된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객체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Optional&lt;String&gt; opt4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Optional.empty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 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빈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객체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null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 저장됨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(opt1.equals(opt2)); // false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(opt3.equals(opt4)); // true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9D59EB3-8843-6873-47F8-24FEDA6D6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761" y="3589215"/>
            <a:ext cx="3479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3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34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최종연산</a:t>
            </a:r>
            <a:r>
              <a:rPr lang="en-US" altLang="ko-KR" sz="3200" b="1" dirty="0"/>
              <a:t>(1/4)</a:t>
            </a:r>
            <a:endParaRPr lang="en-US" sz="3200" b="1" dirty="0"/>
          </a:p>
        </p:txBody>
      </p: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DE36E8F7-D1E7-5868-1811-77AD721E60B1}"/>
              </a:ext>
            </a:extLst>
          </p:cNvPr>
          <p:cNvGrpSpPr/>
          <p:nvPr/>
        </p:nvGrpSpPr>
        <p:grpSpPr>
          <a:xfrm>
            <a:off x="1478033" y="2022592"/>
            <a:ext cx="8251938" cy="766760"/>
            <a:chOff x="770046" y="5484958"/>
            <a:chExt cx="4127033" cy="912824"/>
          </a:xfrm>
        </p:grpSpPr>
        <p:sp>
          <p:nvSpPr>
            <p:cNvPr id="24" name="모서리가 둥근 직사각형 11">
              <a:extLst>
                <a:ext uri="{FF2B5EF4-FFF2-40B4-BE49-F238E27FC236}">
                  <a16:creationId xmlns:a16="http://schemas.microsoft.com/office/drawing/2014/main" id="{948CE110-D5AB-770A-2BD7-887C31EB1005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12">
              <a:extLst>
                <a:ext uri="{FF2B5EF4-FFF2-40B4-BE49-F238E27FC236}">
                  <a16:creationId xmlns:a16="http://schemas.microsoft.com/office/drawing/2014/main" id="{B7E8743D-A18D-FEB0-7877-DFAED0ACF7E1}"/>
                </a:ext>
              </a:extLst>
            </p:cNvPr>
            <p:cNvSpPr/>
            <p:nvPr/>
          </p:nvSpPr>
          <p:spPr>
            <a:xfrm>
              <a:off x="806569" y="5664505"/>
              <a:ext cx="4090510" cy="5496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v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oid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(Consumer&lt;? super T&gt; action)       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병렬스트림인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경우 순서가 보장되지 않음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v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oid  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Ordered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(Consumer&lt;? super T&gt; action)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병렬스트림인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경우에도 순서가 보장됨</a:t>
              </a:r>
            </a:p>
          </p:txBody>
        </p:sp>
      </p:grpSp>
      <p:sp>
        <p:nvSpPr>
          <p:cNvPr id="26" name="Text Box 20">
            <a:extLst>
              <a:ext uri="{FF2B5EF4-FFF2-40B4-BE49-F238E27FC236}">
                <a16:creationId xmlns:a16="http://schemas.microsoft.com/office/drawing/2014/main" id="{CEF66777-72CA-3988-3232-F6690CB67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655" y="1619357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 모든 요소에 지정된 작업을 수행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forEach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forEachOrdered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D2424A7B-DC38-F951-7C2C-4524C0713B09}"/>
              </a:ext>
            </a:extLst>
          </p:cNvPr>
          <p:cNvGrpSpPr/>
          <p:nvPr/>
        </p:nvGrpSpPr>
        <p:grpSpPr>
          <a:xfrm>
            <a:off x="1478033" y="2898890"/>
            <a:ext cx="8251938" cy="620721"/>
            <a:chOff x="770046" y="5431262"/>
            <a:chExt cx="4127033" cy="912824"/>
          </a:xfrm>
        </p:grpSpPr>
        <p:sp>
          <p:nvSpPr>
            <p:cNvPr id="28" name="모서리가 둥근 직사각형 15">
              <a:extLst>
                <a:ext uri="{FF2B5EF4-FFF2-40B4-BE49-F238E27FC236}">
                  <a16:creationId xmlns:a16="http://schemas.microsoft.com/office/drawing/2014/main" id="{32C1525B-25D9-59BC-4AC5-EC26932D6FE0}"/>
                </a:ext>
              </a:extLst>
            </p:cNvPr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16">
              <a:extLst>
                <a:ext uri="{FF2B5EF4-FFF2-40B4-BE49-F238E27FC236}">
                  <a16:creationId xmlns:a16="http://schemas.microsoft.com/office/drawing/2014/main" id="{86AA0CCA-5666-A2A0-7ED0-E3B34458616E}"/>
                </a:ext>
              </a:extLst>
            </p:cNvPr>
            <p:cNvSpPr/>
            <p:nvPr/>
          </p:nvSpPr>
          <p:spPr>
            <a:xfrm>
              <a:off x="806569" y="5557777"/>
              <a:ext cx="4090510" cy="678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sequential()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       // 123456789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sequential()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forEachOrdered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// 123456789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414DE46F-1348-CD86-6D92-07B6AFD868A6}"/>
              </a:ext>
            </a:extLst>
          </p:cNvPr>
          <p:cNvGrpSpPr/>
          <p:nvPr/>
        </p:nvGrpSpPr>
        <p:grpSpPr>
          <a:xfrm>
            <a:off x="1478033" y="3592637"/>
            <a:ext cx="8251938" cy="620721"/>
            <a:chOff x="770046" y="5431262"/>
            <a:chExt cx="4127033" cy="912824"/>
          </a:xfrm>
        </p:grpSpPr>
        <p:sp>
          <p:nvSpPr>
            <p:cNvPr id="31" name="모서리가 둥근 직사각형 18">
              <a:extLst>
                <a:ext uri="{FF2B5EF4-FFF2-40B4-BE49-F238E27FC236}">
                  <a16:creationId xmlns:a16="http://schemas.microsoft.com/office/drawing/2014/main" id="{DCABE380-8C8B-04D4-8379-FB1877D2ABC3}"/>
                </a:ext>
              </a:extLst>
            </p:cNvPr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19">
              <a:extLst>
                <a:ext uri="{FF2B5EF4-FFF2-40B4-BE49-F238E27FC236}">
                  <a16:creationId xmlns:a16="http://schemas.microsoft.com/office/drawing/2014/main" id="{69AAC72E-C58B-4152-A7B4-275578D0B8FE}"/>
                </a:ext>
              </a:extLst>
            </p:cNvPr>
            <p:cNvSpPr/>
            <p:nvPr/>
          </p:nvSpPr>
          <p:spPr>
            <a:xfrm>
              <a:off x="806569" y="5557777"/>
              <a:ext cx="4090510" cy="678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parallel()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         //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683295714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IntStream.range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 10).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parallel()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forEachOrdered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::print);   // 123456789</a:t>
              </a:r>
            </a:p>
          </p:txBody>
        </p:sp>
      </p:grpSp>
      <p:grpSp>
        <p:nvGrpSpPr>
          <p:cNvPr id="33" name="그룹 51">
            <a:extLst>
              <a:ext uri="{FF2B5EF4-FFF2-40B4-BE49-F238E27FC236}">
                <a16:creationId xmlns:a16="http://schemas.microsoft.com/office/drawing/2014/main" id="{E7F1C862-BBE7-3C69-F327-0DAB9746DA47}"/>
              </a:ext>
            </a:extLst>
          </p:cNvPr>
          <p:cNvGrpSpPr/>
          <p:nvPr/>
        </p:nvGrpSpPr>
        <p:grpSpPr>
          <a:xfrm>
            <a:off x="1441523" y="4870599"/>
            <a:ext cx="8669632" cy="657228"/>
            <a:chOff x="751842" y="5484958"/>
            <a:chExt cx="4195222" cy="912824"/>
          </a:xfrm>
        </p:grpSpPr>
        <p:sp>
          <p:nvSpPr>
            <p:cNvPr id="34" name="모서리가 둥근 직사각형 21">
              <a:extLst>
                <a:ext uri="{FF2B5EF4-FFF2-40B4-BE49-F238E27FC236}">
                  <a16:creationId xmlns:a16="http://schemas.microsoft.com/office/drawing/2014/main" id="{F1C4FAB4-FA85-7CB5-EA91-36429AB27C86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5" name="직사각형 22">
              <a:extLst>
                <a:ext uri="{FF2B5EF4-FFF2-40B4-BE49-F238E27FC236}">
                  <a16:creationId xmlns:a16="http://schemas.microsoft.com/office/drawing/2014/main" id="{F7130068-4301-F553-E215-F48BBE5A688E}"/>
                </a:ext>
              </a:extLst>
            </p:cNvPr>
            <p:cNvSpPr/>
            <p:nvPr/>
          </p:nvSpPr>
          <p:spPr>
            <a:xfrm>
              <a:off x="751842" y="5601345"/>
              <a:ext cx="4195222" cy="64120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Object[]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toArray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                        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모든 요소를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배열에 담아 반환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endParaRPr kumimoji="1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A[] 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toArray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IntFunction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&lt;A[]&gt; generator)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모든 요소를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타입의 배열에 담아 반환</a:t>
              </a:r>
            </a:p>
          </p:txBody>
        </p:sp>
      </p:grpSp>
      <p:sp>
        <p:nvSpPr>
          <p:cNvPr id="36" name="Text Box 20">
            <a:extLst>
              <a:ext uri="{FF2B5EF4-FFF2-40B4-BE49-F238E27FC236}">
                <a16:creationId xmlns:a16="http://schemas.microsoft.com/office/drawing/2014/main" id="{126A0CC6-5657-D6A2-ABEE-0D3B86E49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543" y="446737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스트림을 배열로 변환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toArray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7" name="그룹 51">
            <a:extLst>
              <a:ext uri="{FF2B5EF4-FFF2-40B4-BE49-F238E27FC236}">
                <a16:creationId xmlns:a16="http://schemas.microsoft.com/office/drawing/2014/main" id="{6A873162-6254-0862-CA1E-2C14B3FDC063}"/>
              </a:ext>
            </a:extLst>
          </p:cNvPr>
          <p:cNvGrpSpPr/>
          <p:nvPr/>
        </p:nvGrpSpPr>
        <p:grpSpPr>
          <a:xfrm>
            <a:off x="1477920" y="5637370"/>
            <a:ext cx="8252051" cy="803281"/>
            <a:chOff x="770046" y="5484958"/>
            <a:chExt cx="4127090" cy="912824"/>
          </a:xfrm>
        </p:grpSpPr>
        <p:sp>
          <p:nvSpPr>
            <p:cNvPr id="38" name="모서리가 둥근 직사각형 25">
              <a:extLst>
                <a:ext uri="{FF2B5EF4-FFF2-40B4-BE49-F238E27FC236}">
                  <a16:creationId xmlns:a16="http://schemas.microsoft.com/office/drawing/2014/main" id="{A5530A5F-9AC8-23B8-A9B5-9C28DB354AC9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9" name="직사각형 26">
              <a:extLst>
                <a:ext uri="{FF2B5EF4-FFF2-40B4-BE49-F238E27FC236}">
                  <a16:creationId xmlns:a16="http://schemas.microsoft.com/office/drawing/2014/main" id="{1F3633E7-D865-506F-1689-5749FE91578F}"/>
                </a:ext>
              </a:extLst>
            </p:cNvPr>
            <p:cNvSpPr/>
            <p:nvPr/>
          </p:nvSpPr>
          <p:spPr>
            <a:xfrm>
              <a:off x="806625" y="5612258"/>
              <a:ext cx="4090511" cy="73447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Student[]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studentStream.toArray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(Student[]::new); // OK. x-&gt; new Student[x]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Student[]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studentStream.toArray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에러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Object[]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studentStream.toArray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// OK.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618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35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최종연산</a:t>
            </a:r>
            <a:r>
              <a:rPr lang="en-US" altLang="ko-KR" sz="3200" b="1" dirty="0"/>
              <a:t>(2/4)</a:t>
            </a:r>
            <a:endParaRPr lang="en-US" sz="3200" b="1" dirty="0"/>
          </a:p>
        </p:txBody>
      </p:sp>
      <p:grpSp>
        <p:nvGrpSpPr>
          <p:cNvPr id="50" name="그룹 51">
            <a:extLst>
              <a:ext uri="{FF2B5EF4-FFF2-40B4-BE49-F238E27FC236}">
                <a16:creationId xmlns:a16="http://schemas.microsoft.com/office/drawing/2014/main" id="{CEED2630-17B0-68C5-1494-17B79290FE51}"/>
              </a:ext>
            </a:extLst>
          </p:cNvPr>
          <p:cNvGrpSpPr/>
          <p:nvPr/>
        </p:nvGrpSpPr>
        <p:grpSpPr>
          <a:xfrm>
            <a:off x="839611" y="2057762"/>
            <a:ext cx="8505266" cy="766760"/>
            <a:chOff x="770046" y="5484958"/>
            <a:chExt cx="4125935" cy="912824"/>
          </a:xfrm>
        </p:grpSpPr>
        <p:sp>
          <p:nvSpPr>
            <p:cNvPr id="51" name="모서리가 둥근 직사각형 11">
              <a:extLst>
                <a:ext uri="{FF2B5EF4-FFF2-40B4-BE49-F238E27FC236}">
                  <a16:creationId xmlns:a16="http://schemas.microsoft.com/office/drawing/2014/main" id="{06266BE9-4A0D-E74F-FE12-2DDCE5A53FB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2" name="직사각형 12">
              <a:extLst>
                <a:ext uri="{FF2B5EF4-FFF2-40B4-BE49-F238E27FC236}">
                  <a16:creationId xmlns:a16="http://schemas.microsoft.com/office/drawing/2014/main" id="{95085771-25FA-7E37-DE8F-B2FE450D3FB3}"/>
                </a:ext>
              </a:extLst>
            </p:cNvPr>
            <p:cNvSpPr/>
            <p:nvPr/>
          </p:nvSpPr>
          <p:spPr>
            <a:xfrm>
              <a:off x="805471" y="5574489"/>
              <a:ext cx="4090510" cy="7694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allMatch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(Predicate&lt;? super T&gt; predicate)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모든 요소가 조건을 만족시키면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true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anyMatch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(Predicate&lt;? super T&gt; predicate)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한 요소라도 조건을 만족시키면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true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noneMatch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(Predicate&lt;? super T&gt; predicate)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모든 요소가 조건을 만족시키지 않으면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true</a:t>
              </a:r>
            </a:p>
          </p:txBody>
        </p:sp>
      </p:grpSp>
      <p:sp>
        <p:nvSpPr>
          <p:cNvPr id="53" name="Text Box 20">
            <a:extLst>
              <a:ext uri="{FF2B5EF4-FFF2-40B4-BE49-F238E27FC236}">
                <a16:creationId xmlns:a16="http://schemas.microsoft.com/office/drawing/2014/main" id="{D6BC715B-CB8F-A0B8-7F3F-4D7E49262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85" y="1654526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조건 검사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allMatch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anyMatch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noneMatch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54" name="그룹 51">
            <a:extLst>
              <a:ext uri="{FF2B5EF4-FFF2-40B4-BE49-F238E27FC236}">
                <a16:creationId xmlns:a16="http://schemas.microsoft.com/office/drawing/2014/main" id="{76BAAAD9-7D4D-446E-AB86-101BEFCCBC4D}"/>
              </a:ext>
            </a:extLst>
          </p:cNvPr>
          <p:cNvGrpSpPr/>
          <p:nvPr/>
        </p:nvGrpSpPr>
        <p:grpSpPr>
          <a:xfrm>
            <a:off x="831736" y="2897546"/>
            <a:ext cx="8523279" cy="438156"/>
            <a:chOff x="770046" y="5431262"/>
            <a:chExt cx="4127033" cy="912824"/>
          </a:xfrm>
        </p:grpSpPr>
        <p:sp>
          <p:nvSpPr>
            <p:cNvPr id="55" name="모서리가 둥근 직사각형 21">
              <a:extLst>
                <a:ext uri="{FF2B5EF4-FFF2-40B4-BE49-F238E27FC236}">
                  <a16:creationId xmlns:a16="http://schemas.microsoft.com/office/drawing/2014/main" id="{14BB87FE-AD9D-3FAE-3E84-43A33CB857E8}"/>
                </a:ext>
              </a:extLst>
            </p:cNvPr>
            <p:cNvSpPr/>
            <p:nvPr/>
          </p:nvSpPr>
          <p:spPr bwMode="auto">
            <a:xfrm>
              <a:off x="770046" y="5431262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6" name="직사각형 22">
              <a:extLst>
                <a:ext uri="{FF2B5EF4-FFF2-40B4-BE49-F238E27FC236}">
                  <a16:creationId xmlns:a16="http://schemas.microsoft.com/office/drawing/2014/main" id="{50CD5A87-418C-F308-361C-7199A88B1AAA}"/>
                </a:ext>
              </a:extLst>
            </p:cNvPr>
            <p:cNvSpPr/>
            <p:nvPr/>
          </p:nvSpPr>
          <p:spPr>
            <a:xfrm>
              <a:off x="806569" y="5583395"/>
              <a:ext cx="4090510" cy="57708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hasFailedStu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stuStream.anyMatch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()&lt;=100);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낙제자가 있는지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?</a:t>
              </a:r>
            </a:p>
          </p:txBody>
        </p:sp>
      </p:grpSp>
      <p:grpSp>
        <p:nvGrpSpPr>
          <p:cNvPr id="57" name="그룹 51">
            <a:extLst>
              <a:ext uri="{FF2B5EF4-FFF2-40B4-BE49-F238E27FC236}">
                <a16:creationId xmlns:a16="http://schemas.microsoft.com/office/drawing/2014/main" id="{BEC70584-A992-499B-26C6-AE5997BE161B}"/>
              </a:ext>
            </a:extLst>
          </p:cNvPr>
          <p:cNvGrpSpPr/>
          <p:nvPr/>
        </p:nvGrpSpPr>
        <p:grpSpPr>
          <a:xfrm>
            <a:off x="839611" y="4942274"/>
            <a:ext cx="8432241" cy="655641"/>
            <a:chOff x="769287" y="5484958"/>
            <a:chExt cx="4090510" cy="912824"/>
          </a:xfrm>
        </p:grpSpPr>
        <p:sp>
          <p:nvSpPr>
            <p:cNvPr id="58" name="모서리가 둥근 직사각형 24">
              <a:extLst>
                <a:ext uri="{FF2B5EF4-FFF2-40B4-BE49-F238E27FC236}">
                  <a16:creationId xmlns:a16="http://schemas.microsoft.com/office/drawing/2014/main" id="{6C1134FA-FB32-4FFB-C638-F69C8494CF93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9" name="직사각형 25">
              <a:extLst>
                <a:ext uri="{FF2B5EF4-FFF2-40B4-BE49-F238E27FC236}">
                  <a16:creationId xmlns:a16="http://schemas.microsoft.com/office/drawing/2014/main" id="{4FA468DB-D858-A2E0-BB02-97DC3A061C07}"/>
                </a:ext>
              </a:extLst>
            </p:cNvPr>
            <p:cNvSpPr/>
            <p:nvPr/>
          </p:nvSpPr>
          <p:spPr>
            <a:xfrm>
              <a:off x="769287" y="5586629"/>
              <a:ext cx="4090510" cy="64275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Optional&lt;Student&gt;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result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.filter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&lt;= 100).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find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First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Optional&lt;Student&gt;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result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parallelStream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.filter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&lt;= 100).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find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Any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</p:txBody>
        </p:sp>
      </p:grpSp>
      <p:sp>
        <p:nvSpPr>
          <p:cNvPr id="60" name="Text Box 20">
            <a:extLst>
              <a:ext uri="{FF2B5EF4-FFF2-40B4-BE49-F238E27FC236}">
                <a16:creationId xmlns:a16="http://schemas.microsoft.com/office/drawing/2014/main" id="{BCB0D957-46A8-286E-791E-A521CF4B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50" y="3700832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조건에 일치하는 요소 찾기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findFirst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 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findAny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61" name="그룹 51">
            <a:extLst>
              <a:ext uri="{FF2B5EF4-FFF2-40B4-BE49-F238E27FC236}">
                <a16:creationId xmlns:a16="http://schemas.microsoft.com/office/drawing/2014/main" id="{E5D4329D-0B6E-3438-CF84-51750D1FE180}"/>
              </a:ext>
            </a:extLst>
          </p:cNvPr>
          <p:cNvGrpSpPr/>
          <p:nvPr/>
        </p:nvGrpSpPr>
        <p:grpSpPr>
          <a:xfrm>
            <a:off x="839611" y="4175503"/>
            <a:ext cx="8505266" cy="620720"/>
            <a:chOff x="770046" y="5484958"/>
            <a:chExt cx="4125935" cy="912824"/>
          </a:xfrm>
        </p:grpSpPr>
        <p:sp>
          <p:nvSpPr>
            <p:cNvPr id="62" name="모서리가 둥근 직사각형 28">
              <a:extLst>
                <a:ext uri="{FF2B5EF4-FFF2-40B4-BE49-F238E27FC236}">
                  <a16:creationId xmlns:a16="http://schemas.microsoft.com/office/drawing/2014/main" id="{F8FFB4F0-ACBC-0790-CEEF-A8CB0BF0F30B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63" name="직사각형 29">
              <a:extLst>
                <a:ext uri="{FF2B5EF4-FFF2-40B4-BE49-F238E27FC236}">
                  <a16:creationId xmlns:a16="http://schemas.microsoft.com/office/drawing/2014/main" id="{7A725E82-D3CC-13B6-300A-6A8DE6293606}"/>
                </a:ext>
              </a:extLst>
            </p:cNvPr>
            <p:cNvSpPr/>
            <p:nvPr/>
          </p:nvSpPr>
          <p:spPr>
            <a:xfrm>
              <a:off x="805471" y="5592346"/>
              <a:ext cx="4090510" cy="67891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findFirst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첫 번째 요소를 반환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en-US" altLang="ko-KR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순차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스트림에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사용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findAny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아무거나 하나를 반환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스트림에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사용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344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6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36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최종연산</a:t>
            </a:r>
            <a:r>
              <a:rPr lang="en-US" altLang="ko-KR" sz="3200" b="1" dirty="0"/>
              <a:t>(3/4)</a:t>
            </a:r>
            <a:endParaRPr lang="en-US" sz="3200" b="1" dirty="0"/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A973BAD1-4140-77FE-8FF1-8650AEC42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55" y="1654525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스트림에 대한 통계정보 제공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count(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sum(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average(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max(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min(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2" name="그룹 25">
            <a:extLst>
              <a:ext uri="{FF2B5EF4-FFF2-40B4-BE49-F238E27FC236}">
                <a16:creationId xmlns:a16="http://schemas.microsoft.com/office/drawing/2014/main" id="{095A6491-E831-4F6E-661F-759BB7F5DFEB}"/>
              </a:ext>
            </a:extLst>
          </p:cNvPr>
          <p:cNvGrpSpPr/>
          <p:nvPr/>
        </p:nvGrpSpPr>
        <p:grpSpPr>
          <a:xfrm>
            <a:off x="792233" y="2094259"/>
            <a:ext cx="8251938" cy="917027"/>
            <a:chOff x="774648" y="2041506"/>
            <a:chExt cx="8251938" cy="917027"/>
          </a:xfrm>
        </p:grpSpPr>
        <p:grpSp>
          <p:nvGrpSpPr>
            <p:cNvPr id="23" name="그룹 51">
              <a:extLst>
                <a:ext uri="{FF2B5EF4-FFF2-40B4-BE49-F238E27FC236}">
                  <a16:creationId xmlns:a16="http://schemas.microsoft.com/office/drawing/2014/main" id="{28519057-9E99-BCD8-BDFE-D8AE60BDB8B6}"/>
                </a:ext>
              </a:extLst>
            </p:cNvPr>
            <p:cNvGrpSpPr/>
            <p:nvPr/>
          </p:nvGrpSpPr>
          <p:grpSpPr>
            <a:xfrm>
              <a:off x="774648" y="2191774"/>
              <a:ext cx="8251938" cy="766759"/>
              <a:chOff x="770046" y="5484958"/>
              <a:chExt cx="4127033" cy="912824"/>
            </a:xfrm>
          </p:grpSpPr>
          <p:sp>
            <p:nvSpPr>
              <p:cNvPr id="25" name="모서리가 둥근 직사각형 11">
                <a:extLst>
                  <a:ext uri="{FF2B5EF4-FFF2-40B4-BE49-F238E27FC236}">
                    <a16:creationId xmlns:a16="http://schemas.microsoft.com/office/drawing/2014/main" id="{62D4FB70-5CE3-72FD-19F4-2EA288E347EA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26" name="직사각형 12">
                <a:extLst>
                  <a:ext uri="{FF2B5EF4-FFF2-40B4-BE49-F238E27FC236}">
                    <a16:creationId xmlns:a16="http://schemas.microsoft.com/office/drawing/2014/main" id="{5BF38C1D-63E2-9BB8-B385-D1633AC6CF2A}"/>
                  </a:ext>
                </a:extLst>
              </p:cNvPr>
              <p:cNvSpPr/>
              <p:nvPr/>
            </p:nvSpPr>
            <p:spPr>
              <a:xfrm>
                <a:off x="806569" y="5541396"/>
                <a:ext cx="4090510" cy="769455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long         count()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Optional&lt;T&gt;  max(Comparator&lt;? super T&gt; comparator)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Optional&lt;T&gt;  min(Comparator&lt;? super T&gt; comparator)</a:t>
                </a:r>
                <a:endPara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43C367A-FE7D-CE16-460D-D4E12BAF7430}"/>
                </a:ext>
              </a:extLst>
            </p:cNvPr>
            <p:cNvSpPr txBox="1"/>
            <p:nvPr/>
          </p:nvSpPr>
          <p:spPr>
            <a:xfrm>
              <a:off x="6945345" y="2041506"/>
              <a:ext cx="1679598" cy="369332"/>
            </a:xfrm>
            <a:prstGeom prst="rect">
              <a:avLst/>
            </a:prstGeom>
            <a:solidFill>
              <a:srgbClr val="FFFFFF">
                <a:lumMod val="50000"/>
              </a:srgbClr>
            </a:solidFill>
            <a:ln w="38100" cap="flat" cmpd="sng" algn="ctr">
              <a:solidFill>
                <a:srgbClr val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urier New" pitchFamily="49" charset="0"/>
                  <a:ea typeface="굴림"/>
                  <a:cs typeface="Courier New" pitchFamily="49" charset="0"/>
                </a:rPr>
                <a:t>Stream&lt;T&gt;</a:t>
              </a: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굴림"/>
                <a:cs typeface="Courier New" pitchFamily="49" charset="0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73BED0C-2FE4-61C0-BA0C-C73F8B951200}"/>
              </a:ext>
            </a:extLst>
          </p:cNvPr>
          <p:cNvGrpSpPr/>
          <p:nvPr/>
        </p:nvGrpSpPr>
        <p:grpSpPr>
          <a:xfrm>
            <a:off x="792233" y="3189649"/>
            <a:ext cx="8251938" cy="1606575"/>
            <a:chOff x="774648" y="3136896"/>
            <a:chExt cx="8251938" cy="1606575"/>
          </a:xfrm>
        </p:grpSpPr>
        <p:grpSp>
          <p:nvGrpSpPr>
            <p:cNvPr id="28" name="그룹 51">
              <a:extLst>
                <a:ext uri="{FF2B5EF4-FFF2-40B4-BE49-F238E27FC236}">
                  <a16:creationId xmlns:a16="http://schemas.microsoft.com/office/drawing/2014/main" id="{5CEFA766-AF16-091C-1604-45E9D6B70A45}"/>
                </a:ext>
              </a:extLst>
            </p:cNvPr>
            <p:cNvGrpSpPr/>
            <p:nvPr/>
          </p:nvGrpSpPr>
          <p:grpSpPr>
            <a:xfrm>
              <a:off x="774648" y="3287169"/>
              <a:ext cx="8251938" cy="1456302"/>
              <a:chOff x="770046" y="5484958"/>
              <a:chExt cx="4127033" cy="996402"/>
            </a:xfrm>
          </p:grpSpPr>
          <p:sp>
            <p:nvSpPr>
              <p:cNvPr id="30" name="모서리가 둥근 직사각형 15">
                <a:extLst>
                  <a:ext uri="{FF2B5EF4-FFF2-40B4-BE49-F238E27FC236}">
                    <a16:creationId xmlns:a16="http://schemas.microsoft.com/office/drawing/2014/main" id="{DB08977D-8F76-F1B6-D66B-3923C46CA208}"/>
                  </a:ext>
                </a:extLst>
              </p:cNvPr>
              <p:cNvSpPr/>
              <p:nvPr/>
            </p:nvSpPr>
            <p:spPr bwMode="auto">
              <a:xfrm>
                <a:off x="770046" y="5484958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31" name="직사각형 16">
                <a:extLst>
                  <a:ext uri="{FF2B5EF4-FFF2-40B4-BE49-F238E27FC236}">
                    <a16:creationId xmlns:a16="http://schemas.microsoft.com/office/drawing/2014/main" id="{963CEB85-D32A-6B43-B8CE-B15D50433E8C}"/>
                  </a:ext>
                </a:extLst>
              </p:cNvPr>
              <p:cNvSpPr/>
              <p:nvPr/>
            </p:nvSpPr>
            <p:spPr>
              <a:xfrm>
                <a:off x="806569" y="5533746"/>
                <a:ext cx="4090510" cy="947614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long                  count()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	            sum()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OptionalDouble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average()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max()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       min()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IntSummaryStatistics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summaryStatistics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6F0B1D-35E7-D446-1E79-54B094901D4B}"/>
                </a:ext>
              </a:extLst>
            </p:cNvPr>
            <p:cNvSpPr txBox="1"/>
            <p:nvPr/>
          </p:nvSpPr>
          <p:spPr>
            <a:xfrm>
              <a:off x="6943668" y="3136896"/>
              <a:ext cx="1679598" cy="369332"/>
            </a:xfrm>
            <a:prstGeom prst="rect">
              <a:avLst/>
            </a:prstGeom>
            <a:solidFill>
              <a:srgbClr val="FFFFFF">
                <a:lumMod val="50000"/>
              </a:srgbClr>
            </a:solidFill>
            <a:ln w="38100" cap="flat" cmpd="sng" algn="ctr">
              <a:solidFill>
                <a:srgbClr val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urier New" pitchFamily="49" charset="0"/>
                  <a:ea typeface="굴림"/>
                  <a:cs typeface="Courier New" pitchFamily="49" charset="0"/>
                </a:rPr>
                <a:t>IntStream</a:t>
              </a:r>
              <a:endPara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굴림"/>
                <a:cs typeface="Courier New" pitchFamily="49" charset="0"/>
              </a:endParaRPr>
            </a:p>
          </p:txBody>
        </p:sp>
      </p:grpSp>
      <p:grpSp>
        <p:nvGrpSpPr>
          <p:cNvPr id="32" name="그룹 27">
            <a:extLst>
              <a:ext uri="{FF2B5EF4-FFF2-40B4-BE49-F238E27FC236}">
                <a16:creationId xmlns:a16="http://schemas.microsoft.com/office/drawing/2014/main" id="{3852129D-A351-6375-EA36-BAA4B8DAA1DE}"/>
              </a:ext>
            </a:extLst>
          </p:cNvPr>
          <p:cNvGrpSpPr/>
          <p:nvPr/>
        </p:nvGrpSpPr>
        <p:grpSpPr>
          <a:xfrm>
            <a:off x="5319845" y="3956423"/>
            <a:ext cx="3432222" cy="1335875"/>
            <a:chOff x="4973643" y="3903670"/>
            <a:chExt cx="3432222" cy="1335875"/>
          </a:xfrm>
        </p:grpSpPr>
        <p:grpSp>
          <p:nvGrpSpPr>
            <p:cNvPr id="33" name="그룹 51">
              <a:extLst>
                <a:ext uri="{FF2B5EF4-FFF2-40B4-BE49-F238E27FC236}">
                  <a16:creationId xmlns:a16="http://schemas.microsoft.com/office/drawing/2014/main" id="{6802EE9D-02A5-0D04-3715-E4AAC81F2BB6}"/>
                </a:ext>
              </a:extLst>
            </p:cNvPr>
            <p:cNvGrpSpPr/>
            <p:nvPr/>
          </p:nvGrpSpPr>
          <p:grpSpPr>
            <a:xfrm>
              <a:off x="4973643" y="3903670"/>
              <a:ext cx="3432222" cy="1168416"/>
              <a:chOff x="727859" y="5512686"/>
              <a:chExt cx="4180954" cy="912824"/>
            </a:xfrm>
          </p:grpSpPr>
          <p:sp>
            <p:nvSpPr>
              <p:cNvPr id="35" name="모서리가 둥근 직사각형 22">
                <a:extLst>
                  <a:ext uri="{FF2B5EF4-FFF2-40B4-BE49-F238E27FC236}">
                    <a16:creationId xmlns:a16="http://schemas.microsoft.com/office/drawing/2014/main" id="{702E6771-A4FF-086E-348A-DAAF3D5A2AF6}"/>
                  </a:ext>
                </a:extLst>
              </p:cNvPr>
              <p:cNvSpPr/>
              <p:nvPr/>
            </p:nvSpPr>
            <p:spPr bwMode="auto">
              <a:xfrm>
                <a:off x="727859" y="5512686"/>
                <a:ext cx="4052635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36" name="직사각형 23">
                <a:extLst>
                  <a:ext uri="{FF2B5EF4-FFF2-40B4-BE49-F238E27FC236}">
                    <a16:creationId xmlns:a16="http://schemas.microsoft.com/office/drawing/2014/main" id="{F3B53B3F-D7E9-6255-26EF-26C3DD7279AF}"/>
                  </a:ext>
                </a:extLst>
              </p:cNvPr>
              <p:cNvSpPr/>
              <p:nvPr/>
            </p:nvSpPr>
            <p:spPr>
              <a:xfrm>
                <a:off x="818302" y="5705143"/>
                <a:ext cx="4090511" cy="634789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double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getAverage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long  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getCount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getMax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  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  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getMin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 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long  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getSum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0865FFE-C377-D1B3-E118-E6989E274040}"/>
                </a:ext>
              </a:extLst>
            </p:cNvPr>
            <p:cNvSpPr txBox="1"/>
            <p:nvPr/>
          </p:nvSpPr>
          <p:spPr>
            <a:xfrm>
              <a:off x="5849955" y="4962546"/>
              <a:ext cx="2227293" cy="276999"/>
            </a:xfrm>
            <a:prstGeom prst="rect">
              <a:avLst/>
            </a:prstGeom>
            <a:solidFill>
              <a:srgbClr val="FFFFFF">
                <a:lumMod val="50000"/>
              </a:srgbClr>
            </a:solidFill>
            <a:ln w="38100" cap="flat" cmpd="sng" algn="ctr">
              <a:solidFill>
                <a:srgbClr val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urier New" pitchFamily="49" charset="0"/>
                  <a:ea typeface="굴림"/>
                  <a:cs typeface="Courier New" pitchFamily="49" charset="0"/>
                </a:rPr>
                <a:t>IntSummaryStatistics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굴림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361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37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최종연산</a:t>
            </a:r>
            <a:r>
              <a:rPr lang="en-US" altLang="ko-KR" sz="3200" b="1" dirty="0"/>
              <a:t>(4/4)</a:t>
            </a:r>
            <a:endParaRPr lang="en-US" sz="3200" b="1" dirty="0"/>
          </a:p>
        </p:txBody>
      </p:sp>
      <p:grpSp>
        <p:nvGrpSpPr>
          <p:cNvPr id="28" name="그룹 51">
            <a:extLst>
              <a:ext uri="{FF2B5EF4-FFF2-40B4-BE49-F238E27FC236}">
                <a16:creationId xmlns:a16="http://schemas.microsoft.com/office/drawing/2014/main" id="{30A65B45-25E9-545E-F44B-87A61452CC7A}"/>
              </a:ext>
            </a:extLst>
          </p:cNvPr>
          <p:cNvGrpSpPr/>
          <p:nvPr/>
        </p:nvGrpSpPr>
        <p:grpSpPr>
          <a:xfrm>
            <a:off x="1437488" y="2075346"/>
            <a:ext cx="8505266" cy="906201"/>
            <a:chOff x="770046" y="5484958"/>
            <a:chExt cx="4125935" cy="1078828"/>
          </a:xfrm>
        </p:grpSpPr>
        <p:sp>
          <p:nvSpPr>
            <p:cNvPr id="29" name="모서리가 둥근 직사각형 11">
              <a:extLst>
                <a:ext uri="{FF2B5EF4-FFF2-40B4-BE49-F238E27FC236}">
                  <a16:creationId xmlns:a16="http://schemas.microsoft.com/office/drawing/2014/main" id="{C58A7F62-0382-B3E1-7B7B-7FCF26E0A700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0" name="직사각형 12">
              <a:extLst>
                <a:ext uri="{FF2B5EF4-FFF2-40B4-BE49-F238E27FC236}">
                  <a16:creationId xmlns:a16="http://schemas.microsoft.com/office/drawing/2014/main" id="{8E241D62-85C0-2307-F7FE-A9C3F636C376}"/>
                </a:ext>
              </a:extLst>
            </p:cNvPr>
            <p:cNvSpPr/>
            <p:nvPr/>
          </p:nvSpPr>
          <p:spPr>
            <a:xfrm>
              <a:off x="805471" y="5574488"/>
              <a:ext cx="4090510" cy="98929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Optional&lt;T&gt; reduce(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accumulator)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           reduce(T identity,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accumulator)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U           reduce(U identity,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BiFunction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&lt;U,T,U&gt; accumulator,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&lt;U&gt; combiner)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31" name="Text Box 20">
            <a:extLst>
              <a:ext uri="{FF2B5EF4-FFF2-40B4-BE49-F238E27FC236}">
                <a16:creationId xmlns:a16="http://schemas.microsoft.com/office/drawing/2014/main" id="{5EEA89AF-9141-3946-5B3B-2DFC01C6C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62" y="1672110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 요소를 하나씩 줄여가며 누적연산 수행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reduce(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2" name="그룹 51">
            <a:extLst>
              <a:ext uri="{FF2B5EF4-FFF2-40B4-BE49-F238E27FC236}">
                <a16:creationId xmlns:a16="http://schemas.microsoft.com/office/drawing/2014/main" id="{B141933D-68E5-7F21-47D8-59DAA4D7B92C}"/>
              </a:ext>
            </a:extLst>
          </p:cNvPr>
          <p:cNvGrpSpPr/>
          <p:nvPr/>
        </p:nvGrpSpPr>
        <p:grpSpPr>
          <a:xfrm>
            <a:off x="1437488" y="3645384"/>
            <a:ext cx="8505266" cy="1131902"/>
            <a:chOff x="770046" y="5484958"/>
            <a:chExt cx="4125935" cy="912824"/>
          </a:xfrm>
        </p:grpSpPr>
        <p:sp>
          <p:nvSpPr>
            <p:cNvPr id="33" name="모서리가 둥근 직사각형 33">
              <a:extLst>
                <a:ext uri="{FF2B5EF4-FFF2-40B4-BE49-F238E27FC236}">
                  <a16:creationId xmlns:a16="http://schemas.microsoft.com/office/drawing/2014/main" id="{45168D06-8AFC-F004-E644-85DFDF0B9E11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4" name="직사각형 34">
              <a:extLst>
                <a:ext uri="{FF2B5EF4-FFF2-40B4-BE49-F238E27FC236}">
                  <a16:creationId xmlns:a16="http://schemas.microsoft.com/office/drawing/2014/main" id="{CC7CBACD-8879-8108-EBD3-2D44EE2C8458}"/>
                </a:ext>
              </a:extLst>
            </p:cNvPr>
            <p:cNvSpPr/>
            <p:nvPr/>
          </p:nvSpPr>
          <p:spPr>
            <a:xfrm>
              <a:off x="805471" y="5543856"/>
              <a:ext cx="4090510" cy="81908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reduce(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 identity,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 op)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count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a + 1);                       // count()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sum 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a + b);                       // sum()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max 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Integer.MIN_VALUE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)-&gt; a &gt; b ? a : b); // max()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min 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Integer.MAX_VALUE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)-&gt; a &lt; b ? a : b); // min()</a:t>
              </a:r>
            </a:p>
          </p:txBody>
        </p:sp>
      </p:grp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2EF10678-6670-8DC4-C9A8-7CAF189FA4FE}"/>
              </a:ext>
            </a:extLst>
          </p:cNvPr>
          <p:cNvGrpSpPr/>
          <p:nvPr/>
        </p:nvGrpSpPr>
        <p:grpSpPr>
          <a:xfrm>
            <a:off x="1703218" y="2805589"/>
            <a:ext cx="5320759" cy="657236"/>
            <a:chOff x="770046" y="5484957"/>
            <a:chExt cx="4125935" cy="912824"/>
          </a:xfrm>
        </p:grpSpPr>
        <p:sp>
          <p:nvSpPr>
            <p:cNvPr id="36" name="모서리가 둥근 직사각형 36">
              <a:extLst>
                <a:ext uri="{FF2B5EF4-FFF2-40B4-BE49-F238E27FC236}">
                  <a16:creationId xmlns:a16="http://schemas.microsoft.com/office/drawing/2014/main" id="{5713A4E3-EE76-38DF-10B0-80F808E1946D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7" name="직사각형 37">
              <a:extLst>
                <a:ext uri="{FF2B5EF4-FFF2-40B4-BE49-F238E27FC236}">
                  <a16:creationId xmlns:a16="http://schemas.microsoft.com/office/drawing/2014/main" id="{A8B014A2-B2B5-B2D7-DEA0-51650E6A3311}"/>
                </a:ext>
              </a:extLst>
            </p:cNvPr>
            <p:cNvSpPr/>
            <p:nvPr/>
          </p:nvSpPr>
          <p:spPr>
            <a:xfrm>
              <a:off x="805471" y="5535662"/>
              <a:ext cx="4090510" cy="83355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identity     - </a:t>
              </a: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초기값</a:t>
              </a:r>
              <a:endPara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accumulator  - </a:t>
              </a: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이전 연산결과와 </a:t>
              </a:r>
              <a:r>
                <a:rPr kumimoji="1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요소에 수행할 연산</a:t>
              </a:r>
              <a:endPara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combiner     - </a:t>
              </a:r>
              <a:r>
                <a:rPr kumimoji="1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병렬처리된</a:t>
              </a: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결과를 합치는데 사용할 연산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 </a:t>
              </a:r>
              <a:r>
                <a:rPr kumimoji="1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</p:txBody>
        </p:sp>
      </p:grpSp>
      <p:grpSp>
        <p:nvGrpSpPr>
          <p:cNvPr id="38" name="그룹 31">
            <a:extLst>
              <a:ext uri="{FF2B5EF4-FFF2-40B4-BE49-F238E27FC236}">
                <a16:creationId xmlns:a16="http://schemas.microsoft.com/office/drawing/2014/main" id="{0D163F7C-3C98-2AEF-36AE-BE8E55A35198}"/>
              </a:ext>
            </a:extLst>
          </p:cNvPr>
          <p:cNvGrpSpPr/>
          <p:nvPr/>
        </p:nvGrpSpPr>
        <p:grpSpPr>
          <a:xfrm>
            <a:off x="1439751" y="4704267"/>
            <a:ext cx="8505266" cy="1058878"/>
            <a:chOff x="630859" y="4633929"/>
            <a:chExt cx="8505266" cy="1058878"/>
          </a:xfrm>
        </p:grpSpPr>
        <p:grpSp>
          <p:nvGrpSpPr>
            <p:cNvPr id="39" name="그룹 51">
              <a:extLst>
                <a:ext uri="{FF2B5EF4-FFF2-40B4-BE49-F238E27FC236}">
                  <a16:creationId xmlns:a16="http://schemas.microsoft.com/office/drawing/2014/main" id="{A55F3477-FC4D-3590-E6C8-CB3C414A51DD}"/>
                </a:ext>
              </a:extLst>
            </p:cNvPr>
            <p:cNvGrpSpPr/>
            <p:nvPr/>
          </p:nvGrpSpPr>
          <p:grpSpPr>
            <a:xfrm>
              <a:off x="630859" y="4926035"/>
              <a:ext cx="8505266" cy="766772"/>
              <a:chOff x="770046" y="5484957"/>
              <a:chExt cx="4125935" cy="912824"/>
            </a:xfrm>
          </p:grpSpPr>
          <p:sp>
            <p:nvSpPr>
              <p:cNvPr id="41" name="모서리가 둥근 직사각형 21">
                <a:extLst>
                  <a:ext uri="{FF2B5EF4-FFF2-40B4-BE49-F238E27FC236}">
                    <a16:creationId xmlns:a16="http://schemas.microsoft.com/office/drawing/2014/main" id="{34826850-A609-0857-7659-7825ECFD5E5F}"/>
                  </a:ext>
                </a:extLst>
              </p:cNvPr>
              <p:cNvSpPr/>
              <p:nvPr/>
            </p:nvSpPr>
            <p:spPr bwMode="auto">
              <a:xfrm>
                <a:off x="770046" y="5484957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2" name="직사각형 22">
                <a:extLst>
                  <a:ext uri="{FF2B5EF4-FFF2-40B4-BE49-F238E27FC236}">
                    <a16:creationId xmlns:a16="http://schemas.microsoft.com/office/drawing/2014/main" id="{D5CA00B5-901D-25B3-BD73-91DDC4CEA1CC}"/>
                  </a:ext>
                </a:extLst>
              </p:cNvPr>
              <p:cNvSpPr/>
              <p:nvPr/>
            </p:nvSpPr>
            <p:spPr>
              <a:xfrm>
                <a:off x="805471" y="5571890"/>
                <a:ext cx="4090510" cy="769442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//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reduce(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IntBinaryOperator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accumulator)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max =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intStream.reduce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((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a,b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 -&gt; a &gt; b ? a : b); // max()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min =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intStream.reduce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((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a,b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 -&gt; a &lt; b ? a : b); // min()</a:t>
                </a:r>
              </a:p>
            </p:txBody>
          </p:sp>
        </p:grpSp>
        <p:sp>
          <p:nvSpPr>
            <p:cNvPr id="40" name="아래쪽 화살표 23">
              <a:extLst>
                <a:ext uri="{FF2B5EF4-FFF2-40B4-BE49-F238E27FC236}">
                  <a16:creationId xmlns:a16="http://schemas.microsoft.com/office/drawing/2014/main" id="{C57E1654-E3BA-FBE8-E89A-49060429C364}"/>
                </a:ext>
              </a:extLst>
            </p:cNvPr>
            <p:cNvSpPr/>
            <p:nvPr/>
          </p:nvSpPr>
          <p:spPr bwMode="auto">
            <a:xfrm>
              <a:off x="4681539" y="4633929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43" name="그룹 32">
            <a:extLst>
              <a:ext uri="{FF2B5EF4-FFF2-40B4-BE49-F238E27FC236}">
                <a16:creationId xmlns:a16="http://schemas.microsoft.com/office/drawing/2014/main" id="{27A5FBA3-B996-0B10-839F-E3FF9551F9EF}"/>
              </a:ext>
            </a:extLst>
          </p:cNvPr>
          <p:cNvGrpSpPr/>
          <p:nvPr/>
        </p:nvGrpSpPr>
        <p:grpSpPr>
          <a:xfrm>
            <a:off x="1447626" y="5690118"/>
            <a:ext cx="8505266" cy="876312"/>
            <a:chOff x="637305" y="5619780"/>
            <a:chExt cx="8505266" cy="876312"/>
          </a:xfrm>
        </p:grpSpPr>
        <p:grpSp>
          <p:nvGrpSpPr>
            <p:cNvPr id="44" name="그룹 51">
              <a:extLst>
                <a:ext uri="{FF2B5EF4-FFF2-40B4-BE49-F238E27FC236}">
                  <a16:creationId xmlns:a16="http://schemas.microsoft.com/office/drawing/2014/main" id="{982A9DA2-F706-766D-9ED8-2B9AA258FB17}"/>
                </a:ext>
              </a:extLst>
            </p:cNvPr>
            <p:cNvGrpSpPr/>
            <p:nvPr/>
          </p:nvGrpSpPr>
          <p:grpSpPr>
            <a:xfrm>
              <a:off x="637305" y="5911886"/>
              <a:ext cx="8505266" cy="584206"/>
              <a:chOff x="770046" y="5484957"/>
              <a:chExt cx="4125935" cy="912824"/>
            </a:xfrm>
          </p:grpSpPr>
          <p:sp>
            <p:nvSpPr>
              <p:cNvPr id="46" name="모서리가 둥근 직사각형 25">
                <a:extLst>
                  <a:ext uri="{FF2B5EF4-FFF2-40B4-BE49-F238E27FC236}">
                    <a16:creationId xmlns:a16="http://schemas.microsoft.com/office/drawing/2014/main" id="{9B61D384-DDF0-A9F2-6C5B-4BBB21D1C51C}"/>
                  </a:ext>
                </a:extLst>
              </p:cNvPr>
              <p:cNvSpPr/>
              <p:nvPr/>
            </p:nvSpPr>
            <p:spPr bwMode="auto">
              <a:xfrm>
                <a:off x="770046" y="5484957"/>
                <a:ext cx="4052636" cy="912824"/>
              </a:xfrm>
              <a:prstGeom prst="roundRect">
                <a:avLst/>
              </a:prstGeom>
              <a:solidFill>
                <a:srgbClr val="DAEDEF"/>
              </a:solidFill>
              <a:ln w="38100" cap="flat" cmpd="sng" algn="ctr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49263" marR="0" lvl="0" indent="-449263" defTabSz="91440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+mn-cs"/>
                </a:endParaRPr>
              </a:p>
            </p:txBody>
          </p:sp>
          <p:sp>
            <p:nvSpPr>
              <p:cNvPr id="47" name="직사각형 26">
                <a:extLst>
                  <a:ext uri="{FF2B5EF4-FFF2-40B4-BE49-F238E27FC236}">
                    <a16:creationId xmlns:a16="http://schemas.microsoft.com/office/drawing/2014/main" id="{08A1F2E7-9396-E7B8-714A-D9EAEE342601}"/>
                  </a:ext>
                </a:extLst>
              </p:cNvPr>
              <p:cNvSpPr/>
              <p:nvPr/>
            </p:nvSpPr>
            <p:spPr>
              <a:xfrm>
                <a:off x="805471" y="5599056"/>
                <a:ext cx="4090510" cy="721353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max =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intStream.reduce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Integer::max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); // static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max(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 a,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 b) </a:t>
                </a:r>
              </a:p>
              <a:p>
                <a:pPr marL="0" marR="0" lvl="0" indent="0" defTabSz="914400" eaLnBrk="1" fontAlgn="base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OptionalInt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min =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intStream.reduce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(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Integer::min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); // static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 min(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 a, </a:t>
                </a:r>
                <a:r>
                  <a:rPr kumimoji="1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int</a:t>
                </a:r>
                <a:r>
                  <a:rPr kumimoji="1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견명조" pitchFamily="18" charset="-127"/>
                    <a:cs typeface="Courier New" pitchFamily="49" charset="0"/>
                  </a:rPr>
                  <a:t> b)</a:t>
                </a:r>
              </a:p>
            </p:txBody>
          </p:sp>
        </p:grpSp>
        <p:sp>
          <p:nvSpPr>
            <p:cNvPr id="45" name="아래쪽 화살표 27">
              <a:extLst>
                <a:ext uri="{FF2B5EF4-FFF2-40B4-BE49-F238E27FC236}">
                  <a16:creationId xmlns:a16="http://schemas.microsoft.com/office/drawing/2014/main" id="{7CA2D999-FD3A-B583-DF4C-2254512E44D7}"/>
                </a:ext>
              </a:extLst>
            </p:cNvPr>
            <p:cNvSpPr/>
            <p:nvPr/>
          </p:nvSpPr>
          <p:spPr bwMode="auto">
            <a:xfrm>
              <a:off x="4687985" y="5619780"/>
              <a:ext cx="365130" cy="438156"/>
            </a:xfrm>
            <a:prstGeom prst="downArrow">
              <a:avLst/>
            </a:prstGeom>
            <a:solidFill>
              <a:srgbClr val="FFFFFF">
                <a:lumMod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</a:endParaRPr>
            </a:p>
          </p:txBody>
        </p:sp>
      </p:grpSp>
      <p:grpSp>
        <p:nvGrpSpPr>
          <p:cNvPr id="48" name="그룹 51">
            <a:extLst>
              <a:ext uri="{FF2B5EF4-FFF2-40B4-BE49-F238E27FC236}">
                <a16:creationId xmlns:a16="http://schemas.microsoft.com/office/drawing/2014/main" id="{2CB69EE0-78F9-AAAA-579C-C04D3B26C1B5}"/>
              </a:ext>
            </a:extLst>
          </p:cNvPr>
          <p:cNvGrpSpPr/>
          <p:nvPr/>
        </p:nvGrpSpPr>
        <p:grpSpPr>
          <a:xfrm>
            <a:off x="7243055" y="3042668"/>
            <a:ext cx="2446371" cy="858313"/>
            <a:chOff x="764879" y="5536178"/>
            <a:chExt cx="4131102" cy="912824"/>
          </a:xfrm>
        </p:grpSpPr>
        <p:sp>
          <p:nvSpPr>
            <p:cNvPr id="49" name="모서리가 둥근 직사각형 29">
              <a:extLst>
                <a:ext uri="{FF2B5EF4-FFF2-40B4-BE49-F238E27FC236}">
                  <a16:creationId xmlns:a16="http://schemas.microsoft.com/office/drawing/2014/main" id="{8F40701B-D510-365D-3AAC-E9A005FC426A}"/>
                </a:ext>
              </a:extLst>
            </p:cNvPr>
            <p:cNvSpPr/>
            <p:nvPr/>
          </p:nvSpPr>
          <p:spPr bwMode="auto">
            <a:xfrm>
              <a:off x="764879" y="5536178"/>
              <a:ext cx="4052637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0" name="직사각형 30">
              <a:extLst>
                <a:ext uri="{FF2B5EF4-FFF2-40B4-BE49-F238E27FC236}">
                  <a16:creationId xmlns:a16="http://schemas.microsoft.com/office/drawing/2014/main" id="{8A29B06B-A23A-0440-4446-86BE122AFDAD}"/>
                </a:ext>
              </a:extLst>
            </p:cNvPr>
            <p:cNvSpPr/>
            <p:nvPr/>
          </p:nvSpPr>
          <p:spPr>
            <a:xfrm>
              <a:off x="805471" y="5591860"/>
              <a:ext cx="4090510" cy="81830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 = 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identity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for(</a:t>
              </a:r>
              <a:r>
                <a:rPr kumimoji="1" lang="en-US" altLang="ko-KR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b : stream)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a = 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 + b</a:t>
              </a: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// sum()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439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38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collect(), Collector, Collectors</a:t>
            </a:r>
          </a:p>
        </p:txBody>
      </p:sp>
      <p:grpSp>
        <p:nvGrpSpPr>
          <p:cNvPr id="17" name="그룹 51">
            <a:extLst>
              <a:ext uri="{FF2B5EF4-FFF2-40B4-BE49-F238E27FC236}">
                <a16:creationId xmlns:a16="http://schemas.microsoft.com/office/drawing/2014/main" id="{940F3809-2C1F-1589-D63D-A6D56A6A414F}"/>
              </a:ext>
            </a:extLst>
          </p:cNvPr>
          <p:cNvGrpSpPr/>
          <p:nvPr/>
        </p:nvGrpSpPr>
        <p:grpSpPr>
          <a:xfrm>
            <a:off x="1402319" y="2022593"/>
            <a:ext cx="8505266" cy="657218"/>
            <a:chOff x="770046" y="5484958"/>
            <a:chExt cx="4125935" cy="912824"/>
          </a:xfrm>
        </p:grpSpPr>
        <p:sp>
          <p:nvSpPr>
            <p:cNvPr id="18" name="모서리가 둥근 직사각형 11">
              <a:extLst>
                <a:ext uri="{FF2B5EF4-FFF2-40B4-BE49-F238E27FC236}">
                  <a16:creationId xmlns:a16="http://schemas.microsoft.com/office/drawing/2014/main" id="{DA3F33A6-7B2F-873E-D19D-73BCF4C481E4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9" name="직사각형 12">
              <a:extLst>
                <a:ext uri="{FF2B5EF4-FFF2-40B4-BE49-F238E27FC236}">
                  <a16:creationId xmlns:a16="http://schemas.microsoft.com/office/drawing/2014/main" id="{C0958403-977E-2360-0A69-385F00926B9A}"/>
                </a:ext>
              </a:extLst>
            </p:cNvPr>
            <p:cNvSpPr/>
            <p:nvPr/>
          </p:nvSpPr>
          <p:spPr>
            <a:xfrm>
              <a:off x="805471" y="5604425"/>
              <a:ext cx="4090510" cy="64121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 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// Collector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구현한 클래스의 객체를 매개변수로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Object collect(Supplier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supplier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BiConsumer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accumulator,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BiConsumer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combiner) //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잘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안쓰임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11EFA777-354D-9A4E-2EA7-573364EBE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993" y="1619356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collect()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는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Collector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매개변수로 하는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스트림의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최종연산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</a:p>
        </p:txBody>
      </p:sp>
      <p:grpSp>
        <p:nvGrpSpPr>
          <p:cNvPr id="21" name="그룹 51">
            <a:extLst>
              <a:ext uri="{FF2B5EF4-FFF2-40B4-BE49-F238E27FC236}">
                <a16:creationId xmlns:a16="http://schemas.microsoft.com/office/drawing/2014/main" id="{37B48B6E-C50C-1F50-CE20-09771F352AEB}"/>
              </a:ext>
            </a:extLst>
          </p:cNvPr>
          <p:cNvGrpSpPr/>
          <p:nvPr/>
        </p:nvGrpSpPr>
        <p:grpSpPr>
          <a:xfrm>
            <a:off x="1403882" y="3264019"/>
            <a:ext cx="8467190" cy="1736720"/>
            <a:chOff x="770046" y="5467444"/>
            <a:chExt cx="4107464" cy="912824"/>
          </a:xfrm>
        </p:grpSpPr>
        <p:sp>
          <p:nvSpPr>
            <p:cNvPr id="22" name="모서리가 둥근 직사각형 15">
              <a:extLst>
                <a:ext uri="{FF2B5EF4-FFF2-40B4-BE49-F238E27FC236}">
                  <a16:creationId xmlns:a16="http://schemas.microsoft.com/office/drawing/2014/main" id="{473004AC-7CC8-89D1-A979-222DE0C69F9B}"/>
                </a:ext>
              </a:extLst>
            </p:cNvPr>
            <p:cNvSpPr/>
            <p:nvPr/>
          </p:nvSpPr>
          <p:spPr bwMode="auto">
            <a:xfrm>
              <a:off x="770046" y="5467444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3" name="직사각형 16">
              <a:extLst>
                <a:ext uri="{FF2B5EF4-FFF2-40B4-BE49-F238E27FC236}">
                  <a16:creationId xmlns:a16="http://schemas.microsoft.com/office/drawing/2014/main" id="{03063A44-F99B-5D69-B735-C26D02F457F9}"/>
                </a:ext>
              </a:extLst>
            </p:cNvPr>
            <p:cNvSpPr/>
            <p:nvPr/>
          </p:nvSpPr>
          <p:spPr>
            <a:xfrm>
              <a:off x="787000" y="5518274"/>
              <a:ext cx="4090510" cy="8250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public interface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&lt;T, A, R&gt; {  // T(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요소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누적한 다음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결과를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로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변환해서 반환 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Supplier&lt;A&gt;          supplier();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           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누적할 곳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BiConsumer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&lt;A, T&gt;     accumulator();     //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s)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sb.append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(s)      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누적방법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&lt;A&gt;    combiner();        // (sb1, sb2) -&gt; sb1.append(sb2)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결합방법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Function&lt;A, R&gt;       finisher();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sb.toString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         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최종변환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Set&lt;Characteristics&gt; characteristics();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컬렉터의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특성이 담긴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반환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sp>
        <p:nvSpPr>
          <p:cNvPr id="24" name="Text Box 20">
            <a:extLst>
              <a:ext uri="{FF2B5EF4-FFF2-40B4-BE49-F238E27FC236}">
                <a16:creationId xmlns:a16="http://schemas.microsoft.com/office/drawing/2014/main" id="{888E4132-1D2E-7AAC-192A-8F08A0CC2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556" y="2847967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Collector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는 수집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(collect)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에 필요한 메서드를 정의해 놓은 인터페이스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5" name="그룹 51">
            <a:extLst>
              <a:ext uri="{FF2B5EF4-FFF2-40B4-BE49-F238E27FC236}">
                <a16:creationId xmlns:a16="http://schemas.microsoft.com/office/drawing/2014/main" id="{321574F9-0866-D282-366B-174505EE66A9}"/>
              </a:ext>
            </a:extLst>
          </p:cNvPr>
          <p:cNvGrpSpPr/>
          <p:nvPr/>
        </p:nvGrpSpPr>
        <p:grpSpPr>
          <a:xfrm>
            <a:off x="1403884" y="5637364"/>
            <a:ext cx="8540216" cy="1085727"/>
            <a:chOff x="770046" y="5484958"/>
            <a:chExt cx="4142889" cy="912824"/>
          </a:xfrm>
        </p:grpSpPr>
        <p:sp>
          <p:nvSpPr>
            <p:cNvPr id="26" name="모서리가 둥근 직사각형 19">
              <a:extLst>
                <a:ext uri="{FF2B5EF4-FFF2-40B4-BE49-F238E27FC236}">
                  <a16:creationId xmlns:a16="http://schemas.microsoft.com/office/drawing/2014/main" id="{357067DF-156F-ABA8-D64B-A749C5BA24A8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7" name="직사각형 20">
              <a:extLst>
                <a:ext uri="{FF2B5EF4-FFF2-40B4-BE49-F238E27FC236}">
                  <a16:creationId xmlns:a16="http://schemas.microsoft.com/office/drawing/2014/main" id="{C79A53FA-0126-09C1-A0CA-A9BBF2FB6643}"/>
                </a:ext>
              </a:extLst>
            </p:cNvPr>
            <p:cNvSpPr/>
            <p:nvPr/>
          </p:nvSpPr>
          <p:spPr>
            <a:xfrm>
              <a:off x="822425" y="5516651"/>
              <a:ext cx="4090510" cy="85391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변환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mapping(),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toSet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toMap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toCollection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…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통계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counting(),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summingInt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averagingInt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minBy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summarizingInt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…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문자열 결합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joining()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리듀싱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reducing()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그룹화와 분할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–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collectingAndThen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</a:p>
          </p:txBody>
        </p:sp>
      </p:grpSp>
      <p:sp>
        <p:nvSpPr>
          <p:cNvPr id="28" name="Text Box 20">
            <a:extLst>
              <a:ext uri="{FF2B5EF4-FFF2-40B4-BE49-F238E27FC236}">
                <a16:creationId xmlns:a16="http://schemas.microsoft.com/office/drawing/2014/main" id="{42EC499C-3E73-A20B-E372-25D5F15AB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558" y="5203893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Collectors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클래스는 다양한 기능의 컬렉터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(Collector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구현한 클래스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를 제공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44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39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Collectors</a:t>
            </a:r>
            <a:r>
              <a:rPr lang="ko-KR" altLang="en-US" sz="3200" b="1" dirty="0"/>
              <a:t>의 메서드</a:t>
            </a:r>
            <a:r>
              <a:rPr lang="en-US" altLang="ko-KR" sz="3200" b="1" dirty="0"/>
              <a:t>(1/4)</a:t>
            </a:r>
            <a:endParaRPr lang="en-US" sz="3200" b="1" dirty="0"/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3DD93F5F-6F1B-0064-6517-2C063F616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385" y="1619356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스트림을 컬렉션으로 변환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toList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toSet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toMap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toCollection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1770B7A6-3F8C-CE02-C113-19AB3DB14FF2}"/>
              </a:ext>
            </a:extLst>
          </p:cNvPr>
          <p:cNvGrpSpPr/>
          <p:nvPr/>
        </p:nvGrpSpPr>
        <p:grpSpPr>
          <a:xfrm>
            <a:off x="1303276" y="2059102"/>
            <a:ext cx="8503702" cy="1497021"/>
            <a:chOff x="770046" y="5484958"/>
            <a:chExt cx="4125176" cy="912824"/>
          </a:xfrm>
        </p:grpSpPr>
        <p:sp>
          <p:nvSpPr>
            <p:cNvPr id="21" name="모서리가 둥근 직사각형 15">
              <a:extLst>
                <a:ext uri="{FF2B5EF4-FFF2-40B4-BE49-F238E27FC236}">
                  <a16:creationId xmlns:a16="http://schemas.microsoft.com/office/drawing/2014/main" id="{C0449305-F497-1568-CB09-CCD44DB74CD1}"/>
                </a:ext>
              </a:extLst>
            </p:cNvPr>
            <p:cNvSpPr/>
            <p:nvPr/>
          </p:nvSpPr>
          <p:spPr bwMode="auto">
            <a:xfrm>
              <a:off x="770046" y="5484958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16">
              <a:extLst>
                <a:ext uri="{FF2B5EF4-FFF2-40B4-BE49-F238E27FC236}">
                  <a16:creationId xmlns:a16="http://schemas.microsoft.com/office/drawing/2014/main" id="{DC2A45B8-3DE1-91EB-85EA-67DBAD68B21A}"/>
                </a:ext>
              </a:extLst>
            </p:cNvPr>
            <p:cNvSpPr/>
            <p:nvPr/>
          </p:nvSpPr>
          <p:spPr>
            <a:xfrm>
              <a:off x="804712" y="5640800"/>
              <a:ext cx="4090510" cy="727956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List&lt;String&gt;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names = stuStream.map(Student::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// Stream&lt;Student&gt;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→Stream&lt;String&gt;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Collectors.toList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Stream&lt;String&gt;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→List&lt;String&gt;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&lt;String&gt;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list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names.stream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Collectors.toCollection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Stream&lt;String&gt;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ArrayList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&lt;String&gt;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String,Person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personStream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Collectors.toMap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(p-&gt;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p.getRegId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(), p-&gt;p)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);// Stream&lt;Person&gt;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→Map&lt;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String,Person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23" name="Text Box 20">
            <a:extLst>
              <a:ext uri="{FF2B5EF4-FFF2-40B4-BE49-F238E27FC236}">
                <a16:creationId xmlns:a16="http://schemas.microsoft.com/office/drawing/2014/main" id="{8091FB9E-6CF9-2288-E893-1EC18551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49" y="3775201"/>
            <a:ext cx="95020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스트림의 통계정보 제공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counting(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summingInt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maxBy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minBy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), …</a:t>
            </a:r>
          </a:p>
        </p:txBody>
      </p:sp>
      <p:grpSp>
        <p:nvGrpSpPr>
          <p:cNvPr id="24" name="그룹 51">
            <a:extLst>
              <a:ext uri="{FF2B5EF4-FFF2-40B4-BE49-F238E27FC236}">
                <a16:creationId xmlns:a16="http://schemas.microsoft.com/office/drawing/2014/main" id="{9FD7AFFF-C0F3-B1C9-CB87-7CCCCA5AE722}"/>
              </a:ext>
            </a:extLst>
          </p:cNvPr>
          <p:cNvGrpSpPr/>
          <p:nvPr/>
        </p:nvGrpSpPr>
        <p:grpSpPr>
          <a:xfrm>
            <a:off x="1310420" y="4213359"/>
            <a:ext cx="8505266" cy="584206"/>
            <a:chOff x="770046" y="5484957"/>
            <a:chExt cx="4125935" cy="912824"/>
          </a:xfrm>
        </p:grpSpPr>
        <p:sp>
          <p:nvSpPr>
            <p:cNvPr id="25" name="모서리가 둥근 직사각형 23">
              <a:extLst>
                <a:ext uri="{FF2B5EF4-FFF2-40B4-BE49-F238E27FC236}">
                  <a16:creationId xmlns:a16="http://schemas.microsoft.com/office/drawing/2014/main" id="{236735C0-DAE2-A98B-9A52-E48E4E2CD90F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6" name="직사각형 24">
              <a:extLst>
                <a:ext uri="{FF2B5EF4-FFF2-40B4-BE49-F238E27FC236}">
                  <a16:creationId xmlns:a16="http://schemas.microsoft.com/office/drawing/2014/main" id="{6E14259E-FFF8-F493-A443-B61407F3AC9A}"/>
                </a:ext>
              </a:extLst>
            </p:cNvPr>
            <p:cNvSpPr/>
            <p:nvPr/>
          </p:nvSpPr>
          <p:spPr>
            <a:xfrm>
              <a:off x="805471" y="5599054"/>
              <a:ext cx="4090510" cy="72135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count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count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count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stuStream.collect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counting()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Collectors.counting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</a:p>
          </p:txBody>
        </p:sp>
      </p:grp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6BCAEBC2-FFEE-C3FC-4FF0-3129C1756386}"/>
              </a:ext>
            </a:extLst>
          </p:cNvPr>
          <p:cNvGrpSpPr/>
          <p:nvPr/>
        </p:nvGrpSpPr>
        <p:grpSpPr>
          <a:xfrm>
            <a:off x="1301711" y="4870591"/>
            <a:ext cx="8505266" cy="584206"/>
            <a:chOff x="770046" y="5484957"/>
            <a:chExt cx="4125935" cy="912824"/>
          </a:xfrm>
        </p:grpSpPr>
        <p:sp>
          <p:nvSpPr>
            <p:cNvPr id="28" name="모서리가 둥근 직사각형 26">
              <a:extLst>
                <a:ext uri="{FF2B5EF4-FFF2-40B4-BE49-F238E27FC236}">
                  <a16:creationId xmlns:a16="http://schemas.microsoft.com/office/drawing/2014/main" id="{5AB22A26-A9DA-822E-0794-9A808ED4E2EB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27">
              <a:extLst>
                <a:ext uri="{FF2B5EF4-FFF2-40B4-BE49-F238E27FC236}">
                  <a16:creationId xmlns:a16="http://schemas.microsoft.com/office/drawing/2014/main" id="{B910FDD2-5287-FA58-0DCE-ED2F0D5530B2}"/>
                </a:ext>
              </a:extLst>
            </p:cNvPr>
            <p:cNvSpPr/>
            <p:nvPr/>
          </p:nvSpPr>
          <p:spPr>
            <a:xfrm>
              <a:off x="805471" y="5599057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stuStream.mapToInt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sum()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sum()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stuStream.collect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summingInt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C0F07BE7-FBCA-2590-D17B-C57FEC32332B}"/>
              </a:ext>
            </a:extLst>
          </p:cNvPr>
          <p:cNvGrpSpPr/>
          <p:nvPr/>
        </p:nvGrpSpPr>
        <p:grpSpPr>
          <a:xfrm>
            <a:off x="1313413" y="5564338"/>
            <a:ext cx="8493564" cy="1168415"/>
            <a:chOff x="770046" y="5484966"/>
            <a:chExt cx="4120258" cy="912826"/>
          </a:xfrm>
        </p:grpSpPr>
        <p:sp>
          <p:nvSpPr>
            <p:cNvPr id="31" name="모서리가 둥근 직사각형 29">
              <a:extLst>
                <a:ext uri="{FF2B5EF4-FFF2-40B4-BE49-F238E27FC236}">
                  <a16:creationId xmlns:a16="http://schemas.microsoft.com/office/drawing/2014/main" id="{3685E895-BC36-50B9-E0FB-C815A10E2BBD}"/>
                </a:ext>
              </a:extLst>
            </p:cNvPr>
            <p:cNvSpPr/>
            <p:nvPr/>
          </p:nvSpPr>
          <p:spPr bwMode="auto">
            <a:xfrm>
              <a:off x="770046" y="5484966"/>
              <a:ext cx="4052636" cy="912826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30">
              <a:extLst>
                <a:ext uri="{FF2B5EF4-FFF2-40B4-BE49-F238E27FC236}">
                  <a16:creationId xmlns:a16="http://schemas.microsoft.com/office/drawing/2014/main" id="{E6C2EAF6-23D9-65A4-90CC-075FC57A4C01}"/>
                </a:ext>
              </a:extLst>
            </p:cNvPr>
            <p:cNvSpPr/>
            <p:nvPr/>
          </p:nvSpPr>
          <p:spPr>
            <a:xfrm>
              <a:off x="799794" y="5571298"/>
              <a:ext cx="4090510" cy="79348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studentStream.mapToInt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topStudent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 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Comparator.comparingInt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topStudent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Comparator.comparingInt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750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40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Collectors</a:t>
            </a:r>
            <a:r>
              <a:rPr lang="ko-KR" altLang="en-US" sz="3200" b="1" dirty="0"/>
              <a:t>의 메서드</a:t>
            </a:r>
            <a:r>
              <a:rPr lang="en-US" altLang="ko-KR" sz="3200" b="1" dirty="0"/>
              <a:t>(2/4)</a:t>
            </a:r>
            <a:endParaRPr lang="en-US" sz="3200" b="1" dirty="0"/>
          </a:p>
        </p:txBody>
      </p:sp>
      <p:sp>
        <p:nvSpPr>
          <p:cNvPr id="36" name="Text Box 20">
            <a:extLst>
              <a:ext uri="{FF2B5EF4-FFF2-40B4-BE49-F238E27FC236}">
                <a16:creationId xmlns:a16="http://schemas.microsoft.com/office/drawing/2014/main" id="{D15B96AC-CEA6-CA4B-6664-E91C8BECB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8" y="1636941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스트림을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리듀싱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reducing(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sp>
        <p:nvSpPr>
          <p:cNvPr id="37" name="Text Box 20">
            <a:extLst>
              <a:ext uri="{FF2B5EF4-FFF2-40B4-BE49-F238E27FC236}">
                <a16:creationId xmlns:a16="http://schemas.microsoft.com/office/drawing/2014/main" id="{769E003C-28C5-E693-691A-806AD2067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373" y="5395158"/>
            <a:ext cx="86042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문자열 스트림의 요소를 모두 연결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 joining (</a:t>
            </a:r>
            <a:r>
              <a:rPr kumimoji="1" lang="en-US" altLang="ko-KR" sz="8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</a:p>
        </p:txBody>
      </p:sp>
      <p:grpSp>
        <p:nvGrpSpPr>
          <p:cNvPr id="38" name="그룹 51">
            <a:extLst>
              <a:ext uri="{FF2B5EF4-FFF2-40B4-BE49-F238E27FC236}">
                <a16:creationId xmlns:a16="http://schemas.microsoft.com/office/drawing/2014/main" id="{AD7DCC1A-BA42-2B82-28D9-380B44A20EAE}"/>
              </a:ext>
            </a:extLst>
          </p:cNvPr>
          <p:cNvGrpSpPr/>
          <p:nvPr/>
        </p:nvGrpSpPr>
        <p:grpSpPr>
          <a:xfrm>
            <a:off x="1156134" y="5793489"/>
            <a:ext cx="8505266" cy="920333"/>
            <a:chOff x="770046" y="5477514"/>
            <a:chExt cx="4125935" cy="912824"/>
          </a:xfrm>
        </p:grpSpPr>
        <p:sp>
          <p:nvSpPr>
            <p:cNvPr id="39" name="모서리가 둥근 직사각형 26">
              <a:extLst>
                <a:ext uri="{FF2B5EF4-FFF2-40B4-BE49-F238E27FC236}">
                  <a16:creationId xmlns:a16="http://schemas.microsoft.com/office/drawing/2014/main" id="{770F6F53-4BC7-A54B-080F-08A894B4855F}"/>
                </a:ext>
              </a:extLst>
            </p:cNvPr>
            <p:cNvSpPr/>
            <p:nvPr/>
          </p:nvSpPr>
          <p:spPr bwMode="auto">
            <a:xfrm>
              <a:off x="770046" y="5477514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0" name="직사각형 27">
              <a:extLst>
                <a:ext uri="{FF2B5EF4-FFF2-40B4-BE49-F238E27FC236}">
                  <a16:creationId xmlns:a16="http://schemas.microsoft.com/office/drawing/2014/main" id="{ACF8EE02-AF6B-95C7-2D61-D238FB7731C4}"/>
                </a:ext>
              </a:extLst>
            </p:cNvPr>
            <p:cNvSpPr/>
            <p:nvPr/>
          </p:nvSpPr>
          <p:spPr>
            <a:xfrm>
              <a:off x="805471" y="5529910"/>
              <a:ext cx="4090510" cy="82421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stuStream.map(Student::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joining()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stuStream.map(Student::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joining(",")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구분자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studentNames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stuStream.map(Student::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getName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joining(",", "[", "]")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studentInfo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stuStream.collect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joining(",")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Student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의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toString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으로 결합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41" name="그룹 51">
            <a:extLst>
              <a:ext uri="{FF2B5EF4-FFF2-40B4-BE49-F238E27FC236}">
                <a16:creationId xmlns:a16="http://schemas.microsoft.com/office/drawing/2014/main" id="{0D2F00B9-64BF-39BE-4F28-C74363DFD4EF}"/>
              </a:ext>
            </a:extLst>
          </p:cNvPr>
          <p:cNvGrpSpPr/>
          <p:nvPr/>
        </p:nvGrpSpPr>
        <p:grpSpPr>
          <a:xfrm>
            <a:off x="1170099" y="2916474"/>
            <a:ext cx="8493564" cy="949335"/>
            <a:chOff x="770046" y="5484975"/>
            <a:chExt cx="4120258" cy="912828"/>
          </a:xfrm>
        </p:grpSpPr>
        <p:sp>
          <p:nvSpPr>
            <p:cNvPr id="42" name="모서리가 둥근 직사각형 28">
              <a:extLst>
                <a:ext uri="{FF2B5EF4-FFF2-40B4-BE49-F238E27FC236}">
                  <a16:creationId xmlns:a16="http://schemas.microsoft.com/office/drawing/2014/main" id="{39944BEE-9500-0FCD-14AE-AFA4E2230108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3" name="직사각형 31">
              <a:extLst>
                <a:ext uri="{FF2B5EF4-FFF2-40B4-BE49-F238E27FC236}">
                  <a16:creationId xmlns:a16="http://schemas.microsoft.com/office/drawing/2014/main" id="{730B8441-5962-2FA7-80F9-225A066182BC}"/>
                </a:ext>
              </a:extLst>
            </p:cNvPr>
            <p:cNvSpPr/>
            <p:nvPr/>
          </p:nvSpPr>
          <p:spPr>
            <a:xfrm>
              <a:off x="799794" y="5555190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new Random().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(1,46).distinct().limit(6);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max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(Integer::max)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Optional&lt;Integer&gt; max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boxed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reducing(Integer::max)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44" name="그룹 51">
            <a:extLst>
              <a:ext uri="{FF2B5EF4-FFF2-40B4-BE49-F238E27FC236}">
                <a16:creationId xmlns:a16="http://schemas.microsoft.com/office/drawing/2014/main" id="{F4625EFE-0E33-C544-02CB-ED320987BA47}"/>
              </a:ext>
            </a:extLst>
          </p:cNvPr>
          <p:cNvGrpSpPr/>
          <p:nvPr/>
        </p:nvGrpSpPr>
        <p:grpSpPr>
          <a:xfrm>
            <a:off x="1156134" y="3938838"/>
            <a:ext cx="8505266" cy="584206"/>
            <a:chOff x="770046" y="5484957"/>
            <a:chExt cx="4125935" cy="912824"/>
          </a:xfrm>
        </p:grpSpPr>
        <p:sp>
          <p:nvSpPr>
            <p:cNvPr id="45" name="모서리가 둥근 직사각형 33">
              <a:extLst>
                <a:ext uri="{FF2B5EF4-FFF2-40B4-BE49-F238E27FC236}">
                  <a16:creationId xmlns:a16="http://schemas.microsoft.com/office/drawing/2014/main" id="{07CD4F97-0055-A177-CB3E-61B72C745B47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6" name="직사각형 34">
              <a:extLst>
                <a:ext uri="{FF2B5EF4-FFF2-40B4-BE49-F238E27FC236}">
                  <a16:creationId xmlns:a16="http://schemas.microsoft.com/office/drawing/2014/main" id="{15B0553E-CE79-14ED-7306-25AF64F764D4}"/>
                </a:ext>
              </a:extLst>
            </p:cNvPr>
            <p:cNvSpPr/>
            <p:nvPr/>
          </p:nvSpPr>
          <p:spPr>
            <a:xfrm>
              <a:off x="805471" y="5599057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sum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(0,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a + b)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 sum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intStream.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boxed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.collect(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reducing(0,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a,b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)-&gt; a + b)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  <p:grpSp>
        <p:nvGrpSpPr>
          <p:cNvPr id="47" name="그룹 51">
            <a:extLst>
              <a:ext uri="{FF2B5EF4-FFF2-40B4-BE49-F238E27FC236}">
                <a16:creationId xmlns:a16="http://schemas.microsoft.com/office/drawing/2014/main" id="{944455C4-AAB1-D6EE-C40B-A23F0DD8DF8A}"/>
              </a:ext>
            </a:extLst>
          </p:cNvPr>
          <p:cNvGrpSpPr/>
          <p:nvPr/>
        </p:nvGrpSpPr>
        <p:grpSpPr>
          <a:xfrm>
            <a:off x="1156134" y="2076674"/>
            <a:ext cx="8505266" cy="766773"/>
            <a:chOff x="770046" y="5484957"/>
            <a:chExt cx="4125935" cy="912824"/>
          </a:xfrm>
        </p:grpSpPr>
        <p:sp>
          <p:nvSpPr>
            <p:cNvPr id="48" name="모서리가 둥근 직사각형 35">
              <a:extLst>
                <a:ext uri="{FF2B5EF4-FFF2-40B4-BE49-F238E27FC236}">
                  <a16:creationId xmlns:a16="http://schemas.microsoft.com/office/drawing/2014/main" id="{70EB90A8-D485-35C3-3DC6-32BA8E7580FA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49" name="직사각형 36">
              <a:extLst>
                <a:ext uri="{FF2B5EF4-FFF2-40B4-BE49-F238E27FC236}">
                  <a16:creationId xmlns:a16="http://schemas.microsoft.com/office/drawing/2014/main" id="{EB54C698-A6EE-4637-E3EC-5799BE64B860}"/>
                </a:ext>
              </a:extLst>
            </p:cNvPr>
            <p:cNvSpPr/>
            <p:nvPr/>
          </p:nvSpPr>
          <p:spPr>
            <a:xfrm>
              <a:off x="805471" y="5599057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reducing(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op)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reducing(T identity,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&lt;T&gt; op)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reducing(U identity, Function&lt;T,U&gt;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&lt;U&gt; op)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map+reduce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</a:p>
          </p:txBody>
        </p:sp>
      </p:grpSp>
      <p:grpSp>
        <p:nvGrpSpPr>
          <p:cNvPr id="50" name="그룹 51">
            <a:extLst>
              <a:ext uri="{FF2B5EF4-FFF2-40B4-BE49-F238E27FC236}">
                <a16:creationId xmlns:a16="http://schemas.microsoft.com/office/drawing/2014/main" id="{76E2D1DA-1AAF-18DF-FE51-E70613401916}"/>
              </a:ext>
            </a:extLst>
          </p:cNvPr>
          <p:cNvGrpSpPr/>
          <p:nvPr/>
        </p:nvGrpSpPr>
        <p:grpSpPr>
          <a:xfrm>
            <a:off x="1158397" y="4596072"/>
            <a:ext cx="8505266" cy="584206"/>
            <a:chOff x="770046" y="5484957"/>
            <a:chExt cx="4125935" cy="912824"/>
          </a:xfrm>
        </p:grpSpPr>
        <p:sp>
          <p:nvSpPr>
            <p:cNvPr id="51" name="모서리가 둥근 직사각형 38">
              <a:extLst>
                <a:ext uri="{FF2B5EF4-FFF2-40B4-BE49-F238E27FC236}">
                  <a16:creationId xmlns:a16="http://schemas.microsoft.com/office/drawing/2014/main" id="{211C3ED3-2D35-0CD5-BC55-55EB37F29AA3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52" name="직사각형 39">
              <a:extLst>
                <a:ext uri="{FF2B5EF4-FFF2-40B4-BE49-F238E27FC236}">
                  <a16:creationId xmlns:a16="http://schemas.microsoft.com/office/drawing/2014/main" id="{9AD03463-A7D2-F62E-39A8-A83233E38A83}"/>
                </a:ext>
              </a:extLst>
            </p:cNvPr>
            <p:cNvSpPr/>
            <p:nvPr/>
          </p:nvSpPr>
          <p:spPr>
            <a:xfrm>
              <a:off x="805471" y="5599059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grandTotal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stuStream.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).reduce(0, Integer::sum)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grandTotal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stuStream.collect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reducing(0, 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getTotalScore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Integer::sum)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24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41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Collectors</a:t>
            </a:r>
            <a:r>
              <a:rPr lang="ko-KR" altLang="en-US" sz="3200" b="1" dirty="0"/>
              <a:t>의 메서드</a:t>
            </a:r>
            <a:r>
              <a:rPr lang="en-US" altLang="ko-KR" sz="3200" b="1" dirty="0"/>
              <a:t>(3/4)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kumimoji="1" lang="ko-KR" altLang="en-US" sz="2400" b="1" dirty="0">
                <a:solidFill>
                  <a:srgbClr val="000000"/>
                </a:solidFill>
                <a:ea typeface="견명조" pitchFamily="18" charset="-127"/>
              </a:rPr>
              <a:t>스트림의 요소를 </a:t>
            </a:r>
            <a:r>
              <a:rPr kumimoji="1" lang="en-US" altLang="ko-KR" sz="2400" b="1" dirty="0">
                <a:solidFill>
                  <a:srgbClr val="000000"/>
                </a:solidFill>
                <a:ea typeface="견명조" pitchFamily="18" charset="-127"/>
              </a:rPr>
              <a:t>2</a:t>
            </a:r>
            <a:r>
              <a:rPr kumimoji="1" lang="ko-KR" altLang="en-US" sz="2400" b="1" dirty="0">
                <a:solidFill>
                  <a:srgbClr val="000000"/>
                </a:solidFill>
                <a:ea typeface="견명조" pitchFamily="18" charset="-127"/>
              </a:rPr>
              <a:t>분할 </a:t>
            </a:r>
            <a:r>
              <a:rPr kumimoji="1" lang="en-US" altLang="ko-KR" sz="2400" b="1" dirty="0">
                <a:solidFill>
                  <a:srgbClr val="000000"/>
                </a:solidFill>
                <a:ea typeface="견명조" pitchFamily="18" charset="-127"/>
              </a:rPr>
              <a:t>–  </a:t>
            </a:r>
            <a:r>
              <a:rPr kumimoji="1" lang="en-US" altLang="ko-KR" sz="2400" b="1" dirty="0" err="1">
                <a:solidFill>
                  <a:srgbClr val="000000"/>
                </a:solidFill>
                <a:ea typeface="견명조" pitchFamily="18" charset="-127"/>
              </a:rPr>
              <a:t>partitioningBy</a:t>
            </a:r>
            <a:r>
              <a:rPr kumimoji="1" lang="en-US" altLang="ko-KR" sz="2400" b="1" dirty="0">
                <a:solidFill>
                  <a:srgbClr val="000000"/>
                </a:solidFill>
                <a:ea typeface="견명조" pitchFamily="18" charset="-127"/>
              </a:rPr>
              <a:t>(</a:t>
            </a:r>
            <a:r>
              <a:rPr kumimoji="1" lang="en-US" altLang="ko-KR" sz="1000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sz="2400" b="1" dirty="0">
                <a:solidFill>
                  <a:srgbClr val="000000"/>
                </a:solidFill>
                <a:ea typeface="견명조" pitchFamily="18" charset="-127"/>
              </a:rPr>
              <a:t>)</a:t>
            </a:r>
            <a:endParaRPr kumimoji="1" lang="en-US" altLang="ko-KR" sz="3200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2" name="그룹 51">
            <a:extLst>
              <a:ext uri="{FF2B5EF4-FFF2-40B4-BE49-F238E27FC236}">
                <a16:creationId xmlns:a16="http://schemas.microsoft.com/office/drawing/2014/main" id="{51D012AE-3794-8755-7E54-1ED8EAE65713}"/>
              </a:ext>
            </a:extLst>
          </p:cNvPr>
          <p:cNvGrpSpPr/>
          <p:nvPr/>
        </p:nvGrpSpPr>
        <p:grpSpPr>
          <a:xfrm>
            <a:off x="1402318" y="1651950"/>
            <a:ext cx="8505266" cy="584206"/>
            <a:chOff x="770046" y="5484957"/>
            <a:chExt cx="4125935" cy="912824"/>
          </a:xfrm>
        </p:grpSpPr>
        <p:sp>
          <p:nvSpPr>
            <p:cNvPr id="23" name="모서리가 둥근 직사각형 30">
              <a:extLst>
                <a:ext uri="{FF2B5EF4-FFF2-40B4-BE49-F238E27FC236}">
                  <a16:creationId xmlns:a16="http://schemas.microsoft.com/office/drawing/2014/main" id="{9887D256-EC29-AEE6-9FCF-36806FEF403F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4" name="직사각형 32">
              <a:extLst>
                <a:ext uri="{FF2B5EF4-FFF2-40B4-BE49-F238E27FC236}">
                  <a16:creationId xmlns:a16="http://schemas.microsoft.com/office/drawing/2014/main" id="{85791532-1333-B72C-E44D-CA57DC09F025}"/>
                </a:ext>
              </a:extLst>
            </p:cNvPr>
            <p:cNvSpPr/>
            <p:nvPr/>
          </p:nvSpPr>
          <p:spPr>
            <a:xfrm>
              <a:off x="805471" y="5599059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(Predicate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predicate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(Predicate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predicate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Collector downstream) </a:t>
              </a:r>
            </a:p>
          </p:txBody>
        </p:sp>
      </p:grpSp>
      <p:grpSp>
        <p:nvGrpSpPr>
          <p:cNvPr id="25" name="그룹 51">
            <a:extLst>
              <a:ext uri="{FF2B5EF4-FFF2-40B4-BE49-F238E27FC236}">
                <a16:creationId xmlns:a16="http://schemas.microsoft.com/office/drawing/2014/main" id="{5DF76005-4DEE-5C28-9C62-3558A8DFEB48}"/>
              </a:ext>
            </a:extLst>
          </p:cNvPr>
          <p:cNvGrpSpPr/>
          <p:nvPr/>
        </p:nvGrpSpPr>
        <p:grpSpPr>
          <a:xfrm>
            <a:off x="1393609" y="2291769"/>
            <a:ext cx="8493564" cy="949335"/>
            <a:chOff x="770046" y="5484975"/>
            <a:chExt cx="4120258" cy="912828"/>
          </a:xfrm>
        </p:grpSpPr>
        <p:sp>
          <p:nvSpPr>
            <p:cNvPr id="26" name="모서리가 둥근 직사각형 40">
              <a:extLst>
                <a:ext uri="{FF2B5EF4-FFF2-40B4-BE49-F238E27FC236}">
                  <a16:creationId xmlns:a16="http://schemas.microsoft.com/office/drawing/2014/main" id="{A7DFB548-34B4-0AFE-E8B6-EA9F3067BA84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7" name="직사각형 41">
              <a:extLst>
                <a:ext uri="{FF2B5EF4-FFF2-40B4-BE49-F238E27FC236}">
                  <a16:creationId xmlns:a16="http://schemas.microsoft.com/office/drawing/2014/main" id="{8120FE64-D4A3-7A26-2227-2843C328CCC3}"/>
                </a:ext>
              </a:extLst>
            </p:cNvPr>
            <p:cNvSpPr/>
            <p:nvPr/>
          </p:nvSpPr>
          <p:spPr>
            <a:xfrm>
              <a:off x="799794" y="5555190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Boolean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List&lt;Student&gt;&gt;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stuBySex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isMale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학생들을 성별로 분할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maleStudent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stuBySex.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(true)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 // Map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에서 남학생 목록을 얻는다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femaleStudent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stuBySex.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(false)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Map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에서 여학생 목록을 얻는다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</a:p>
          </p:txBody>
        </p:sp>
      </p:grpSp>
      <p:grpSp>
        <p:nvGrpSpPr>
          <p:cNvPr id="28" name="그룹 51">
            <a:extLst>
              <a:ext uri="{FF2B5EF4-FFF2-40B4-BE49-F238E27FC236}">
                <a16:creationId xmlns:a16="http://schemas.microsoft.com/office/drawing/2014/main" id="{148AFD59-FA6F-7143-B83D-84EE1E821E98}"/>
              </a:ext>
            </a:extLst>
          </p:cNvPr>
          <p:cNvGrpSpPr/>
          <p:nvPr/>
        </p:nvGrpSpPr>
        <p:grpSpPr>
          <a:xfrm>
            <a:off x="1390156" y="3295035"/>
            <a:ext cx="8493564" cy="949335"/>
            <a:chOff x="770046" y="5484975"/>
            <a:chExt cx="4120258" cy="912828"/>
          </a:xfrm>
        </p:grpSpPr>
        <p:sp>
          <p:nvSpPr>
            <p:cNvPr id="29" name="모서리가 둥근 직사각형 43">
              <a:extLst>
                <a:ext uri="{FF2B5EF4-FFF2-40B4-BE49-F238E27FC236}">
                  <a16:creationId xmlns:a16="http://schemas.microsoft.com/office/drawing/2014/main" id="{E739F5CF-2DE7-0002-8CEC-51880D7AAC8E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0" name="직사각형 44">
              <a:extLst>
                <a:ext uri="{FF2B5EF4-FFF2-40B4-BE49-F238E27FC236}">
                  <a16:creationId xmlns:a16="http://schemas.microsoft.com/office/drawing/2014/main" id="{25715394-78BB-AF1E-A459-43FE613DBC2C}"/>
                </a:ext>
              </a:extLst>
            </p:cNvPr>
            <p:cNvSpPr/>
            <p:nvPr/>
          </p:nvSpPr>
          <p:spPr>
            <a:xfrm>
              <a:off x="799794" y="5555192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Map&lt;Boolean,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Long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stuNumBySex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isMale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counting())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분할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통계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남학생 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:"+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stuNumBySex.get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(true));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남학생 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:8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여학생 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:"+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stuNumBySex.get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(false));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여학생 수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:10</a:t>
              </a:r>
            </a:p>
          </p:txBody>
        </p:sp>
      </p:grpSp>
      <p:grpSp>
        <p:nvGrpSpPr>
          <p:cNvPr id="31" name="그룹 51">
            <a:extLst>
              <a:ext uri="{FF2B5EF4-FFF2-40B4-BE49-F238E27FC236}">
                <a16:creationId xmlns:a16="http://schemas.microsoft.com/office/drawing/2014/main" id="{E7EF9070-8D69-4DD7-4A2F-D2D84D5FCBEA}"/>
              </a:ext>
            </a:extLst>
          </p:cNvPr>
          <p:cNvGrpSpPr/>
          <p:nvPr/>
        </p:nvGrpSpPr>
        <p:grpSpPr>
          <a:xfrm>
            <a:off x="1395286" y="4306690"/>
            <a:ext cx="8493564" cy="1088681"/>
            <a:chOff x="770046" y="5484975"/>
            <a:chExt cx="4120258" cy="1046814"/>
          </a:xfrm>
        </p:grpSpPr>
        <p:sp>
          <p:nvSpPr>
            <p:cNvPr id="32" name="모서리가 둥근 직사각형 46">
              <a:extLst>
                <a:ext uri="{FF2B5EF4-FFF2-40B4-BE49-F238E27FC236}">
                  <a16:creationId xmlns:a16="http://schemas.microsoft.com/office/drawing/2014/main" id="{9226AD2A-356A-8B00-A760-A71CAD57ED3E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3" name="직사각형 47">
              <a:extLst>
                <a:ext uri="{FF2B5EF4-FFF2-40B4-BE49-F238E27FC236}">
                  <a16:creationId xmlns:a16="http://schemas.microsoft.com/office/drawing/2014/main" id="{9C751672-C0D7-616F-307E-4DBCBBC79C68}"/>
                </a:ext>
              </a:extLst>
            </p:cNvPr>
            <p:cNvSpPr/>
            <p:nvPr/>
          </p:nvSpPr>
          <p:spPr>
            <a:xfrm>
              <a:off x="799794" y="5555185"/>
              <a:ext cx="4090510" cy="97660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Map&lt;Boolean, Optional&lt;Student&gt;&gt;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topScoreBySex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분할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+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통계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isMale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maxBy</a:t>
              </a:r>
              <a:r>
                <a:rPr kumimoji="1" lang="en-US" altLang="ko-KR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comparingInt</a:t>
              </a:r>
              <a:r>
                <a:rPr kumimoji="1" lang="en-US" altLang="ko-KR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getScore</a:t>
              </a:r>
              <a:r>
                <a:rPr kumimoji="1" lang="en-US" altLang="ko-KR" sz="1200" b="1" i="1" u="none" strike="noStrike" kern="0" cap="none" spc="0" normalizeH="0" baseline="0" noProof="0" dirty="0">
                  <a:ln>
                    <a:noFill/>
                  </a:ln>
                  <a:solidFill>
                    <a:srgbClr val="8342F8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남학생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등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:"+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topScoreBySex.get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(true)); //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남학생 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등 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:Optional[[</a:t>
              </a:r>
              <a:r>
                <a:rPr kumimoji="1" lang="ko-KR" altLang="en-US" sz="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나자바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1, 1,300]]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여학생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등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:"+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topScoreBySex.get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(false));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여학생 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1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등 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:Optional[[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김지미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</a:t>
              </a:r>
              <a:r>
                <a:rPr kumimoji="1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여</a:t>
              </a:r>
              <a:r>
                <a:rPr kumimoji="1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1, 1,250]]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  <p:grpSp>
        <p:nvGrpSpPr>
          <p:cNvPr id="34" name="그룹 51">
            <a:extLst>
              <a:ext uri="{FF2B5EF4-FFF2-40B4-BE49-F238E27FC236}">
                <a16:creationId xmlns:a16="http://schemas.microsoft.com/office/drawing/2014/main" id="{357F7F87-4499-BC4A-40B3-DE33580CF13D}"/>
              </a:ext>
            </a:extLst>
          </p:cNvPr>
          <p:cNvGrpSpPr/>
          <p:nvPr/>
        </p:nvGrpSpPr>
        <p:grpSpPr>
          <a:xfrm>
            <a:off x="1391932" y="5322352"/>
            <a:ext cx="8493564" cy="1095384"/>
            <a:chOff x="770046" y="5484975"/>
            <a:chExt cx="4120258" cy="915517"/>
          </a:xfrm>
        </p:grpSpPr>
        <p:sp>
          <p:nvSpPr>
            <p:cNvPr id="35" name="모서리가 둥근 직사각형 52">
              <a:extLst>
                <a:ext uri="{FF2B5EF4-FFF2-40B4-BE49-F238E27FC236}">
                  <a16:creationId xmlns:a16="http://schemas.microsoft.com/office/drawing/2014/main" id="{A63E6485-C826-3A58-DE44-43FB82727F67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6" name="직사각형 53">
              <a:extLst>
                <a:ext uri="{FF2B5EF4-FFF2-40B4-BE49-F238E27FC236}">
                  <a16:creationId xmlns:a16="http://schemas.microsoft.com/office/drawing/2014/main" id="{57EBA356-AD4F-CDA9-B162-1758295412D1}"/>
                </a:ext>
              </a:extLst>
            </p:cNvPr>
            <p:cNvSpPr/>
            <p:nvPr/>
          </p:nvSpPr>
          <p:spPr>
            <a:xfrm>
              <a:off x="799794" y="5551605"/>
              <a:ext cx="4090510" cy="84888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Map&lt;Boolean, Map&lt;Boolean, List&lt;Student&gt;&gt;&gt;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failedStuBySex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다중 분할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isMale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              // 1.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성별로 분할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남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녀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partitioningBy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&lt; 150)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));   // 2.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성적으로 분할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불합격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합격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failedMaleStu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failedStuBySex.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(true).get(true)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List&lt;Student&gt;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failedFemaleStu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failedStuBySex.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(false).get(true)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091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42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Collectors</a:t>
            </a:r>
            <a:r>
              <a:rPr lang="ko-KR" altLang="en-US" sz="3200" b="1" dirty="0"/>
              <a:t>의 메서드</a:t>
            </a:r>
            <a:r>
              <a:rPr lang="en-US" altLang="ko-KR" sz="3200" b="1" dirty="0"/>
              <a:t>(4/4)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ko-KR" altLang="en-US" sz="2400" b="1" dirty="0"/>
              <a:t>스트림의 요소를 그룹화 </a:t>
            </a:r>
            <a:r>
              <a:rPr lang="en-US" altLang="ko-KR" sz="2400" b="1" dirty="0"/>
              <a:t>–  </a:t>
            </a:r>
            <a:r>
              <a:rPr lang="en-US" altLang="ko-KR" sz="2400" b="1" dirty="0" err="1"/>
              <a:t>groupingBy</a:t>
            </a:r>
            <a:r>
              <a:rPr lang="en-US" altLang="ko-KR" sz="2400" b="1" dirty="0"/>
              <a:t>(</a:t>
            </a:r>
            <a:r>
              <a:rPr lang="en-US" altLang="ko-KR" sz="1000" b="1" dirty="0"/>
              <a:t> </a:t>
            </a:r>
            <a:r>
              <a:rPr lang="en-US" altLang="ko-KR" sz="2400" b="1" dirty="0"/>
              <a:t>)</a:t>
            </a:r>
            <a:endParaRPr lang="en-US" sz="3200" b="1" dirty="0"/>
          </a:p>
        </p:txBody>
      </p:sp>
      <p:grpSp>
        <p:nvGrpSpPr>
          <p:cNvPr id="17" name="그룹 51">
            <a:extLst>
              <a:ext uri="{FF2B5EF4-FFF2-40B4-BE49-F238E27FC236}">
                <a16:creationId xmlns:a16="http://schemas.microsoft.com/office/drawing/2014/main" id="{0F5E4052-8650-7383-0507-9D0932797BBC}"/>
              </a:ext>
            </a:extLst>
          </p:cNvPr>
          <p:cNvGrpSpPr/>
          <p:nvPr/>
        </p:nvGrpSpPr>
        <p:grpSpPr>
          <a:xfrm>
            <a:off x="1156135" y="1811563"/>
            <a:ext cx="8505266" cy="766773"/>
            <a:chOff x="770046" y="5484957"/>
            <a:chExt cx="4125935" cy="912824"/>
          </a:xfrm>
        </p:grpSpPr>
        <p:sp>
          <p:nvSpPr>
            <p:cNvPr id="18" name="모서리가 둥근 직사각형 27">
              <a:extLst>
                <a:ext uri="{FF2B5EF4-FFF2-40B4-BE49-F238E27FC236}">
                  <a16:creationId xmlns:a16="http://schemas.microsoft.com/office/drawing/2014/main" id="{47A0B4E7-28A3-C033-EE09-B37A003B6C39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9" name="직사각형 28">
              <a:extLst>
                <a:ext uri="{FF2B5EF4-FFF2-40B4-BE49-F238E27FC236}">
                  <a16:creationId xmlns:a16="http://schemas.microsoft.com/office/drawing/2014/main" id="{778F7937-9733-337A-2484-E75E39180D9A}"/>
                </a:ext>
              </a:extLst>
            </p:cNvPr>
            <p:cNvSpPr/>
            <p:nvPr/>
          </p:nvSpPr>
          <p:spPr>
            <a:xfrm>
              <a:off x="805471" y="5599057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(Function classifier)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(Function classifier, Collector downstream)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(Function classifier, Supplier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mapFactory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Collector downstream) </a:t>
              </a:r>
            </a:p>
          </p:txBody>
        </p:sp>
      </p:grp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1FB608F3-BB0C-93C6-240A-CD9F8B3FF4C6}"/>
              </a:ext>
            </a:extLst>
          </p:cNvPr>
          <p:cNvGrpSpPr/>
          <p:nvPr/>
        </p:nvGrpSpPr>
        <p:grpSpPr>
          <a:xfrm>
            <a:off x="1156135" y="2651356"/>
            <a:ext cx="8505266" cy="584205"/>
            <a:chOff x="770046" y="5484957"/>
            <a:chExt cx="4125935" cy="912824"/>
          </a:xfrm>
        </p:grpSpPr>
        <p:sp>
          <p:nvSpPr>
            <p:cNvPr id="21" name="모서리가 둥근 직사각형 31">
              <a:extLst>
                <a:ext uri="{FF2B5EF4-FFF2-40B4-BE49-F238E27FC236}">
                  <a16:creationId xmlns:a16="http://schemas.microsoft.com/office/drawing/2014/main" id="{F987992E-01A0-1360-0E83-4A808A804AE5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33">
              <a:extLst>
                <a:ext uri="{FF2B5EF4-FFF2-40B4-BE49-F238E27FC236}">
                  <a16:creationId xmlns:a16="http://schemas.microsoft.com/office/drawing/2014/main" id="{B6B0C0DE-5E5F-C3A2-FCC0-3E8C6E2A5006}"/>
                </a:ext>
              </a:extLst>
            </p:cNvPr>
            <p:cNvSpPr/>
            <p:nvPr/>
          </p:nvSpPr>
          <p:spPr>
            <a:xfrm>
              <a:off x="805471" y="5599065"/>
              <a:ext cx="4090510" cy="72135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Integer, List&lt;Student&gt;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학생을 반별로 그룹화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toList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생략가능</a:t>
              </a:r>
            </a:p>
          </p:txBody>
        </p:sp>
      </p:grpSp>
      <p:grpSp>
        <p:nvGrpSpPr>
          <p:cNvPr id="23" name="그룹 51">
            <a:extLst>
              <a:ext uri="{FF2B5EF4-FFF2-40B4-BE49-F238E27FC236}">
                <a16:creationId xmlns:a16="http://schemas.microsoft.com/office/drawing/2014/main" id="{F30B1882-2C8F-5873-CEAB-CECB4D64F931}"/>
              </a:ext>
            </a:extLst>
          </p:cNvPr>
          <p:cNvGrpSpPr/>
          <p:nvPr/>
        </p:nvGrpSpPr>
        <p:grpSpPr>
          <a:xfrm>
            <a:off x="1143973" y="3308594"/>
            <a:ext cx="8493564" cy="949334"/>
            <a:chOff x="770046" y="5484975"/>
            <a:chExt cx="4120258" cy="912828"/>
          </a:xfrm>
        </p:grpSpPr>
        <p:sp>
          <p:nvSpPr>
            <p:cNvPr id="24" name="모서리가 둥근 직사각형 35">
              <a:extLst>
                <a:ext uri="{FF2B5EF4-FFF2-40B4-BE49-F238E27FC236}">
                  <a16:creationId xmlns:a16="http://schemas.microsoft.com/office/drawing/2014/main" id="{17759D04-8581-69DA-AF5A-B045CA9B7857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5" name="직사각형 36">
              <a:extLst>
                <a:ext uri="{FF2B5EF4-FFF2-40B4-BE49-F238E27FC236}">
                  <a16:creationId xmlns:a16="http://schemas.microsoft.com/office/drawing/2014/main" id="{7180A687-9316-D94F-6931-0372AC45FC6C}"/>
                </a:ext>
              </a:extLst>
            </p:cNvPr>
            <p:cNvSpPr/>
            <p:nvPr/>
          </p:nvSpPr>
          <p:spPr>
            <a:xfrm>
              <a:off x="799794" y="5555194"/>
              <a:ext cx="4090510" cy="7990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Map&lt;Integer,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Map&lt;Integer, List&lt;Student&gt;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stuByHakAndBan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다중 그룹화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.collect(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getHak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                   // 1.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학년별 그룹화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   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                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2.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반별 그룹화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));</a:t>
              </a:r>
            </a:p>
          </p:txBody>
        </p:sp>
      </p:grpSp>
      <p:grpSp>
        <p:nvGrpSpPr>
          <p:cNvPr id="26" name="그룹 51">
            <a:extLst>
              <a:ext uri="{FF2B5EF4-FFF2-40B4-BE49-F238E27FC236}">
                <a16:creationId xmlns:a16="http://schemas.microsoft.com/office/drawing/2014/main" id="{BE6785E8-CD88-4ABB-4A5C-CB43D2CDE67F}"/>
              </a:ext>
            </a:extLst>
          </p:cNvPr>
          <p:cNvGrpSpPr/>
          <p:nvPr/>
        </p:nvGrpSpPr>
        <p:grpSpPr>
          <a:xfrm>
            <a:off x="1156135" y="4330972"/>
            <a:ext cx="8544042" cy="2012008"/>
            <a:chOff x="770046" y="5442844"/>
            <a:chExt cx="4144745" cy="914557"/>
          </a:xfrm>
        </p:grpSpPr>
        <p:sp>
          <p:nvSpPr>
            <p:cNvPr id="27" name="모서리가 둥근 직사각형 38">
              <a:extLst>
                <a:ext uri="{FF2B5EF4-FFF2-40B4-BE49-F238E27FC236}">
                  <a16:creationId xmlns:a16="http://schemas.microsoft.com/office/drawing/2014/main" id="{FEB965D8-B740-2244-FD47-B17F9D9AF86F}"/>
                </a:ext>
              </a:extLst>
            </p:cNvPr>
            <p:cNvSpPr/>
            <p:nvPr/>
          </p:nvSpPr>
          <p:spPr bwMode="auto">
            <a:xfrm>
              <a:off x="770046" y="5442844"/>
              <a:ext cx="4052636" cy="912829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8" name="직사각형 39">
              <a:extLst>
                <a:ext uri="{FF2B5EF4-FFF2-40B4-BE49-F238E27FC236}">
                  <a16:creationId xmlns:a16="http://schemas.microsoft.com/office/drawing/2014/main" id="{25383009-BCB1-F6B7-7CFC-752E482E5629}"/>
                </a:ext>
              </a:extLst>
            </p:cNvPr>
            <p:cNvSpPr/>
            <p:nvPr/>
          </p:nvSpPr>
          <p:spPr>
            <a:xfrm>
              <a:off x="824281" y="5476033"/>
              <a:ext cx="4090510" cy="88136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Map&lt;Integer, Map&lt;Integer,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Set&lt;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Student.Level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stuByHakAndBan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stuStream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.collect(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getHak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(Student::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getBan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다중 그룹화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학년별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반별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mapping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(s-&gt; {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성적등급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(Level)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으로 변환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.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List&lt;Student&gt;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 Set&lt;</a:t>
              </a:r>
              <a:r>
                <a:rPr kumimoji="1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Student.Level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if    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&gt;= 200)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Student.Level.HIGH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else if(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s.getScore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 &gt;= 100)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Student.Level.MID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 else                        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Student.Level.LOW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} 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toSet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 // mapping()           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enum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Level { HIGH, MID, LOW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))  //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groupingBy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 // collect()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15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43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Collector</a:t>
            </a:r>
            <a:r>
              <a:rPr lang="ko-KR" altLang="en-US" sz="3200" b="1" dirty="0"/>
              <a:t> 구현하기</a:t>
            </a:r>
            <a:endParaRPr lang="en-US" sz="3200" b="1" dirty="0"/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EB636D49-C88D-87E4-09F6-EAAFF5F0F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040" y="1584188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Collector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인터페이스를 구현하는 클래스를 작성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20" name="그룹 51">
            <a:extLst>
              <a:ext uri="{FF2B5EF4-FFF2-40B4-BE49-F238E27FC236}">
                <a16:creationId xmlns:a16="http://schemas.microsoft.com/office/drawing/2014/main" id="{068AACF5-5015-CB6E-84BD-FC1DB591BF48}"/>
              </a:ext>
            </a:extLst>
          </p:cNvPr>
          <p:cNvGrpSpPr/>
          <p:nvPr/>
        </p:nvGrpSpPr>
        <p:grpSpPr>
          <a:xfrm>
            <a:off x="893929" y="2023922"/>
            <a:ext cx="8467190" cy="1736720"/>
            <a:chOff x="770046" y="5467444"/>
            <a:chExt cx="4107464" cy="912824"/>
          </a:xfrm>
        </p:grpSpPr>
        <p:sp>
          <p:nvSpPr>
            <p:cNvPr id="21" name="모서리가 둥근 직사각형 15">
              <a:extLst>
                <a:ext uri="{FF2B5EF4-FFF2-40B4-BE49-F238E27FC236}">
                  <a16:creationId xmlns:a16="http://schemas.microsoft.com/office/drawing/2014/main" id="{F998E4AC-7407-FDCB-BC09-8683F12A0025}"/>
                </a:ext>
              </a:extLst>
            </p:cNvPr>
            <p:cNvSpPr/>
            <p:nvPr/>
          </p:nvSpPr>
          <p:spPr bwMode="auto">
            <a:xfrm>
              <a:off x="770046" y="5467444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2" name="직사각형 16">
              <a:extLst>
                <a:ext uri="{FF2B5EF4-FFF2-40B4-BE49-F238E27FC236}">
                  <a16:creationId xmlns:a16="http://schemas.microsoft.com/office/drawing/2014/main" id="{291A04AA-829E-1998-8C58-C66EC3B124CB}"/>
                </a:ext>
              </a:extLst>
            </p:cNvPr>
            <p:cNvSpPr/>
            <p:nvPr/>
          </p:nvSpPr>
          <p:spPr>
            <a:xfrm>
              <a:off x="787000" y="5518274"/>
              <a:ext cx="4090510" cy="841194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public interface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&lt;T, A, R&gt; {  // T(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요소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에 누적한 다음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결과를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R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로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변환해서 반환 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Supplier&lt;A&gt;          supplier();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결과를 저장할 공간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제공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BiConsumer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&lt;A, T&gt;     accumulator();    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요소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(T)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를 수집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(collect)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할 방법을 제공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&lt;A&gt;    combiner();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두 저장공간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병합할 방법을 제공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Function&lt;A, R&gt;       finisher();       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최종변환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(A </a:t>
              </a:r>
              <a:r>
                <a:rPr kumimoji="1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→ R).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변환할 필요가 없는 경우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x-&gt;x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Set&lt;Characteristics&gt; characteristics(); //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컬렉터의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특성이 담긴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반환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...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}</a:t>
              </a:r>
            </a:p>
          </p:txBody>
        </p:sp>
      </p:grpSp>
      <p:sp>
        <p:nvSpPr>
          <p:cNvPr id="23" name="Text Box 20">
            <a:extLst>
              <a:ext uri="{FF2B5EF4-FFF2-40B4-BE49-F238E27FC236}">
                <a16:creationId xmlns:a16="http://schemas.microsoft.com/office/drawing/2014/main" id="{CCC41DD8-7EC2-E954-5A91-5D51641DC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05" y="3957529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컬렉터가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수행할 작업의 속성 정보를 제공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– characteristics()</a:t>
            </a:r>
          </a:p>
        </p:txBody>
      </p:sp>
      <p:grpSp>
        <p:nvGrpSpPr>
          <p:cNvPr id="24" name="그룹 51">
            <a:extLst>
              <a:ext uri="{FF2B5EF4-FFF2-40B4-BE49-F238E27FC236}">
                <a16:creationId xmlns:a16="http://schemas.microsoft.com/office/drawing/2014/main" id="{F1ED156A-12D6-3E72-94A4-22AB2D72BEB9}"/>
              </a:ext>
            </a:extLst>
          </p:cNvPr>
          <p:cNvGrpSpPr/>
          <p:nvPr/>
        </p:nvGrpSpPr>
        <p:grpSpPr>
          <a:xfrm>
            <a:off x="894629" y="4362336"/>
            <a:ext cx="8505266" cy="766773"/>
            <a:chOff x="770046" y="5484957"/>
            <a:chExt cx="4125935" cy="912824"/>
          </a:xfrm>
        </p:grpSpPr>
        <p:sp>
          <p:nvSpPr>
            <p:cNvPr id="25" name="모서리가 둥근 직사각형 19">
              <a:extLst>
                <a:ext uri="{FF2B5EF4-FFF2-40B4-BE49-F238E27FC236}">
                  <a16:creationId xmlns:a16="http://schemas.microsoft.com/office/drawing/2014/main" id="{A9927F8C-09BC-37D7-EE62-55B55AAF5E44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6" name="직사각형 20">
              <a:extLst>
                <a:ext uri="{FF2B5EF4-FFF2-40B4-BE49-F238E27FC236}">
                  <a16:creationId xmlns:a16="http://schemas.microsoft.com/office/drawing/2014/main" id="{3B37987A-1538-7ABA-4714-F3C10893DC51}"/>
                </a:ext>
              </a:extLst>
            </p:cNvPr>
            <p:cNvSpPr/>
            <p:nvPr/>
          </p:nvSpPr>
          <p:spPr>
            <a:xfrm>
              <a:off x="805471" y="5528426"/>
              <a:ext cx="4090510" cy="76944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Characteristics.CONCURRENT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병렬로 처리할 수 있는 작업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Characteristics.UNORDERED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</a:t>
              </a:r>
              <a:r>
                <a:rPr kumimoji="1" lang="ko-KR" alt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스트림의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요소의 순서가 유지될 필요가 없는 작업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Characteristics.IDENTITY_FINISH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finisher()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가 항등 함수인 작업</a:t>
              </a:r>
            </a:p>
          </p:txBody>
        </p:sp>
      </p:grp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9E619FCA-AD40-4314-D21E-CD40D8CC5B84}"/>
              </a:ext>
            </a:extLst>
          </p:cNvPr>
          <p:cNvGrpSpPr/>
          <p:nvPr/>
        </p:nvGrpSpPr>
        <p:grpSpPr>
          <a:xfrm>
            <a:off x="892366" y="5202138"/>
            <a:ext cx="8493564" cy="1114386"/>
            <a:chOff x="770046" y="5484975"/>
            <a:chExt cx="4120258" cy="912828"/>
          </a:xfrm>
        </p:grpSpPr>
        <p:sp>
          <p:nvSpPr>
            <p:cNvPr id="28" name="모서리가 둥근 직사각형 22">
              <a:extLst>
                <a:ext uri="{FF2B5EF4-FFF2-40B4-BE49-F238E27FC236}">
                  <a16:creationId xmlns:a16="http://schemas.microsoft.com/office/drawing/2014/main" id="{EAA179BE-C38F-5547-A3C9-A6E6EEC388BA}"/>
                </a:ext>
              </a:extLst>
            </p:cNvPr>
            <p:cNvSpPr/>
            <p:nvPr/>
          </p:nvSpPr>
          <p:spPr bwMode="auto">
            <a:xfrm>
              <a:off x="770046" y="5484975"/>
              <a:ext cx="4052636" cy="912828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9" name="직사각형 23">
              <a:extLst>
                <a:ext uri="{FF2B5EF4-FFF2-40B4-BE49-F238E27FC236}">
                  <a16:creationId xmlns:a16="http://schemas.microsoft.com/office/drawing/2014/main" id="{C3F741B3-B1E8-88EC-A313-D67273BF0125}"/>
                </a:ext>
              </a:extLst>
            </p:cNvPr>
            <p:cNvSpPr/>
            <p:nvPr/>
          </p:nvSpPr>
          <p:spPr>
            <a:xfrm>
              <a:off x="799794" y="5550279"/>
              <a:ext cx="4090510" cy="83196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public Set&lt;Characteristics&gt; characteristics()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Collections.unmodifiableSet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EnumSet.of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Collector.Characteristics.CONCURRENT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Collector.Characteristics.UNORDERED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       ));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5301BB37-9FF2-49FC-415E-AD40072F3B6E}"/>
              </a:ext>
            </a:extLst>
          </p:cNvPr>
          <p:cNvGrpSpPr/>
          <p:nvPr/>
        </p:nvGrpSpPr>
        <p:grpSpPr>
          <a:xfrm>
            <a:off x="2937094" y="5968909"/>
            <a:ext cx="6499314" cy="728678"/>
            <a:chOff x="770046" y="5484957"/>
            <a:chExt cx="4125935" cy="912824"/>
          </a:xfrm>
        </p:grpSpPr>
        <p:sp>
          <p:nvSpPr>
            <p:cNvPr id="31" name="모서리가 둥근 직사각형 25">
              <a:extLst>
                <a:ext uri="{FF2B5EF4-FFF2-40B4-BE49-F238E27FC236}">
                  <a16:creationId xmlns:a16="http://schemas.microsoft.com/office/drawing/2014/main" id="{3198DAED-6286-0DEF-D52A-4BB4ACD9A733}"/>
                </a:ext>
              </a:extLst>
            </p:cNvPr>
            <p:cNvSpPr/>
            <p:nvPr/>
          </p:nvSpPr>
          <p:spPr bwMode="auto">
            <a:xfrm>
              <a:off x="770046" y="5484957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32" name="직사각형 26">
              <a:extLst>
                <a:ext uri="{FF2B5EF4-FFF2-40B4-BE49-F238E27FC236}">
                  <a16:creationId xmlns:a16="http://schemas.microsoft.com/office/drawing/2014/main" id="{59D717AA-7BF6-0388-1369-11442BCE17B5}"/>
                </a:ext>
              </a:extLst>
            </p:cNvPr>
            <p:cNvSpPr/>
            <p:nvPr/>
          </p:nvSpPr>
          <p:spPr>
            <a:xfrm>
              <a:off x="805471" y="5571893"/>
              <a:ext cx="4090510" cy="79872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Set&lt;Characteristics&gt; characteristics()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Collections.emptySet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지정할 특성이 없으면 빈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Set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을 반환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38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44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Collector </a:t>
            </a:r>
            <a:r>
              <a:rPr lang="ko-KR" altLang="en-US" sz="3200" b="1" dirty="0"/>
              <a:t>구현하기 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example</a:t>
            </a:r>
            <a:endParaRPr lang="en-US" sz="3200" b="1" dirty="0"/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A4B9B6E5-749B-9791-CB10-487BB2115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92" y="1654526"/>
            <a:ext cx="8604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 fontAlgn="base" latinLnBrk="1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문자열 스트림의 모든 요소를 연결하는 </a:t>
            </a:r>
            <a:r>
              <a:rPr kumimoji="1" lang="ko-KR" altLang="en-US" b="1" dirty="0" err="1">
                <a:solidFill>
                  <a:srgbClr val="000000"/>
                </a:solidFill>
                <a:ea typeface="견명조" pitchFamily="18" charset="-127"/>
              </a:rPr>
              <a:t>컬렉터</a:t>
            </a:r>
            <a:r>
              <a:rPr kumimoji="1" lang="ko-KR" altLang="en-US" b="1" dirty="0">
                <a:solidFill>
                  <a:srgbClr val="000000"/>
                </a:solidFill>
                <a:ea typeface="견명조" pitchFamily="18" charset="-127"/>
              </a:rPr>
              <a:t> </a:t>
            </a:r>
            <a:r>
              <a:rPr kumimoji="1" lang="en-US" altLang="ko-KR" b="1" dirty="0">
                <a:solidFill>
                  <a:srgbClr val="000000"/>
                </a:solidFill>
                <a:ea typeface="견명조" pitchFamily="18" charset="-127"/>
              </a:rPr>
              <a:t>- </a:t>
            </a:r>
            <a:r>
              <a:rPr kumimoji="1" lang="en-US" altLang="ko-KR" b="1" dirty="0" err="1">
                <a:solidFill>
                  <a:srgbClr val="000000"/>
                </a:solidFill>
                <a:ea typeface="견명조" pitchFamily="18" charset="-127"/>
              </a:rPr>
              <a:t>ConcatCollector</a:t>
            </a:r>
            <a:endParaRPr kumimoji="1" lang="en-US" altLang="ko-KR" b="1" dirty="0">
              <a:solidFill>
                <a:srgbClr val="000000"/>
              </a:solidFill>
              <a:ea typeface="견명조" pitchFamily="18" charset="-127"/>
            </a:endParaRPr>
          </a:p>
        </p:txBody>
      </p:sp>
      <p:grpSp>
        <p:nvGrpSpPr>
          <p:cNvPr id="16" name="그룹 51">
            <a:extLst>
              <a:ext uri="{FF2B5EF4-FFF2-40B4-BE49-F238E27FC236}">
                <a16:creationId xmlns:a16="http://schemas.microsoft.com/office/drawing/2014/main" id="{09F65D63-9C17-CA2B-6D4D-8ADFB98976F2}"/>
              </a:ext>
            </a:extLst>
          </p:cNvPr>
          <p:cNvGrpSpPr/>
          <p:nvPr/>
        </p:nvGrpSpPr>
        <p:grpSpPr>
          <a:xfrm>
            <a:off x="847790" y="2057747"/>
            <a:ext cx="8505965" cy="3870365"/>
            <a:chOff x="770046" y="5467443"/>
            <a:chExt cx="4126274" cy="912824"/>
          </a:xfrm>
        </p:grpSpPr>
        <p:sp>
          <p:nvSpPr>
            <p:cNvPr id="17" name="모서리가 둥근 직사각형 15">
              <a:extLst>
                <a:ext uri="{FF2B5EF4-FFF2-40B4-BE49-F238E27FC236}">
                  <a16:creationId xmlns:a16="http://schemas.microsoft.com/office/drawing/2014/main" id="{1FF2A3FE-C48E-792C-B44B-1F4EB2BF1260}"/>
                </a:ext>
              </a:extLst>
            </p:cNvPr>
            <p:cNvSpPr/>
            <p:nvPr/>
          </p:nvSpPr>
          <p:spPr bwMode="auto">
            <a:xfrm>
              <a:off x="770046" y="5467443"/>
              <a:ext cx="4052636" cy="912824"/>
            </a:xfrm>
            <a:prstGeom prst="roundRect">
              <a:avLst>
                <a:gd name="adj" fmla="val 7477"/>
              </a:avLst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12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18" name="직사각형 16">
              <a:extLst>
                <a:ext uri="{FF2B5EF4-FFF2-40B4-BE49-F238E27FC236}">
                  <a16:creationId xmlns:a16="http://schemas.microsoft.com/office/drawing/2014/main" id="{7A9A9F0C-4969-9A4A-60E1-39EE60F37F36}"/>
                </a:ext>
              </a:extLst>
            </p:cNvPr>
            <p:cNvSpPr/>
            <p:nvPr/>
          </p:nvSpPr>
          <p:spPr>
            <a:xfrm>
              <a:off x="805810" y="5494772"/>
              <a:ext cx="4090510" cy="868272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class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ConcatCollector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implements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Collector&lt;String,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String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Supplier&lt;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supplier()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return () -&gt; new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  // 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::new;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BiConsumer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String&gt; accumulator()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return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sb,s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sb.append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(s); 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Function&lt;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String&gt; finisher()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sb.toString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BinaryOperator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&lt;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StringBuilder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&gt; combiner()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return 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, sb2) -&gt;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sb.append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(sb2);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public Set&lt;Characteristics&gt; characteristics()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	return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Collections.emptySet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}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19" name="그룹 51">
            <a:extLst>
              <a:ext uri="{FF2B5EF4-FFF2-40B4-BE49-F238E27FC236}">
                <a16:creationId xmlns:a16="http://schemas.microsoft.com/office/drawing/2014/main" id="{3C48B6F7-5D96-B0C3-7DEC-F2BBF130B0B8}"/>
              </a:ext>
            </a:extLst>
          </p:cNvPr>
          <p:cNvGrpSpPr/>
          <p:nvPr/>
        </p:nvGrpSpPr>
        <p:grpSpPr>
          <a:xfrm>
            <a:off x="3403700" y="5526488"/>
            <a:ext cx="6169134" cy="1204923"/>
            <a:chOff x="770046" y="5398979"/>
            <a:chExt cx="4155516" cy="912824"/>
          </a:xfrm>
        </p:grpSpPr>
        <p:sp>
          <p:nvSpPr>
            <p:cNvPr id="20" name="모서리가 둥근 직사각형 21">
              <a:extLst>
                <a:ext uri="{FF2B5EF4-FFF2-40B4-BE49-F238E27FC236}">
                  <a16:creationId xmlns:a16="http://schemas.microsoft.com/office/drawing/2014/main" id="{6AFEC01D-15D7-88F5-0960-9E37EDAD289A}"/>
                </a:ext>
              </a:extLst>
            </p:cNvPr>
            <p:cNvSpPr/>
            <p:nvPr/>
          </p:nvSpPr>
          <p:spPr bwMode="auto">
            <a:xfrm>
              <a:off x="770046" y="5398979"/>
              <a:ext cx="4052636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1" name="직사각형 22">
              <a:extLst>
                <a:ext uri="{FF2B5EF4-FFF2-40B4-BE49-F238E27FC236}">
                  <a16:creationId xmlns:a16="http://schemas.microsoft.com/office/drawing/2014/main" id="{77F0B455-C78A-1408-DD2C-BB6B470C9F16}"/>
                </a:ext>
              </a:extLst>
            </p:cNvPr>
            <p:cNvSpPr/>
            <p:nvPr/>
          </p:nvSpPr>
          <p:spPr>
            <a:xfrm>
              <a:off x="835052" y="5402457"/>
              <a:ext cx="4090510" cy="909343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public static void main(String[]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args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{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String[]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{ "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aaa","bbb","ccc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 };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Stream&lt;String&gt;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Stream.of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String result =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strStream.collect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new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ConcatCollector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System.out.println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("result="+result); // result=</a:t>
              </a:r>
              <a:r>
                <a:rPr kumimoji="1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aaabbbccc</a:t>
              </a:r>
              <a:endPara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}</a:t>
              </a:r>
            </a:p>
          </p:txBody>
        </p:sp>
      </p:grpSp>
      <p:grpSp>
        <p:nvGrpSpPr>
          <p:cNvPr id="22" name="그룹 51">
            <a:extLst>
              <a:ext uri="{FF2B5EF4-FFF2-40B4-BE49-F238E27FC236}">
                <a16:creationId xmlns:a16="http://schemas.microsoft.com/office/drawing/2014/main" id="{21BDAD4E-433F-C99E-03F8-CC0A473A41DA}"/>
              </a:ext>
            </a:extLst>
          </p:cNvPr>
          <p:cNvGrpSpPr/>
          <p:nvPr/>
        </p:nvGrpSpPr>
        <p:grpSpPr>
          <a:xfrm>
            <a:off x="6869863" y="2896086"/>
            <a:ext cx="3210457" cy="1679595"/>
            <a:chOff x="700813" y="5379135"/>
            <a:chExt cx="4252922" cy="912824"/>
          </a:xfrm>
        </p:grpSpPr>
        <p:sp>
          <p:nvSpPr>
            <p:cNvPr id="23" name="모서리가 둥근 직사각형 24">
              <a:extLst>
                <a:ext uri="{FF2B5EF4-FFF2-40B4-BE49-F238E27FC236}">
                  <a16:creationId xmlns:a16="http://schemas.microsoft.com/office/drawing/2014/main" id="{23B8190E-DE25-4568-D11E-D83BA08415E6}"/>
                </a:ext>
              </a:extLst>
            </p:cNvPr>
            <p:cNvSpPr/>
            <p:nvPr/>
          </p:nvSpPr>
          <p:spPr bwMode="auto">
            <a:xfrm>
              <a:off x="700813" y="5379135"/>
              <a:ext cx="4223884" cy="912824"/>
            </a:xfrm>
            <a:prstGeom prst="roundRect">
              <a:avLst/>
            </a:prstGeom>
            <a:solidFill>
              <a:srgbClr val="DAEDEF"/>
            </a:solidFill>
            <a:ln w="3810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449263" marR="0" lvl="0" indent="-449263" defTabSz="91440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+mn-cs"/>
              </a:endParaRPr>
            </a:p>
          </p:txBody>
        </p:sp>
        <p:sp>
          <p:nvSpPr>
            <p:cNvPr id="24" name="직사각형 25">
              <a:extLst>
                <a:ext uri="{FF2B5EF4-FFF2-40B4-BE49-F238E27FC236}">
                  <a16:creationId xmlns:a16="http://schemas.microsoft.com/office/drawing/2014/main" id="{243CBF2B-FEDB-7CB8-0E01-36E05FE2B1EA}"/>
                </a:ext>
              </a:extLst>
            </p:cNvPr>
            <p:cNvSpPr/>
            <p:nvPr/>
          </p:nvSpPr>
          <p:spPr>
            <a:xfrm>
              <a:off x="863225" y="5418095"/>
              <a:ext cx="4090510" cy="853077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String[]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{"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aaa","bbb","ccc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" };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supplier()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StringBuffer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= 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new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StringBuffer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</a:t>
              </a:r>
              <a:endParaRPr kumimoji="1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2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for(String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tmp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: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strArr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 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    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sb.append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tmp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)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// accumulator()</a:t>
              </a:r>
              <a:endParaRPr kumimoji="1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// finisher()</a:t>
              </a:r>
            </a:p>
            <a:p>
              <a:pPr marL="0" marR="0" lvl="0" indent="0" defTabSz="91440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String result = </a:t>
              </a:r>
              <a:r>
                <a:rPr kumimoji="1" lang="en-US" altLang="ko-KR" sz="1200" b="1" i="0" u="none" strike="noStrike" kern="0" cap="none" spc="-15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sb.toString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()</a:t>
              </a:r>
              <a:r>
                <a:rPr kumimoji="1" lang="en-US" altLang="ko-KR" sz="1200" b="1" i="0" u="none" strike="noStrike" kern="0" cap="none" spc="-15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견명조" pitchFamily="18" charset="-127"/>
                  <a:cs typeface="Courier New" pitchFamily="49" charset="0"/>
                </a:rPr>
                <a:t>; </a:t>
              </a:r>
              <a:endParaRPr kumimoji="1" lang="ko-KR" altLang="en-US" sz="12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견명조" pitchFamily="18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86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45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변환</a:t>
            </a:r>
            <a:r>
              <a:rPr lang="en-US" altLang="ko-KR" sz="3200" b="1" dirty="0"/>
              <a:t>(1/3)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88212-4B1A-29B5-A2C4-6D193B320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77" y="1675423"/>
            <a:ext cx="70612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32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46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변환</a:t>
            </a:r>
            <a:r>
              <a:rPr lang="en-US" altLang="ko-KR" sz="3200" b="1" dirty="0"/>
              <a:t>(2/3)</a:t>
            </a: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8EA66-2FCC-2373-4A9F-83147CA41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658" y="1625600"/>
            <a:ext cx="70485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83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2BEF0-0044-BE1F-EE31-2F272C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9667" y="6299481"/>
            <a:ext cx="410183" cy="365125"/>
          </a:xfrm>
        </p:spPr>
        <p:txBody>
          <a:bodyPr/>
          <a:lstStyle/>
          <a:p>
            <a:fld id="{069EB2DD-9AA8-E647-97CE-C0333DAA1991}" type="slidenum">
              <a:rPr lang="en-KR" smtClean="0"/>
              <a:t>47</a:t>
            </a:fld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383D5-9DC7-D0A9-FBB0-4A1D3F466C36}"/>
              </a:ext>
            </a:extLst>
          </p:cNvPr>
          <p:cNvSpPr txBox="1"/>
          <p:nvPr/>
        </p:nvSpPr>
        <p:spPr>
          <a:xfrm>
            <a:off x="118080" y="6280441"/>
            <a:ext cx="76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page_</a:t>
            </a:r>
            <a:endParaRPr lang="en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48C4-DF2B-87D6-AC97-90906D9043E4}"/>
              </a:ext>
            </a:extLst>
          </p:cNvPr>
          <p:cNvSpPr txBox="1"/>
          <p:nvPr/>
        </p:nvSpPr>
        <p:spPr>
          <a:xfrm>
            <a:off x="729343" y="1047263"/>
            <a:ext cx="10493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스트림의 변환</a:t>
            </a:r>
            <a:r>
              <a:rPr lang="en-US" altLang="ko-KR" sz="3200" b="1" dirty="0"/>
              <a:t>(3/3)</a:t>
            </a: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3282E-884A-C8DB-7A58-A7AA3F54E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84" y="1566823"/>
            <a:ext cx="7772400" cy="516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2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51115</TotalTime>
  <Words>7757</Words>
  <Application>Microsoft Macintosh PowerPoint</Application>
  <PresentationFormat>Widescreen</PresentationFormat>
  <Paragraphs>802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굴림</vt:lpstr>
      <vt:lpstr>맑은 고딕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seong Namkung</dc:creator>
  <cp:lastModifiedBy>seong Namkung</cp:lastModifiedBy>
  <cp:revision>2072</cp:revision>
  <dcterms:created xsi:type="dcterms:W3CDTF">2025-07-12T07:57:13Z</dcterms:created>
  <dcterms:modified xsi:type="dcterms:W3CDTF">2026-01-03T12:02:37Z</dcterms:modified>
</cp:coreProperties>
</file>